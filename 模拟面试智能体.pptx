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78" r:id="rId10"/>
    <p:sldId id="279" r:id="rId11"/>
    <p:sldId id="262" r:id="rId12"/>
    <p:sldId id="263" r:id="rId13"/>
    <p:sldId id="264" r:id="rId14"/>
    <p:sldId id="265" r:id="rId15"/>
    <p:sldId id="266" r:id="rId16"/>
    <p:sldId id="267" r:id="rId17"/>
    <p:sldId id="269" r:id="rId18"/>
    <p:sldId id="270" r:id="rId19"/>
    <p:sldId id="271" r:id="rId20"/>
    <p:sldId id="272" r:id="rId21"/>
    <p:sldId id="273" r:id="rId22"/>
    <p:sldId id="274" r:id="rId23"/>
    <p:sldId id="275" r:id="rId24"/>
    <p:sldId id="276" r:id="rId25"/>
    <p:sldId id="277" r:id="rId26"/>
  </p:sldIdLst>
  <p:sldSz cx="12192000" cy="6858000"/>
  <p:notesSz cx="6858000" cy="12192000"/>
  <p:embeddedFontLst>
    <p:embeddedFont>
      <p:font typeface="MiSans" panose="00000500000000000000" pitchFamily="34" charset="-122"/>
      <p:regular r:id="rId30"/>
    </p:embeddedFont>
    <p:embeddedFont>
      <p:font typeface="MiSans" panose="00000500000000000000" pitchFamily="34" charset="-120"/>
      <p:regular r:id="rId31"/>
    </p:embeddedFont>
    <p:embeddedFont>
      <p:font typeface="Calibri" panose="020F0502020204030204" charset="0"/>
      <p:regular r:id="rId32"/>
      <p:bold r:id="rId33"/>
      <p:italic r:id="rId34"/>
      <p:boldItalic r:id="rId35"/>
    </p:embeddedFont>
    <p:embeddedFont>
      <p:font typeface="等线" panose="02010600030101010101" charset="-122"/>
      <p:regular r:id="rId3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2" Type="http://schemas.openxmlformats.org/officeDocument/2006/relationships/notesSlide" Target="../notesSlides/notesSlide2.xml"/><Relationship Id="rId31" Type="http://schemas.openxmlformats.org/officeDocument/2006/relationships/slideLayout" Target="../slideLayouts/slideLayout1.xml"/><Relationship Id="rId30" Type="http://schemas.openxmlformats.org/officeDocument/2006/relationships/tags" Target="../tags/tag24.xml"/><Relationship Id="rId3" Type="http://schemas.openxmlformats.org/officeDocument/2006/relationships/image" Target="../media/image3.png"/><Relationship Id="rId29" Type="http://schemas.openxmlformats.org/officeDocument/2006/relationships/tags" Target="../tags/tag23.xml"/><Relationship Id="rId28" Type="http://schemas.openxmlformats.org/officeDocument/2006/relationships/tags" Target="../tags/tag22.xml"/><Relationship Id="rId27" Type="http://schemas.openxmlformats.org/officeDocument/2006/relationships/tags" Target="../tags/tag21.xml"/><Relationship Id="rId26" Type="http://schemas.openxmlformats.org/officeDocument/2006/relationships/tags" Target="../tags/tag20.xml"/><Relationship Id="rId25" Type="http://schemas.openxmlformats.org/officeDocument/2006/relationships/tags" Target="../tags/tag19.xml"/><Relationship Id="rId24" Type="http://schemas.openxmlformats.org/officeDocument/2006/relationships/tags" Target="../tags/tag18.xml"/><Relationship Id="rId23" Type="http://schemas.openxmlformats.org/officeDocument/2006/relationships/tags" Target="../tags/tag17.xml"/><Relationship Id="rId22" Type="http://schemas.openxmlformats.org/officeDocument/2006/relationships/tags" Target="../tags/tag16.xml"/><Relationship Id="rId21" Type="http://schemas.openxmlformats.org/officeDocument/2006/relationships/tags" Target="../tags/tag15.xml"/><Relationship Id="rId20" Type="http://schemas.openxmlformats.org/officeDocument/2006/relationships/tags" Target="../tags/tag14.xml"/><Relationship Id="rId2" Type="http://schemas.openxmlformats.org/officeDocument/2006/relationships/tags" Target="../tags/tag1.xml"/><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tags" Target="../tags/tag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tags" Target="../tags/tag8.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3" Type="http://schemas.openxmlformats.org/officeDocument/2006/relationships/notesSlide" Target="../notesSlides/notesSlide4.xml"/><Relationship Id="rId12" Type="http://schemas.openxmlformats.org/officeDocument/2006/relationships/slideLayout" Target="../slideLayouts/slideLayout1.xml"/><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2.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10.png"/><Relationship Id="rId11" Type="http://schemas.openxmlformats.org/officeDocument/2006/relationships/notesSlide" Target="../notesSlides/notesSlide6.xml"/><Relationship Id="rId10" Type="http://schemas.openxmlformats.org/officeDocument/2006/relationships/slideLayout" Target="../slideLayouts/slideLayout1.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6.png"/><Relationship Id="rId5" Type="http://schemas.openxmlformats.org/officeDocument/2006/relationships/image" Target="../media/image22.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10.png"/><Relationship Id="rId14" Type="http://schemas.openxmlformats.org/officeDocument/2006/relationships/slideLayout" Target="../slideLayouts/slideLayout1.xml"/><Relationship Id="rId13" Type="http://schemas.openxmlformats.org/officeDocument/2006/relationships/image" Target="../media/image34.png"/><Relationship Id="rId12" Type="http://schemas.openxmlformats.org/officeDocument/2006/relationships/image" Target="../media/image33.png"/><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png"/><Relationship Id="rId7" Type="http://schemas.openxmlformats.org/officeDocument/2006/relationships/image" Target="../media/image25.png"/><Relationship Id="rId6" Type="http://schemas.openxmlformats.org/officeDocument/2006/relationships/image" Target="../media/image27.png"/><Relationship Id="rId5" Type="http://schemas.openxmlformats.org/officeDocument/2006/relationships/image" Target="../media/image22.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10.png"/><Relationship Id="rId11" Type="http://schemas.openxmlformats.org/officeDocument/2006/relationships/slideLayout" Target="../slideLayouts/slideLayout1.xml"/><Relationship Id="rId10" Type="http://schemas.openxmlformats.org/officeDocument/2006/relationships/image" Target="../media/image37.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image" Target="../media/image14.png"/><Relationship Id="rId22" Type="http://schemas.openxmlformats.org/officeDocument/2006/relationships/notesSlide" Target="../notesSlides/notesSlide8.xml"/><Relationship Id="rId21" Type="http://schemas.openxmlformats.org/officeDocument/2006/relationships/slideLayout" Target="../slideLayouts/slideLayout1.xml"/><Relationship Id="rId20" Type="http://schemas.openxmlformats.org/officeDocument/2006/relationships/image" Target="../media/image43.png"/><Relationship Id="rId2" Type="http://schemas.openxmlformats.org/officeDocument/2006/relationships/image" Target="../media/image38.png"/><Relationship Id="rId19" Type="http://schemas.openxmlformats.org/officeDocument/2006/relationships/image" Target="../media/image42.png"/><Relationship Id="rId18" Type="http://schemas.openxmlformats.org/officeDocument/2006/relationships/tags" Target="../tags/tag34.xml"/><Relationship Id="rId17" Type="http://schemas.openxmlformats.org/officeDocument/2006/relationships/image" Target="../media/image41.png"/><Relationship Id="rId16" Type="http://schemas.openxmlformats.org/officeDocument/2006/relationships/tags" Target="../tags/tag33.xml"/><Relationship Id="rId15" Type="http://schemas.openxmlformats.org/officeDocument/2006/relationships/image" Target="../media/image40.png"/><Relationship Id="rId14" Type="http://schemas.openxmlformats.org/officeDocument/2006/relationships/tags" Target="../tags/tag32.xml"/><Relationship Id="rId13" Type="http://schemas.openxmlformats.org/officeDocument/2006/relationships/image" Target="../media/image22.png"/><Relationship Id="rId12" Type="http://schemas.openxmlformats.org/officeDocument/2006/relationships/image" Target="../media/image39.png"/><Relationship Id="rId11" Type="http://schemas.openxmlformats.org/officeDocument/2006/relationships/image" Target="../media/image21.png"/><Relationship Id="rId10" Type="http://schemas.openxmlformats.org/officeDocument/2006/relationships/tags" Target="../tags/tag31.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image" Target="../media/image14.png"/><Relationship Id="rId5" Type="http://schemas.openxmlformats.org/officeDocument/2006/relationships/tags" Target="../tags/tag37.xml"/><Relationship Id="rId4" Type="http://schemas.openxmlformats.org/officeDocument/2006/relationships/tags" Target="../tags/tag36.xml"/><Relationship Id="rId35" Type="http://schemas.openxmlformats.org/officeDocument/2006/relationships/notesSlide" Target="../notesSlides/notesSlide10.xml"/><Relationship Id="rId34" Type="http://schemas.openxmlformats.org/officeDocument/2006/relationships/slideLayout" Target="../slideLayouts/slideLayout1.xml"/><Relationship Id="rId33" Type="http://schemas.openxmlformats.org/officeDocument/2006/relationships/image" Target="../media/image56.png"/><Relationship Id="rId32" Type="http://schemas.openxmlformats.org/officeDocument/2006/relationships/tags" Target="../tags/tag52.xml"/><Relationship Id="rId31" Type="http://schemas.openxmlformats.org/officeDocument/2006/relationships/image" Target="../media/image55.png"/><Relationship Id="rId30" Type="http://schemas.openxmlformats.org/officeDocument/2006/relationships/tags" Target="../tags/tag51.xml"/><Relationship Id="rId3" Type="http://schemas.openxmlformats.org/officeDocument/2006/relationships/image" Target="../media/image47.png"/><Relationship Id="rId29" Type="http://schemas.openxmlformats.org/officeDocument/2006/relationships/image" Target="../media/image54.png"/><Relationship Id="rId28" Type="http://schemas.openxmlformats.org/officeDocument/2006/relationships/tags" Target="../tags/tag50.xml"/><Relationship Id="rId27" Type="http://schemas.openxmlformats.org/officeDocument/2006/relationships/image" Target="../media/image53.png"/><Relationship Id="rId26" Type="http://schemas.openxmlformats.org/officeDocument/2006/relationships/tags" Target="../tags/tag49.xml"/><Relationship Id="rId25" Type="http://schemas.openxmlformats.org/officeDocument/2006/relationships/image" Target="../media/image52.png"/><Relationship Id="rId24" Type="http://schemas.openxmlformats.org/officeDocument/2006/relationships/tags" Target="../tags/tag48.xml"/><Relationship Id="rId23" Type="http://schemas.openxmlformats.org/officeDocument/2006/relationships/image" Target="../media/image51.png"/><Relationship Id="rId22" Type="http://schemas.openxmlformats.org/officeDocument/2006/relationships/tags" Target="../tags/tag47.xml"/><Relationship Id="rId21" Type="http://schemas.openxmlformats.org/officeDocument/2006/relationships/image" Target="../media/image50.png"/><Relationship Id="rId20" Type="http://schemas.openxmlformats.org/officeDocument/2006/relationships/tags" Target="../tags/tag46.xml"/><Relationship Id="rId2" Type="http://schemas.openxmlformats.org/officeDocument/2006/relationships/tags" Target="../tags/tag35.xml"/><Relationship Id="rId19" Type="http://schemas.openxmlformats.org/officeDocument/2006/relationships/image" Target="../media/image49.png"/><Relationship Id="rId18" Type="http://schemas.openxmlformats.org/officeDocument/2006/relationships/tags" Target="../tags/tag45.xml"/><Relationship Id="rId17" Type="http://schemas.openxmlformats.org/officeDocument/2006/relationships/image" Target="../media/image48.png"/><Relationship Id="rId16" Type="http://schemas.openxmlformats.org/officeDocument/2006/relationships/tags" Target="../tags/tag44.xml"/><Relationship Id="rId15" Type="http://schemas.openxmlformats.org/officeDocument/2006/relationships/image" Target="../media/image22.png"/><Relationship Id="rId14" Type="http://schemas.openxmlformats.org/officeDocument/2006/relationships/image" Target="../media/image39.png"/><Relationship Id="rId13" Type="http://schemas.openxmlformats.org/officeDocument/2006/relationships/image" Target="../media/image21.png"/><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image" Target="../media/image38.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58.png"/><Relationship Id="rId7" Type="http://schemas.openxmlformats.org/officeDocument/2006/relationships/image" Target="../media/image57.png"/><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39.png"/><Relationship Id="rId3" Type="http://schemas.openxmlformats.org/officeDocument/2006/relationships/image" Target="../media/image21.png"/><Relationship Id="rId2" Type="http://schemas.openxmlformats.org/officeDocument/2006/relationships/image" Target="../media/image38.png"/><Relationship Id="rId10" Type="http://schemas.openxmlformats.org/officeDocument/2006/relationships/notesSlide" Target="../notesSlides/notesSlide1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image" Target="../media/image14.png"/><Relationship Id="rId22" Type="http://schemas.openxmlformats.org/officeDocument/2006/relationships/notesSlide" Target="../notesSlides/notesSlide13.xml"/><Relationship Id="rId21" Type="http://schemas.openxmlformats.org/officeDocument/2006/relationships/slideLayout" Target="../slideLayouts/slideLayout1.xml"/><Relationship Id="rId20" Type="http://schemas.openxmlformats.org/officeDocument/2006/relationships/image" Target="../media/image59.png"/><Relationship Id="rId2" Type="http://schemas.openxmlformats.org/officeDocument/2006/relationships/image" Target="../media/image38.png"/><Relationship Id="rId19" Type="http://schemas.openxmlformats.org/officeDocument/2006/relationships/image" Target="../media/image42.png"/><Relationship Id="rId18" Type="http://schemas.openxmlformats.org/officeDocument/2006/relationships/tags" Target="../tags/tag62.xml"/><Relationship Id="rId17" Type="http://schemas.openxmlformats.org/officeDocument/2006/relationships/image" Target="../media/image41.png"/><Relationship Id="rId16" Type="http://schemas.openxmlformats.org/officeDocument/2006/relationships/tags" Target="../tags/tag61.xml"/><Relationship Id="rId15" Type="http://schemas.openxmlformats.org/officeDocument/2006/relationships/image" Target="../media/image40.png"/><Relationship Id="rId14" Type="http://schemas.openxmlformats.org/officeDocument/2006/relationships/tags" Target="../tags/tag60.xml"/><Relationship Id="rId13" Type="http://schemas.openxmlformats.org/officeDocument/2006/relationships/image" Target="../media/image22.png"/><Relationship Id="rId12" Type="http://schemas.openxmlformats.org/officeDocument/2006/relationships/image" Target="../media/image39.png"/><Relationship Id="rId11" Type="http://schemas.openxmlformats.org/officeDocument/2006/relationships/image" Target="../media/image21.png"/><Relationship Id="rId10" Type="http://schemas.openxmlformats.org/officeDocument/2006/relationships/tags" Target="../tags/tag59.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60.jpe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14.png"/><Relationship Id="rId1" Type="http://schemas.openxmlformats.org/officeDocument/2006/relationships/image" Target="../media/image60.jpe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xml"/><Relationship Id="rId7" Type="http://schemas.openxmlformats.org/officeDocument/2006/relationships/image" Target="../media/image69.png"/><Relationship Id="rId6" Type="http://schemas.openxmlformats.org/officeDocument/2006/relationships/image" Target="../media/image22.png"/><Relationship Id="rId5" Type="http://schemas.openxmlformats.org/officeDocument/2006/relationships/image" Target="../media/image39.png"/><Relationship Id="rId4" Type="http://schemas.openxmlformats.org/officeDocument/2006/relationships/image" Target="../media/image23.png"/><Relationship Id="rId3" Type="http://schemas.openxmlformats.org/officeDocument/2006/relationships/image" Target="../media/image21.png"/><Relationship Id="rId2" Type="http://schemas.openxmlformats.org/officeDocument/2006/relationships/image" Target="../media/image68.jpeg"/><Relationship Id="rId1" Type="http://schemas.openxmlformats.org/officeDocument/2006/relationships/image" Target="../media/image60.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64.png"/><Relationship Id="rId1" Type="http://schemas.openxmlformats.org/officeDocument/2006/relationships/image" Target="../media/image70.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xml"/><Relationship Id="rId6" Type="http://schemas.openxmlformats.org/officeDocument/2006/relationships/image" Target="../media/image78.jpeg"/><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image" Target="../media/image74.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39.png"/><Relationship Id="rId1" Type="http://schemas.openxmlformats.org/officeDocument/2006/relationships/image" Target="../media/image7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6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flipH="1">
            <a:off x="4814570" y="3940175"/>
            <a:ext cx="6555740" cy="0"/>
          </a:xfrm>
          <a:prstGeom prst="line">
            <a:avLst/>
          </a:prstGeom>
          <a:noFill/>
          <a:ln w="38100">
            <a:solidFill>
              <a:srgbClr val="FFFFFF"/>
            </a:solidFill>
            <a:prstDash val="solid"/>
            <a:headEnd type="none"/>
            <a:tailEnd type="none"/>
          </a:ln>
        </p:spPr>
      </p:sp>
      <p:sp>
        <p:nvSpPr>
          <p:cNvPr id="3" name="Shape 1"/>
          <p:cNvSpPr/>
          <p:nvPr/>
        </p:nvSpPr>
        <p:spPr>
          <a:xfrm>
            <a:off x="9231630" y="4891405"/>
            <a:ext cx="2222500" cy="429260"/>
          </a:xfrm>
          <a:prstGeom prst="roundRect">
            <a:avLst>
              <a:gd name="adj" fmla="val 50000"/>
            </a:avLst>
          </a:prstGeom>
          <a:solidFill>
            <a:srgbClr val="1786DB"/>
          </a:solidFill>
        </p:spPr>
      </p:sp>
      <p:sp>
        <p:nvSpPr>
          <p:cNvPr id="4" name="Text 2"/>
          <p:cNvSpPr/>
          <p:nvPr/>
        </p:nvSpPr>
        <p:spPr>
          <a:xfrm>
            <a:off x="9231630" y="4891405"/>
            <a:ext cx="2222500" cy="4292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3"/>
          <p:cNvSpPr/>
          <p:nvPr/>
        </p:nvSpPr>
        <p:spPr>
          <a:xfrm>
            <a:off x="9245600" y="4893310"/>
            <a:ext cx="2209165" cy="429895"/>
          </a:xfrm>
          <a:prstGeom prst="rect">
            <a:avLst/>
          </a:prstGeom>
          <a:noFill/>
        </p:spPr>
        <p:txBody>
          <a:bodyPr wrap="square" lIns="91440" tIns="45720" rIns="91440" bIns="45720" rtlCol="0" anchor="t"/>
          <a:lstStyle/>
          <a:p>
            <a:pPr marL="0" indent="0" algn="ctr">
              <a:lnSpc>
                <a:spcPct val="100000"/>
              </a:lnSpc>
              <a:buNone/>
            </a:pPr>
            <a:r>
              <a:rPr lang="en-US" sz="2200" b="1" dirty="0">
                <a:solidFill>
                  <a:srgbClr val="FFFFFF"/>
                </a:solidFill>
                <a:latin typeface="MiSans" panose="00000500000000000000" pitchFamily="34" charset="-122"/>
                <a:ea typeface="MiSans" panose="00000500000000000000" pitchFamily="34" charset="-122"/>
                <a:cs typeface="MiSans" panose="00000500000000000000" pitchFamily="34" charset="-120"/>
              </a:rPr>
              <a:t>汇报人：</a:t>
            </a:r>
            <a:r>
              <a:rPr lang="zh-CN" altLang="en-US" sz="2200" b="1" dirty="0">
                <a:solidFill>
                  <a:srgbClr val="FFFFFF"/>
                </a:solidFill>
                <a:latin typeface="MiSans" panose="00000500000000000000" pitchFamily="34" charset="-122"/>
                <a:ea typeface="MiSans" panose="00000500000000000000" pitchFamily="34" charset="-122"/>
                <a:cs typeface="MiSans" panose="00000500000000000000" pitchFamily="34" charset="-120"/>
              </a:rPr>
              <a:t>何郑雄</a:t>
            </a:r>
            <a:endParaRPr lang="zh-CN" altLang="en-US" sz="2200" b="1" dirty="0">
              <a:solidFill>
                <a:srgbClr val="FFFFFF"/>
              </a:solidFill>
              <a:latin typeface="MiSans" panose="00000500000000000000" pitchFamily="34" charset="-122"/>
              <a:ea typeface="MiSans" panose="00000500000000000000" pitchFamily="34" charset="-122"/>
              <a:cs typeface="MiSans" panose="00000500000000000000" pitchFamily="34" charset="-120"/>
            </a:endParaRPr>
          </a:p>
        </p:txBody>
      </p:sp>
      <p:sp>
        <p:nvSpPr>
          <p:cNvPr id="6" name="Text 4"/>
          <p:cNvSpPr/>
          <p:nvPr/>
        </p:nvSpPr>
        <p:spPr>
          <a:xfrm>
            <a:off x="3086735" y="970915"/>
            <a:ext cx="8166100" cy="552450"/>
          </a:xfrm>
          <a:prstGeom prst="rect">
            <a:avLst/>
          </a:prstGeom>
          <a:noFill/>
        </p:spPr>
        <p:txBody>
          <a:bodyPr wrap="square" lIns="91440" tIns="45720" rIns="91440" bIns="45720" rtlCol="0" anchor="ctr"/>
          <a:lstStyle/>
          <a:p>
            <a:pPr marL="0" indent="0" algn="r">
              <a:lnSpc>
                <a:spcPct val="100000"/>
              </a:lnSpc>
              <a:buNone/>
            </a:pPr>
            <a:r>
              <a:rPr lang="en-US" sz="3000" dirty="0">
                <a:solidFill>
                  <a:srgbClr val="FFFFFF"/>
                </a:solidFill>
                <a:latin typeface="MiSans" panose="00000500000000000000" pitchFamily="34" charset="-122"/>
                <a:ea typeface="MiSans" panose="00000500000000000000" pitchFamily="34" charset="-122"/>
                <a:cs typeface="MiSans" panose="00000500000000000000" pitchFamily="34" charset="-120"/>
              </a:rPr>
              <a:t>2025.07.20</a:t>
            </a:r>
            <a:endParaRPr lang="en-US" sz="1600" dirty="0"/>
          </a:p>
        </p:txBody>
      </p:sp>
      <p:sp>
        <p:nvSpPr>
          <p:cNvPr id="7" name="Text 5"/>
          <p:cNvSpPr/>
          <p:nvPr/>
        </p:nvSpPr>
        <p:spPr>
          <a:xfrm>
            <a:off x="3566160" y="4138930"/>
            <a:ext cx="7825740" cy="368300"/>
          </a:xfrm>
          <a:prstGeom prst="rect">
            <a:avLst/>
          </a:prstGeom>
          <a:noFill/>
        </p:spPr>
        <p:txBody>
          <a:bodyPr wrap="square" lIns="91440" tIns="45720" rIns="91440" bIns="45720" rtlCol="0" anchor="t"/>
          <a:lstStyle/>
          <a:p>
            <a:pPr marL="0" indent="0" algn="r">
              <a:lnSpc>
                <a:spcPct val="100000"/>
              </a:lnSpc>
              <a:buNone/>
            </a:pPr>
            <a:r>
              <a:rPr lang="en-US" sz="1800" dirty="0">
                <a:solidFill>
                  <a:srgbClr val="FFFFFF"/>
                </a:solidFill>
                <a:latin typeface="MiSans" panose="00000500000000000000" pitchFamily="34" charset="-122"/>
                <a:ea typeface="MiSans" panose="00000500000000000000" pitchFamily="34" charset="-122"/>
                <a:cs typeface="MiSans" panose="00000500000000000000" pitchFamily="34" charset="-120"/>
              </a:rPr>
              <a:t>Let’s AI  agent make life better!</a:t>
            </a:r>
            <a:endParaRPr lang="zh-CN" altLang="en-US" sz="1800" dirty="0">
              <a:solidFill>
                <a:srgbClr val="FFFFFF"/>
              </a:solidFill>
              <a:latin typeface="MiSans" panose="00000500000000000000" pitchFamily="34" charset="-122"/>
              <a:ea typeface="MiSans" panose="00000500000000000000" pitchFamily="34" charset="-122"/>
              <a:cs typeface="MiSans" panose="00000500000000000000" pitchFamily="34" charset="-120"/>
            </a:endParaRPr>
          </a:p>
        </p:txBody>
      </p:sp>
      <p:sp>
        <p:nvSpPr>
          <p:cNvPr id="8" name="Text 6"/>
          <p:cNvSpPr/>
          <p:nvPr/>
        </p:nvSpPr>
        <p:spPr>
          <a:xfrm>
            <a:off x="2666365" y="1552575"/>
            <a:ext cx="8595995" cy="2477135"/>
          </a:xfrm>
          <a:prstGeom prst="rect">
            <a:avLst/>
          </a:prstGeom>
          <a:noFill/>
        </p:spPr>
        <p:txBody>
          <a:bodyPr wrap="square" lIns="91440" tIns="45720" rIns="91440" bIns="45720" rtlCol="0" anchor="ctr"/>
          <a:lstStyle/>
          <a:p>
            <a:pPr marL="0" indent="0" algn="r">
              <a:lnSpc>
                <a:spcPct val="100000"/>
              </a:lnSpc>
              <a:buNone/>
            </a:pPr>
            <a:r>
              <a:rPr lang="en-US" sz="6000" dirty="0">
                <a:solidFill>
                  <a:srgbClr val="FFFFFF"/>
                </a:solidFill>
                <a:latin typeface="MiSans" panose="00000500000000000000" pitchFamily="34" charset="-122"/>
                <a:ea typeface="MiSans" panose="00000500000000000000" pitchFamily="34" charset="-122"/>
                <a:cs typeface="MiSans" panose="00000500000000000000" pitchFamily="34" charset="-120"/>
              </a:rPr>
              <a:t>基于多模态的模拟面试与测评分析智能体项目汇报</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71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07-d1oe5vtcmrb5eq9iqa6g.png"/>
          <p:cNvPicPr>
            <a:picLocks noChangeAspect="1"/>
          </p:cNvPicPr>
          <p:nvPr>
            <p:custDataLst>
              <p:tags r:id="rId2"/>
            </p:custDataLst>
          </p:nvPr>
        </p:nvPicPr>
        <p:blipFill>
          <a:blip r:embed="rId3"/>
          <a:stretch>
            <a:fillRect/>
          </a:stretch>
        </p:blipFill>
        <p:spPr>
          <a:xfrm>
            <a:off x="6136005" y="3484245"/>
            <a:ext cx="5650865" cy="993775"/>
          </a:xfrm>
          <a:prstGeom prst="rect">
            <a:avLst/>
          </a:prstGeom>
        </p:spPr>
      </p:pic>
      <p:pic>
        <p:nvPicPr>
          <p:cNvPr id="3" name="Image 1" descr="https://test-kimi-img.moonshot.cn/pub/slides/slides_tmpl/image/25-07-11-18:10:07-d1oe5vtcmrb5eq9iqa6g.png"/>
          <p:cNvPicPr>
            <a:picLocks noChangeAspect="1"/>
          </p:cNvPicPr>
          <p:nvPr>
            <p:custDataLst>
              <p:tags r:id="rId4"/>
            </p:custDataLst>
          </p:nvPr>
        </p:nvPicPr>
        <p:blipFill>
          <a:blip r:embed="rId3"/>
          <a:stretch>
            <a:fillRect/>
          </a:stretch>
        </p:blipFill>
        <p:spPr>
          <a:xfrm>
            <a:off x="358140" y="3484245"/>
            <a:ext cx="5650865" cy="993775"/>
          </a:xfrm>
          <a:prstGeom prst="rect">
            <a:avLst/>
          </a:prstGeom>
        </p:spPr>
      </p:pic>
      <p:sp>
        <p:nvSpPr>
          <p:cNvPr id="4" name="Text 0"/>
          <p:cNvSpPr/>
          <p:nvPr>
            <p:custDataLst>
              <p:tags r:id="rId5"/>
            </p:custDataLst>
          </p:nvPr>
        </p:nvSpPr>
        <p:spPr>
          <a:xfrm>
            <a:off x="1097915" y="3730625"/>
            <a:ext cx="4460875" cy="524510"/>
          </a:xfrm>
          <a:prstGeom prst="rect">
            <a:avLst/>
          </a:prstGeom>
          <a:noFill/>
        </p:spPr>
        <p:txBody>
          <a:bodyPr wrap="square" lIns="91440" tIns="45720" rIns="91440" bIns="45720" rtlCol="0" anchor="t"/>
          <a:lstStyle/>
          <a:p>
            <a:pPr marL="0" indent="0" algn="l">
              <a:lnSpc>
                <a:spcPct val="100000"/>
              </a:lnSpc>
              <a:buNone/>
            </a:pPr>
            <a:r>
              <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项目背景与</a:t>
            </a:r>
            <a:r>
              <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用户痛点</a:t>
            </a:r>
            <a:endPar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5" name="Shape 1"/>
          <p:cNvSpPr/>
          <p:nvPr>
            <p:custDataLst>
              <p:tags r:id="rId6"/>
            </p:custDataLst>
          </p:nvPr>
        </p:nvSpPr>
        <p:spPr>
          <a:xfrm>
            <a:off x="628650" y="3679825"/>
            <a:ext cx="469265" cy="469265"/>
          </a:xfrm>
          <a:prstGeom prst="ellipse">
            <a:avLst/>
          </a:prstGeom>
          <a:gradFill flip="none" rotWithShape="1">
            <a:gsLst>
              <a:gs pos="2000">
                <a:srgbClr val="D1DCF2">
                  <a:alpha val="83000"/>
                </a:srgbClr>
              </a:gs>
              <a:gs pos="55000">
                <a:srgbClr val="4874CB">
                  <a:alpha val="69000"/>
                </a:srgbClr>
              </a:gs>
              <a:gs pos="100000">
                <a:srgbClr val="345FB6"/>
              </a:gs>
            </a:gsLst>
            <a:path path="circle">
              <a:fillToRect r="100000" b="100000"/>
            </a:path>
            <a:tileRect l="-100000" t="-100000"/>
          </a:gradFill>
        </p:spPr>
      </p:sp>
      <p:sp>
        <p:nvSpPr>
          <p:cNvPr id="6" name="Text 2"/>
          <p:cNvSpPr/>
          <p:nvPr/>
        </p:nvSpPr>
        <p:spPr>
          <a:xfrm>
            <a:off x="628650" y="3679825"/>
            <a:ext cx="469265" cy="469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3"/>
          <p:cNvSpPr/>
          <p:nvPr>
            <p:custDataLst>
              <p:tags r:id="rId7"/>
            </p:custDataLst>
          </p:nvPr>
        </p:nvSpPr>
        <p:spPr>
          <a:xfrm>
            <a:off x="648335" y="3717925"/>
            <a:ext cx="513080" cy="431165"/>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
        <p:nvSpPr>
          <p:cNvPr id="8" name="Text 4"/>
          <p:cNvSpPr/>
          <p:nvPr>
            <p:custDataLst>
              <p:tags r:id="rId8"/>
            </p:custDataLst>
          </p:nvPr>
        </p:nvSpPr>
        <p:spPr>
          <a:xfrm>
            <a:off x="6924040" y="3730625"/>
            <a:ext cx="4460875" cy="524510"/>
          </a:xfrm>
          <a:prstGeom prst="rect">
            <a:avLst/>
          </a:prstGeom>
          <a:noFill/>
        </p:spPr>
        <p:txBody>
          <a:bodyPr wrap="square" lIns="91440" tIns="45720" rIns="91440" bIns="45720" rtlCol="0" anchor="t"/>
          <a:lstStyle/>
          <a:p>
            <a:pPr marL="0" indent="0" algn="l">
              <a:lnSpc>
                <a:spcPct val="100000"/>
              </a:lnSpc>
              <a:buNone/>
            </a:pPr>
            <a:r>
              <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系统架构与技术</a:t>
            </a:r>
            <a:r>
              <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实现</a:t>
            </a:r>
            <a:endPar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9" name="Shape 5"/>
          <p:cNvSpPr/>
          <p:nvPr>
            <p:custDataLst>
              <p:tags r:id="rId9"/>
            </p:custDataLst>
          </p:nvPr>
        </p:nvSpPr>
        <p:spPr>
          <a:xfrm>
            <a:off x="6454775" y="3679825"/>
            <a:ext cx="469265" cy="469265"/>
          </a:xfrm>
          <a:prstGeom prst="ellipse">
            <a:avLst/>
          </a:prstGeom>
          <a:gradFill flip="none" rotWithShape="1">
            <a:gsLst>
              <a:gs pos="2000">
                <a:srgbClr val="D1DCF2">
                  <a:alpha val="83000"/>
                </a:srgbClr>
              </a:gs>
              <a:gs pos="55000">
                <a:srgbClr val="4874CB">
                  <a:alpha val="69000"/>
                </a:srgbClr>
              </a:gs>
              <a:gs pos="100000">
                <a:srgbClr val="345FB6"/>
              </a:gs>
            </a:gsLst>
            <a:path path="circle">
              <a:fillToRect r="100000" b="100000"/>
            </a:path>
            <a:tileRect l="-100000" t="-100000"/>
          </a:gradFill>
        </p:spPr>
      </p:sp>
      <p:sp>
        <p:nvSpPr>
          <p:cNvPr id="10" name="Text 6"/>
          <p:cNvSpPr/>
          <p:nvPr/>
        </p:nvSpPr>
        <p:spPr>
          <a:xfrm>
            <a:off x="6454775" y="3679825"/>
            <a:ext cx="469265" cy="469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7"/>
          <p:cNvSpPr/>
          <p:nvPr>
            <p:custDataLst>
              <p:tags r:id="rId10"/>
            </p:custDataLst>
          </p:nvPr>
        </p:nvSpPr>
        <p:spPr>
          <a:xfrm>
            <a:off x="6474460" y="3717925"/>
            <a:ext cx="513080" cy="431165"/>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04</a:t>
            </a:r>
            <a:endParaRPr lang="en-US" sz="1600" dirty="0"/>
          </a:p>
        </p:txBody>
      </p:sp>
      <p:sp>
        <p:nvSpPr>
          <p:cNvPr id="12" name="Text 8"/>
          <p:cNvSpPr/>
          <p:nvPr/>
        </p:nvSpPr>
        <p:spPr>
          <a:xfrm>
            <a:off x="462915" y="2383155"/>
            <a:ext cx="2174240" cy="975995"/>
          </a:xfrm>
          <a:prstGeom prst="rect">
            <a:avLst/>
          </a:prstGeom>
          <a:noFill/>
        </p:spPr>
        <p:txBody>
          <a:bodyPr wrap="square" lIns="91440" tIns="45720" rIns="91440" bIns="45720" rtlCol="0" anchor="t"/>
          <a:lstStyle/>
          <a:p>
            <a:pPr marL="0" indent="0" algn="l">
              <a:lnSpc>
                <a:spcPct val="100000"/>
              </a:lnSpc>
              <a:buNone/>
            </a:pPr>
            <a:r>
              <a:rPr lang="en-US" sz="4800" b="1" dirty="0">
                <a:solidFill>
                  <a:srgbClr val="2E54A1"/>
                </a:solidFill>
                <a:latin typeface="MiSans" panose="00000500000000000000" pitchFamily="34" charset="-122"/>
                <a:ea typeface="MiSans" panose="00000500000000000000" pitchFamily="34" charset="-122"/>
                <a:cs typeface="MiSans" panose="00000500000000000000" pitchFamily="34" charset="-120"/>
              </a:rPr>
              <a:t>目录</a:t>
            </a:r>
            <a:endParaRPr lang="en-US" sz="1600" dirty="0"/>
          </a:p>
        </p:txBody>
      </p:sp>
      <p:pic>
        <p:nvPicPr>
          <p:cNvPr id="13" name="Image 2" descr="https://test-kimi-img.moonshot.cn/pub/slides/slides_tmpl/image/25-07-11-18:10:07-d1oe5vtcmrb5eq9iqa60.png"/>
          <p:cNvPicPr>
            <a:picLocks noChangeAspect="1"/>
          </p:cNvPicPr>
          <p:nvPr/>
        </p:nvPicPr>
        <p:blipFill>
          <a:blip r:embed="rId11"/>
          <a:stretch>
            <a:fillRect/>
          </a:stretch>
        </p:blipFill>
        <p:spPr>
          <a:xfrm>
            <a:off x="1890395" y="2610485"/>
            <a:ext cx="1902460" cy="461645"/>
          </a:xfrm>
          <a:prstGeom prst="rect">
            <a:avLst/>
          </a:prstGeom>
        </p:spPr>
      </p:pic>
      <p:pic>
        <p:nvPicPr>
          <p:cNvPr id="14" name="Image 3" descr="https://test-kimi-img.moonshot.cn/pub/slides/slides_tmpl/image/25-07-11-18:10:07-d1oe5vtcmrb5eq9iqa50.png"/>
          <p:cNvPicPr>
            <a:picLocks noChangeAspect="1"/>
          </p:cNvPicPr>
          <p:nvPr/>
        </p:nvPicPr>
        <p:blipFill>
          <a:blip r:embed="rId12"/>
          <a:stretch>
            <a:fillRect/>
          </a:stretch>
        </p:blipFill>
        <p:spPr>
          <a:xfrm>
            <a:off x="11084560" y="2884805"/>
            <a:ext cx="303530" cy="142875"/>
          </a:xfrm>
          <a:prstGeom prst="rect">
            <a:avLst/>
          </a:prstGeom>
        </p:spPr>
      </p:pic>
      <p:pic>
        <p:nvPicPr>
          <p:cNvPr id="15" name="Image 4" descr="https://test-kimi-img.moonshot.cn/pub/slides/slides_tmpl/image/25-07-11-18:10:07-d1oe5vtcmrb5eq9iqa4g.png"/>
          <p:cNvPicPr>
            <a:picLocks noChangeAspect="1"/>
          </p:cNvPicPr>
          <p:nvPr/>
        </p:nvPicPr>
        <p:blipFill>
          <a:blip r:embed="rId13">
            <a:alphaModFix amt="37000"/>
          </a:blip>
          <a:srcRect t="226" r="321" b="228"/>
          <a:stretch>
            <a:fillRect/>
          </a:stretch>
        </p:blipFill>
        <p:spPr>
          <a:xfrm>
            <a:off x="11571984" y="23052"/>
            <a:ext cx="589280" cy="556895"/>
          </a:xfrm>
          <a:prstGeom prst="rect">
            <a:avLst/>
          </a:prstGeom>
        </p:spPr>
      </p:pic>
      <p:pic>
        <p:nvPicPr>
          <p:cNvPr id="16" name="Image 5" descr="https://test-kimi-img.moonshot.cn/pub/slides/slides_tmpl/image/25-07-11-18:10:07-d1oe5vtcmrb5eq9iqa70.png"/>
          <p:cNvPicPr>
            <a:picLocks noChangeAspect="1"/>
          </p:cNvPicPr>
          <p:nvPr/>
        </p:nvPicPr>
        <p:blipFill>
          <a:blip r:embed="rId14"/>
          <a:srcRect b="128"/>
          <a:stretch>
            <a:fillRect/>
          </a:stretch>
        </p:blipFill>
        <p:spPr>
          <a:xfrm>
            <a:off x="7490460" y="392430"/>
            <a:ext cx="4070350" cy="2492375"/>
          </a:xfrm>
          <a:prstGeom prst="rect">
            <a:avLst/>
          </a:prstGeom>
        </p:spPr>
      </p:pic>
      <p:pic>
        <p:nvPicPr>
          <p:cNvPr id="17" name="Image 6" descr="https://test-kimi-img.moonshot.cn/pub/slides/slides_tmpl/image/25-07-11-18:10:07-d1oe5vtcmrb5eq9iqa6g.png"/>
          <p:cNvPicPr>
            <a:picLocks noChangeAspect="1"/>
          </p:cNvPicPr>
          <p:nvPr>
            <p:custDataLst>
              <p:tags r:id="rId15"/>
            </p:custDataLst>
          </p:nvPr>
        </p:nvPicPr>
        <p:blipFill>
          <a:blip r:embed="rId3"/>
          <a:stretch>
            <a:fillRect/>
          </a:stretch>
        </p:blipFill>
        <p:spPr>
          <a:xfrm>
            <a:off x="6138545" y="4553585"/>
            <a:ext cx="5650865" cy="993775"/>
          </a:xfrm>
          <a:prstGeom prst="rect">
            <a:avLst/>
          </a:prstGeom>
        </p:spPr>
      </p:pic>
      <p:pic>
        <p:nvPicPr>
          <p:cNvPr id="18" name="Image 7" descr="https://test-kimi-img.moonshot.cn/pub/slides/slides_tmpl/image/25-07-11-18:10:07-d1oe5vtcmrb5eq9iqa6g.png"/>
          <p:cNvPicPr>
            <a:picLocks noChangeAspect="1"/>
          </p:cNvPicPr>
          <p:nvPr>
            <p:custDataLst>
              <p:tags r:id="rId16"/>
            </p:custDataLst>
          </p:nvPr>
        </p:nvPicPr>
        <p:blipFill>
          <a:blip r:embed="rId3"/>
          <a:stretch>
            <a:fillRect/>
          </a:stretch>
        </p:blipFill>
        <p:spPr>
          <a:xfrm>
            <a:off x="360680" y="4553585"/>
            <a:ext cx="5650865" cy="993775"/>
          </a:xfrm>
          <a:prstGeom prst="rect">
            <a:avLst/>
          </a:prstGeom>
        </p:spPr>
      </p:pic>
      <p:sp>
        <p:nvSpPr>
          <p:cNvPr id="19" name="Text 9"/>
          <p:cNvSpPr/>
          <p:nvPr>
            <p:custDataLst>
              <p:tags r:id="rId17"/>
            </p:custDataLst>
          </p:nvPr>
        </p:nvSpPr>
        <p:spPr>
          <a:xfrm>
            <a:off x="1100455" y="4799965"/>
            <a:ext cx="4460875" cy="524510"/>
          </a:xfrm>
          <a:prstGeom prst="rect">
            <a:avLst/>
          </a:prstGeom>
          <a:noFill/>
        </p:spPr>
        <p:txBody>
          <a:bodyPr wrap="square" lIns="91440" tIns="45720" rIns="91440" bIns="45720" rtlCol="0" anchor="t"/>
          <a:lstStyle/>
          <a:p>
            <a:pPr marL="0" indent="0" algn="l">
              <a:lnSpc>
                <a:spcPct val="100000"/>
              </a:lnSpc>
              <a:buNone/>
            </a:pPr>
            <a:r>
              <a:rPr 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系统概述与解决方案</a:t>
            </a:r>
            <a:endParaRPr lang="en-US" sz="1600" dirty="0"/>
          </a:p>
        </p:txBody>
      </p:sp>
      <p:sp>
        <p:nvSpPr>
          <p:cNvPr id="20" name="Shape 10"/>
          <p:cNvSpPr/>
          <p:nvPr>
            <p:custDataLst>
              <p:tags r:id="rId18"/>
            </p:custDataLst>
          </p:nvPr>
        </p:nvSpPr>
        <p:spPr>
          <a:xfrm>
            <a:off x="631190" y="4749165"/>
            <a:ext cx="469265" cy="469265"/>
          </a:xfrm>
          <a:prstGeom prst="ellipse">
            <a:avLst/>
          </a:prstGeom>
          <a:gradFill flip="none" rotWithShape="1">
            <a:gsLst>
              <a:gs pos="2000">
                <a:srgbClr val="D1DCF2">
                  <a:alpha val="83000"/>
                </a:srgbClr>
              </a:gs>
              <a:gs pos="55000">
                <a:srgbClr val="4874CB">
                  <a:alpha val="69000"/>
                </a:srgbClr>
              </a:gs>
              <a:gs pos="100000">
                <a:srgbClr val="345FB6"/>
              </a:gs>
            </a:gsLst>
            <a:path path="circle">
              <a:fillToRect r="100000" b="100000"/>
            </a:path>
            <a:tileRect l="-100000" t="-100000"/>
          </a:gradFill>
        </p:spPr>
      </p:sp>
      <p:sp>
        <p:nvSpPr>
          <p:cNvPr id="21" name="Text 11"/>
          <p:cNvSpPr/>
          <p:nvPr/>
        </p:nvSpPr>
        <p:spPr>
          <a:xfrm>
            <a:off x="631190" y="4749165"/>
            <a:ext cx="469265" cy="469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12"/>
          <p:cNvSpPr/>
          <p:nvPr>
            <p:custDataLst>
              <p:tags r:id="rId19"/>
            </p:custDataLst>
          </p:nvPr>
        </p:nvSpPr>
        <p:spPr>
          <a:xfrm>
            <a:off x="650875" y="4787265"/>
            <a:ext cx="513080" cy="431165"/>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02</a:t>
            </a:r>
            <a:endParaRPr lang="en-US" sz="1600" dirty="0"/>
          </a:p>
        </p:txBody>
      </p:sp>
      <p:sp>
        <p:nvSpPr>
          <p:cNvPr id="23" name="Text 13"/>
          <p:cNvSpPr/>
          <p:nvPr>
            <p:custDataLst>
              <p:tags r:id="rId20"/>
            </p:custDataLst>
          </p:nvPr>
        </p:nvSpPr>
        <p:spPr>
          <a:xfrm>
            <a:off x="6926580" y="4799965"/>
            <a:ext cx="4460875" cy="524510"/>
          </a:xfrm>
          <a:prstGeom prst="rect">
            <a:avLst/>
          </a:prstGeom>
          <a:noFill/>
        </p:spPr>
        <p:txBody>
          <a:bodyPr wrap="square" lIns="91440" tIns="45720" rIns="91440" bIns="45720" rtlCol="0" anchor="t"/>
          <a:lstStyle/>
          <a:p>
            <a:pPr marL="0" indent="0" algn="l">
              <a:lnSpc>
                <a:spcPct val="100000"/>
              </a:lnSpc>
              <a:buNone/>
            </a:pPr>
            <a:r>
              <a:rPr lang="en-US" sz="1800" b="1" dirty="0">
                <a:solidFill>
                  <a:srgbClr val="000000"/>
                </a:solidFill>
                <a:latin typeface="MiSans" panose="00000500000000000000" pitchFamily="34" charset="-122"/>
                <a:ea typeface="MiSans" panose="00000500000000000000" pitchFamily="34" charset="-122"/>
                <a:cs typeface="MiSans" panose="00000500000000000000" pitchFamily="34" charset="-120"/>
              </a:rPr>
              <a:t>项目核心创新点分析</a:t>
            </a:r>
            <a:endParaRPr lang="en-US" sz="1600" dirty="0"/>
          </a:p>
        </p:txBody>
      </p:sp>
      <p:sp>
        <p:nvSpPr>
          <p:cNvPr id="24" name="Shape 14"/>
          <p:cNvSpPr/>
          <p:nvPr>
            <p:custDataLst>
              <p:tags r:id="rId21"/>
            </p:custDataLst>
          </p:nvPr>
        </p:nvSpPr>
        <p:spPr>
          <a:xfrm>
            <a:off x="6457315" y="4749165"/>
            <a:ext cx="469265" cy="469265"/>
          </a:xfrm>
          <a:prstGeom prst="ellipse">
            <a:avLst/>
          </a:prstGeom>
          <a:gradFill flip="none" rotWithShape="1">
            <a:gsLst>
              <a:gs pos="2000">
                <a:srgbClr val="D1DCF2">
                  <a:alpha val="83000"/>
                </a:srgbClr>
              </a:gs>
              <a:gs pos="55000">
                <a:srgbClr val="4874CB">
                  <a:alpha val="69000"/>
                </a:srgbClr>
              </a:gs>
              <a:gs pos="100000">
                <a:srgbClr val="345FB6"/>
              </a:gs>
            </a:gsLst>
            <a:path path="circle">
              <a:fillToRect r="100000" b="100000"/>
            </a:path>
            <a:tileRect l="-100000" t="-100000"/>
          </a:gradFill>
        </p:spPr>
      </p:sp>
      <p:sp>
        <p:nvSpPr>
          <p:cNvPr id="25" name="Text 15"/>
          <p:cNvSpPr/>
          <p:nvPr/>
        </p:nvSpPr>
        <p:spPr>
          <a:xfrm>
            <a:off x="6457315" y="4749165"/>
            <a:ext cx="469265" cy="469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16"/>
          <p:cNvSpPr/>
          <p:nvPr>
            <p:custDataLst>
              <p:tags r:id="rId22"/>
            </p:custDataLst>
          </p:nvPr>
        </p:nvSpPr>
        <p:spPr>
          <a:xfrm>
            <a:off x="6477000" y="4787265"/>
            <a:ext cx="513080" cy="431165"/>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05</a:t>
            </a:r>
            <a:endParaRPr lang="en-US" sz="1600" dirty="0"/>
          </a:p>
        </p:txBody>
      </p:sp>
      <p:pic>
        <p:nvPicPr>
          <p:cNvPr id="27" name="Image 8" descr="https://test-kimi-img.moonshot.cn/pub/slides/slides_tmpl/image/25-07-11-18:10:07-d1oe5vtcmrb5eq9iqa6g.png"/>
          <p:cNvPicPr>
            <a:picLocks noChangeAspect="1"/>
          </p:cNvPicPr>
          <p:nvPr>
            <p:custDataLst>
              <p:tags r:id="rId23"/>
            </p:custDataLst>
          </p:nvPr>
        </p:nvPicPr>
        <p:blipFill>
          <a:blip r:embed="rId3"/>
          <a:stretch>
            <a:fillRect/>
          </a:stretch>
        </p:blipFill>
        <p:spPr>
          <a:xfrm>
            <a:off x="6149975" y="5622925"/>
            <a:ext cx="5650865" cy="993775"/>
          </a:xfrm>
          <a:prstGeom prst="rect">
            <a:avLst/>
          </a:prstGeom>
        </p:spPr>
      </p:pic>
      <p:pic>
        <p:nvPicPr>
          <p:cNvPr id="28" name="Image 9" descr="https://test-kimi-img.moonshot.cn/pub/slides/slides_tmpl/image/25-07-11-18:10:07-d1oe5vtcmrb5eq9iqa6g.png"/>
          <p:cNvPicPr>
            <a:picLocks noChangeAspect="1"/>
          </p:cNvPicPr>
          <p:nvPr>
            <p:custDataLst>
              <p:tags r:id="rId24"/>
            </p:custDataLst>
          </p:nvPr>
        </p:nvPicPr>
        <p:blipFill>
          <a:blip r:embed="rId3"/>
          <a:stretch>
            <a:fillRect/>
          </a:stretch>
        </p:blipFill>
        <p:spPr>
          <a:xfrm>
            <a:off x="372110" y="5622925"/>
            <a:ext cx="5650865" cy="993775"/>
          </a:xfrm>
          <a:prstGeom prst="rect">
            <a:avLst/>
          </a:prstGeom>
        </p:spPr>
      </p:pic>
      <p:sp>
        <p:nvSpPr>
          <p:cNvPr id="29" name="Text 17"/>
          <p:cNvSpPr/>
          <p:nvPr>
            <p:custDataLst>
              <p:tags r:id="rId25"/>
            </p:custDataLst>
          </p:nvPr>
        </p:nvSpPr>
        <p:spPr>
          <a:xfrm>
            <a:off x="1111885" y="5869305"/>
            <a:ext cx="4460875" cy="524510"/>
          </a:xfrm>
          <a:prstGeom prst="rect">
            <a:avLst/>
          </a:prstGeom>
          <a:noFill/>
        </p:spPr>
        <p:txBody>
          <a:bodyPr wrap="square" lIns="91440" tIns="45720" rIns="91440" bIns="45720" rtlCol="0" anchor="t"/>
          <a:lstStyle/>
          <a:p>
            <a:pPr marL="0" indent="0" algn="l">
              <a:lnSpc>
                <a:spcPct val="100000"/>
              </a:lnSpc>
              <a:buNone/>
            </a:pPr>
            <a:r>
              <a:rPr lang="zh-CN" altLang="en-US" sz="1900" b="1" dirty="0">
                <a:solidFill>
                  <a:srgbClr val="000000"/>
                </a:solidFill>
                <a:latin typeface="MiSans" panose="00000500000000000000" pitchFamily="34" charset="-122"/>
                <a:ea typeface="MiSans" panose="00000500000000000000" pitchFamily="34" charset="-122"/>
                <a:cs typeface="MiSans" panose="00000500000000000000" pitchFamily="34" charset="-120"/>
              </a:rPr>
              <a:t>系统功能深度</a:t>
            </a:r>
            <a:r>
              <a:rPr lang="zh-CN" altLang="en-US" sz="1900" b="1" dirty="0">
                <a:solidFill>
                  <a:srgbClr val="000000"/>
                </a:solidFill>
                <a:latin typeface="MiSans" panose="00000500000000000000" pitchFamily="34" charset="-122"/>
                <a:ea typeface="MiSans" panose="00000500000000000000" pitchFamily="34" charset="-122"/>
                <a:cs typeface="MiSans" panose="00000500000000000000" pitchFamily="34" charset="-120"/>
              </a:rPr>
              <a:t>解析</a:t>
            </a:r>
            <a:endParaRPr lang="zh-CN" altLang="en-US" sz="1900" b="1"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30" name="Shape 18"/>
          <p:cNvSpPr/>
          <p:nvPr>
            <p:custDataLst>
              <p:tags r:id="rId26"/>
            </p:custDataLst>
          </p:nvPr>
        </p:nvSpPr>
        <p:spPr>
          <a:xfrm>
            <a:off x="642620" y="5818505"/>
            <a:ext cx="469265" cy="469265"/>
          </a:xfrm>
          <a:prstGeom prst="ellipse">
            <a:avLst/>
          </a:prstGeom>
          <a:gradFill flip="none" rotWithShape="1">
            <a:gsLst>
              <a:gs pos="2000">
                <a:srgbClr val="D1DCF2">
                  <a:alpha val="83000"/>
                </a:srgbClr>
              </a:gs>
              <a:gs pos="55000">
                <a:srgbClr val="4874CB">
                  <a:alpha val="69000"/>
                </a:srgbClr>
              </a:gs>
              <a:gs pos="100000">
                <a:srgbClr val="345FB6"/>
              </a:gs>
            </a:gsLst>
            <a:path path="circle">
              <a:fillToRect r="100000" b="100000"/>
            </a:path>
            <a:tileRect l="-100000" t="-100000"/>
          </a:gradFill>
        </p:spPr>
      </p:sp>
      <p:sp>
        <p:nvSpPr>
          <p:cNvPr id="31" name="Text 19"/>
          <p:cNvSpPr/>
          <p:nvPr/>
        </p:nvSpPr>
        <p:spPr>
          <a:xfrm>
            <a:off x="642620" y="5818505"/>
            <a:ext cx="469265" cy="469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2" name="Text 20"/>
          <p:cNvSpPr/>
          <p:nvPr>
            <p:custDataLst>
              <p:tags r:id="rId27"/>
            </p:custDataLst>
          </p:nvPr>
        </p:nvSpPr>
        <p:spPr>
          <a:xfrm>
            <a:off x="662305" y="5856605"/>
            <a:ext cx="513080" cy="431165"/>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03</a:t>
            </a:r>
            <a:endParaRPr lang="en-US" sz="1600" dirty="0"/>
          </a:p>
        </p:txBody>
      </p:sp>
      <p:sp>
        <p:nvSpPr>
          <p:cNvPr id="33" name="Text 21"/>
          <p:cNvSpPr/>
          <p:nvPr>
            <p:custDataLst>
              <p:tags r:id="rId28"/>
            </p:custDataLst>
          </p:nvPr>
        </p:nvSpPr>
        <p:spPr>
          <a:xfrm>
            <a:off x="6938010" y="5869305"/>
            <a:ext cx="4460875" cy="524510"/>
          </a:xfrm>
          <a:prstGeom prst="rect">
            <a:avLst/>
          </a:prstGeom>
          <a:noFill/>
        </p:spPr>
        <p:txBody>
          <a:bodyPr wrap="square" lIns="91440" tIns="45720" rIns="91440" bIns="45720" rtlCol="0" anchor="t"/>
          <a:lstStyle/>
          <a:p>
            <a:pPr marL="0" indent="0" algn="l">
              <a:lnSpc>
                <a:spcPct val="100000"/>
              </a:lnSpc>
              <a:buNone/>
            </a:pPr>
            <a:r>
              <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总结与</a:t>
            </a:r>
            <a:r>
              <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rPr>
              <a:t>未来展望</a:t>
            </a:r>
            <a:endParaRPr lang="zh-CN" altLang="en-US" sz="2000" b="1"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34" name="Shape 22"/>
          <p:cNvSpPr/>
          <p:nvPr>
            <p:custDataLst>
              <p:tags r:id="rId29"/>
            </p:custDataLst>
          </p:nvPr>
        </p:nvSpPr>
        <p:spPr>
          <a:xfrm>
            <a:off x="6468745" y="5818505"/>
            <a:ext cx="469265" cy="469265"/>
          </a:xfrm>
          <a:prstGeom prst="ellipse">
            <a:avLst/>
          </a:prstGeom>
          <a:gradFill flip="none" rotWithShape="1">
            <a:gsLst>
              <a:gs pos="2000">
                <a:srgbClr val="D1DCF2">
                  <a:alpha val="83000"/>
                </a:srgbClr>
              </a:gs>
              <a:gs pos="55000">
                <a:srgbClr val="4874CB">
                  <a:alpha val="69000"/>
                </a:srgbClr>
              </a:gs>
              <a:gs pos="100000">
                <a:srgbClr val="345FB6"/>
              </a:gs>
            </a:gsLst>
            <a:path path="circle">
              <a:fillToRect r="100000" b="100000"/>
            </a:path>
            <a:tileRect l="-100000" t="-100000"/>
          </a:gradFill>
        </p:spPr>
      </p:sp>
      <p:sp>
        <p:nvSpPr>
          <p:cNvPr id="35" name="Text 23"/>
          <p:cNvSpPr/>
          <p:nvPr/>
        </p:nvSpPr>
        <p:spPr>
          <a:xfrm>
            <a:off x="6468745" y="5818505"/>
            <a:ext cx="469265" cy="469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24"/>
          <p:cNvSpPr/>
          <p:nvPr>
            <p:custDataLst>
              <p:tags r:id="rId30"/>
            </p:custDataLst>
          </p:nvPr>
        </p:nvSpPr>
        <p:spPr>
          <a:xfrm>
            <a:off x="6488430" y="5856605"/>
            <a:ext cx="513080" cy="431165"/>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06</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90" y="-15875"/>
            <a:ext cx="10438130" cy="6880225"/>
          </a:xfrm>
          <a:prstGeom prst="rect">
            <a:avLst/>
          </a:prstGeom>
          <a:gradFill flip="none" rotWithShape="1">
            <a:gsLst>
              <a:gs pos="0">
                <a:srgbClr val="FFFFFF"/>
              </a:gs>
              <a:gs pos="100000">
                <a:srgbClr val="FFFFFF">
                  <a:alpha val="0"/>
                </a:srgbClr>
              </a:gs>
            </a:gsLst>
            <a:lin ang="0" scaled="1"/>
          </a:gradFill>
        </p:spPr>
      </p:sp>
      <p:sp>
        <p:nvSpPr>
          <p:cNvPr id="3" name="Text 1"/>
          <p:cNvSpPr/>
          <p:nvPr/>
        </p:nvSpPr>
        <p:spPr>
          <a:xfrm>
            <a:off x="8890" y="-15875"/>
            <a:ext cx="10438130" cy="688022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test-kimi-img.moonshot.cn/pub/slides/slides_tmpl/image/25-07-11-18:10:09-d1oe60dcmrb5eq9iqag0.png"/>
          <p:cNvPicPr>
            <a:picLocks noChangeAspect="1"/>
          </p:cNvPicPr>
          <p:nvPr/>
        </p:nvPicPr>
        <p:blipFill>
          <a:blip r:embed="rId2"/>
          <a:stretch>
            <a:fillRect/>
          </a:stretch>
        </p:blipFill>
        <p:spPr>
          <a:xfrm>
            <a:off x="612140" y="2388552"/>
            <a:ext cx="1600200" cy="1651000"/>
          </a:xfrm>
          <a:prstGeom prst="rect">
            <a:avLst/>
          </a:prstGeom>
        </p:spPr>
      </p:pic>
      <p:pic>
        <p:nvPicPr>
          <p:cNvPr id="5" name="Image 1" descr="https://test-kimi-img.moonshot.cn/pub/slides/slides_tmpl/image/25-07-11-18:10:09-d1oe60dcmrb5eq9iqagg.png"/>
          <p:cNvPicPr>
            <a:picLocks noChangeAspect="1"/>
          </p:cNvPicPr>
          <p:nvPr/>
        </p:nvPicPr>
        <p:blipFill>
          <a:blip r:embed="rId3"/>
          <a:srcRect l="56" t="92" b="92"/>
          <a:stretch>
            <a:fillRect/>
          </a:stretch>
        </p:blipFill>
        <p:spPr>
          <a:xfrm>
            <a:off x="8890" y="0"/>
            <a:ext cx="6771640" cy="6858000"/>
          </a:xfrm>
          <a:prstGeom prst="rect">
            <a:avLst/>
          </a:prstGeom>
        </p:spPr>
      </p:pic>
      <p:pic>
        <p:nvPicPr>
          <p:cNvPr id="6" name="Image 2" descr="https://test-kimi-img.moonshot.cn/pub/slides/slides_tmpl/image/25-07-11-18:10:09-d1oe60dcmrb5eq9iqah0.png"/>
          <p:cNvPicPr>
            <a:picLocks noChangeAspect="1"/>
          </p:cNvPicPr>
          <p:nvPr/>
        </p:nvPicPr>
        <p:blipFill>
          <a:blip r:embed="rId4"/>
          <a:stretch>
            <a:fillRect/>
          </a:stretch>
        </p:blipFill>
        <p:spPr>
          <a:xfrm>
            <a:off x="854710" y="2689860"/>
            <a:ext cx="1859280" cy="1871345"/>
          </a:xfrm>
          <a:prstGeom prst="rect">
            <a:avLst/>
          </a:prstGeom>
        </p:spPr>
      </p:pic>
      <p:sp>
        <p:nvSpPr>
          <p:cNvPr id="7" name="Text 2"/>
          <p:cNvSpPr/>
          <p:nvPr/>
        </p:nvSpPr>
        <p:spPr>
          <a:xfrm>
            <a:off x="2637790" y="2865755"/>
            <a:ext cx="8900160" cy="951865"/>
          </a:xfrm>
          <a:prstGeom prst="rect">
            <a:avLst/>
          </a:prstGeom>
          <a:noFill/>
        </p:spPr>
        <p:txBody>
          <a:bodyPr wrap="square" lIns="91440" tIns="45720" rIns="91440" bIns="45720" rtlCol="0" anchor="t"/>
          <a:lstStyle/>
          <a:p>
            <a:pPr marL="0" indent="0" algn="l">
              <a:lnSpc>
                <a:spcPct val="100000"/>
              </a:lnSpc>
              <a:buNone/>
            </a:pPr>
            <a:r>
              <a:rPr lang="en-US" sz="5000" b="1" dirty="0">
                <a:solidFill>
                  <a:srgbClr val="4874CB"/>
                </a:solidFill>
                <a:latin typeface="MiSans" panose="00000500000000000000" pitchFamily="34" charset="-122"/>
                <a:ea typeface="MiSans" panose="00000500000000000000" pitchFamily="34" charset="-122"/>
                <a:cs typeface="MiSans" panose="00000500000000000000" pitchFamily="34" charset="-120"/>
              </a:rPr>
              <a:t>项目背景与用户痛点</a:t>
            </a:r>
            <a:endParaRPr lang="en-US" sz="1600" dirty="0"/>
          </a:p>
        </p:txBody>
      </p:sp>
      <p:sp>
        <p:nvSpPr>
          <p:cNvPr id="8" name="Text 3"/>
          <p:cNvSpPr/>
          <p:nvPr/>
        </p:nvSpPr>
        <p:spPr>
          <a:xfrm>
            <a:off x="2647950" y="3747135"/>
            <a:ext cx="8497570" cy="460375"/>
          </a:xfrm>
          <a:prstGeom prst="rect">
            <a:avLst/>
          </a:prstGeom>
          <a:noFill/>
        </p:spPr>
        <p:txBody>
          <a:bodyPr wrap="square" lIns="91440" tIns="45720" rIns="91440" bIns="45720" rtlCol="0" anchor="t">
            <a:spAutoFit/>
          </a:bodyPr>
          <a:lstStyle/>
          <a:p>
            <a:pPr marL="0" indent="0" algn="l">
              <a:lnSpc>
                <a:spcPct val="150000"/>
              </a:lnSpc>
              <a:buNone/>
            </a:pPr>
            <a:r>
              <a:rPr lang="en-US" sz="1600" b="1" dirty="0">
                <a:solidFill>
                  <a:srgbClr val="000000"/>
                </a:solidFill>
                <a:latin typeface="MiSans" panose="00000500000000000000" pitchFamily="34" charset="-122"/>
                <a:ea typeface="MiSans" panose="00000500000000000000" pitchFamily="34" charset="-122"/>
                <a:cs typeface="MiSans" panose="00000500000000000000" pitchFamily="34" charset="-120"/>
              </a:rPr>
              <a:t>Project Background and Pain Point Analysis</a:t>
            </a:r>
            <a:endParaRPr lang="en-US" sz="1600" b="1"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9" name="Shape 4"/>
          <p:cNvSpPr/>
          <p:nvPr/>
        </p:nvSpPr>
        <p:spPr>
          <a:xfrm>
            <a:off x="1187450" y="2612390"/>
            <a:ext cx="1508125" cy="1494155"/>
          </a:xfrm>
          <a:prstGeom prst="rect">
            <a:avLst/>
          </a:prstGeom>
          <a:solidFill>
            <a:srgbClr val="000000">
              <a:alpha val="0"/>
            </a:srgbClr>
          </a:solidFill>
        </p:spPr>
      </p:sp>
      <p:sp>
        <p:nvSpPr>
          <p:cNvPr id="10" name="Text 5"/>
          <p:cNvSpPr/>
          <p:nvPr/>
        </p:nvSpPr>
        <p:spPr>
          <a:xfrm>
            <a:off x="1187450" y="2612390"/>
            <a:ext cx="1508125" cy="1494155"/>
          </a:xfrm>
          <a:prstGeom prst="rect">
            <a:avLst/>
          </a:prstGeom>
          <a:noFill/>
        </p:spPr>
        <p:txBody>
          <a:bodyPr wrap="square" lIns="46863" tIns="90043" rIns="90043" bIns="46863" rtlCol="0" anchor="ctr"/>
          <a:lstStyle/>
          <a:p>
            <a:pPr marL="0" indent="0" algn="l">
              <a:lnSpc>
                <a:spcPct val="130000"/>
              </a:lnSpc>
              <a:buNone/>
            </a:pPr>
            <a:r>
              <a:rPr lang="en-US" sz="4500" dirty="0">
                <a:solidFill>
                  <a:srgbClr val="FFFFFF"/>
                </a:soli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44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23-d1oe63tcmrb5eq9iqc40.png"/>
          <p:cNvPicPr>
            <a:picLocks noChangeAspect="1"/>
          </p:cNvPicPr>
          <p:nvPr/>
        </p:nvPicPr>
        <p:blipFill>
          <a:blip r:embed="rId2"/>
          <a:stretch>
            <a:fillRect/>
          </a:stretch>
        </p:blipFill>
        <p:spPr>
          <a:xfrm>
            <a:off x="669925" y="1912620"/>
            <a:ext cx="2694305" cy="4535170"/>
          </a:xfrm>
          <a:prstGeom prst="rect">
            <a:avLst/>
          </a:prstGeom>
        </p:spPr>
      </p:pic>
      <p:pic>
        <p:nvPicPr>
          <p:cNvPr id="3" name="Image 1" descr="https://test-kimi-img.moonshot.cn/pub/slides/slides_tmpl/image/25-07-11-18:10:23-d1oe63tcmrb5eq9iqc40.png"/>
          <p:cNvPicPr>
            <a:picLocks noChangeAspect="1"/>
          </p:cNvPicPr>
          <p:nvPr/>
        </p:nvPicPr>
        <p:blipFill>
          <a:blip r:embed="rId2"/>
          <a:stretch>
            <a:fillRect/>
          </a:stretch>
        </p:blipFill>
        <p:spPr>
          <a:xfrm>
            <a:off x="3440430" y="1912620"/>
            <a:ext cx="2694305" cy="4535170"/>
          </a:xfrm>
          <a:prstGeom prst="rect">
            <a:avLst/>
          </a:prstGeom>
        </p:spPr>
      </p:pic>
      <p:pic>
        <p:nvPicPr>
          <p:cNvPr id="4" name="Image 2" descr="https://test-kimi-img.moonshot.cn/pub/slides/slides_tmpl/image/25-07-11-18:10:23-d1oe63tcmrb5eq9iqc40.png"/>
          <p:cNvPicPr>
            <a:picLocks noChangeAspect="1"/>
          </p:cNvPicPr>
          <p:nvPr/>
        </p:nvPicPr>
        <p:blipFill>
          <a:blip r:embed="rId2"/>
          <a:stretch>
            <a:fillRect/>
          </a:stretch>
        </p:blipFill>
        <p:spPr>
          <a:xfrm>
            <a:off x="6229350" y="1912620"/>
            <a:ext cx="2694305" cy="4535170"/>
          </a:xfrm>
          <a:prstGeom prst="rect">
            <a:avLst/>
          </a:prstGeom>
        </p:spPr>
      </p:pic>
      <p:pic>
        <p:nvPicPr>
          <p:cNvPr id="5" name="Image 3" descr="https://test-kimi-img.moonshot.cn/pub/slides/slides_tmpl/image/25-07-11-18:10:23-d1oe63tcmrb5eq9iqc40.png"/>
          <p:cNvPicPr>
            <a:picLocks noChangeAspect="1"/>
          </p:cNvPicPr>
          <p:nvPr/>
        </p:nvPicPr>
        <p:blipFill>
          <a:blip r:embed="rId2"/>
          <a:stretch>
            <a:fillRect/>
          </a:stretch>
        </p:blipFill>
        <p:spPr>
          <a:xfrm>
            <a:off x="9008745" y="1912620"/>
            <a:ext cx="2694305" cy="4535170"/>
          </a:xfrm>
          <a:prstGeom prst="rect">
            <a:avLst/>
          </a:prstGeom>
        </p:spPr>
      </p:pic>
      <p:sp>
        <p:nvSpPr>
          <p:cNvPr id="6" name="Text 0"/>
          <p:cNvSpPr/>
          <p:nvPr/>
        </p:nvSpPr>
        <p:spPr>
          <a:xfrm>
            <a:off x="78994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求职者的“面试困境”</a:t>
            </a:r>
            <a:endParaRPr lang="en-US" sz="1600" dirty="0"/>
          </a:p>
        </p:txBody>
      </p:sp>
      <p:pic>
        <p:nvPicPr>
          <p:cNvPr id="7" name="Image 4" descr="https://test-kimi-img.moonshot.cn/pub/slides/slides_tmpl/image/25-07-11-18:10:09-d1oe60dcmrb5eq9iqafg.png"/>
          <p:cNvPicPr>
            <a:picLocks noChangeAspect="1"/>
          </p:cNvPicPr>
          <p:nvPr/>
        </p:nvPicPr>
        <p:blipFill>
          <a:blip r:embed="rId3">
            <a:alphaModFix amt="74000"/>
          </a:blip>
          <a:srcRect l="128" t="33047" r="-128" b="-4046"/>
          <a:stretch>
            <a:fillRect/>
          </a:stretch>
        </p:blipFill>
        <p:spPr>
          <a:xfrm>
            <a:off x="5582285" y="20320"/>
            <a:ext cx="6927215" cy="1905635"/>
          </a:xfrm>
          <a:prstGeom prst="rect">
            <a:avLst/>
          </a:prstGeom>
        </p:spPr>
      </p:pic>
      <p:sp>
        <p:nvSpPr>
          <p:cNvPr id="8" name="Text 1"/>
          <p:cNvSpPr/>
          <p:nvPr/>
        </p:nvSpPr>
        <p:spPr>
          <a:xfrm>
            <a:off x="1114425" y="2363470"/>
            <a:ext cx="1841500" cy="440055"/>
          </a:xfrm>
          <a:prstGeom prst="rect">
            <a:avLst/>
          </a:prstGeom>
          <a:noFill/>
        </p:spPr>
        <p:txBody>
          <a:bodyPr wrap="square" lIns="0" tIns="0" rIns="0" bIns="0" rtlCol="0" anchor="ctr"/>
          <a:lstStyle/>
          <a:p>
            <a:pPr marL="0" indent="0" algn="ctr">
              <a:lnSpc>
                <a:spcPct val="100000"/>
              </a:lnSpc>
              <a:buNone/>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缺乏真实练习场景</a:t>
            </a:r>
            <a:endParaRPr lang="en-US" sz="1600" dirty="0"/>
          </a:p>
        </p:txBody>
      </p:sp>
      <p:sp>
        <p:nvSpPr>
          <p:cNvPr id="9" name="Text 2"/>
          <p:cNvSpPr/>
          <p:nvPr/>
        </p:nvSpPr>
        <p:spPr>
          <a:xfrm>
            <a:off x="3852545" y="2355850"/>
            <a:ext cx="1841500" cy="440055"/>
          </a:xfrm>
          <a:prstGeom prst="rect">
            <a:avLst/>
          </a:prstGeom>
          <a:noFill/>
        </p:spPr>
        <p:txBody>
          <a:bodyPr wrap="square" lIns="0" tIns="0" rIns="0" bIns="0" rtlCol="0" anchor="ctr"/>
          <a:lstStyle/>
          <a:p>
            <a:pPr marL="0" indent="0" algn="ctr">
              <a:lnSpc>
                <a:spcPct val="100000"/>
              </a:lnSpc>
              <a:buNone/>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缺少有效专业反馈</a:t>
            </a:r>
            <a:endParaRPr lang="en-US" sz="1600" dirty="0"/>
          </a:p>
        </p:txBody>
      </p:sp>
      <p:sp>
        <p:nvSpPr>
          <p:cNvPr id="10" name="Text 3"/>
          <p:cNvSpPr/>
          <p:nvPr/>
        </p:nvSpPr>
        <p:spPr>
          <a:xfrm>
            <a:off x="6650990" y="2355850"/>
            <a:ext cx="1841500" cy="440055"/>
          </a:xfrm>
          <a:prstGeom prst="rect">
            <a:avLst/>
          </a:prstGeom>
          <a:noFill/>
        </p:spPr>
        <p:txBody>
          <a:bodyPr wrap="square" lIns="0" tIns="0" rIns="0" bIns="0" rtlCol="0" anchor="ctr"/>
          <a:lstStyle/>
          <a:p>
            <a:pPr marL="0" indent="0" algn="ctr">
              <a:lnSpc>
                <a:spcPct val="100000"/>
              </a:lnSpc>
              <a:buNone/>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面试准备盲目低效</a:t>
            </a:r>
            <a:endParaRPr lang="en-US" sz="1600" dirty="0"/>
          </a:p>
        </p:txBody>
      </p:sp>
      <p:sp>
        <p:nvSpPr>
          <p:cNvPr id="11" name="Text 4"/>
          <p:cNvSpPr/>
          <p:nvPr/>
        </p:nvSpPr>
        <p:spPr>
          <a:xfrm>
            <a:off x="9397365" y="2361565"/>
            <a:ext cx="1841500" cy="440055"/>
          </a:xfrm>
          <a:prstGeom prst="rect">
            <a:avLst/>
          </a:prstGeom>
          <a:noFill/>
        </p:spPr>
        <p:txBody>
          <a:bodyPr wrap="square" lIns="0" tIns="0" rIns="0" bIns="0" rtlCol="0" anchor="ctr"/>
          <a:lstStyle/>
          <a:p>
            <a:pPr marL="0" indent="0" algn="ctr">
              <a:lnSpc>
                <a:spcPct val="100000"/>
              </a:lnSpc>
              <a:buNone/>
            </a:pPr>
            <a:r>
              <a:rPr lang="en-US" sz="1600" b="1" dirty="0">
                <a:solidFill>
                  <a:srgbClr val="3869A6"/>
                </a:solidFill>
                <a:latin typeface="MiSans" panose="00000500000000000000" pitchFamily="34" charset="-122"/>
                <a:ea typeface="MiSans" panose="00000500000000000000" pitchFamily="34" charset="-122"/>
                <a:cs typeface="MiSans" panose="00000500000000000000" pitchFamily="34" charset="-120"/>
              </a:rPr>
              <a:t>高昂的咨询成本</a:t>
            </a:r>
            <a:endParaRPr lang="en-US" sz="1600" dirty="0"/>
          </a:p>
        </p:txBody>
      </p:sp>
      <p:sp>
        <p:nvSpPr>
          <p:cNvPr id="12" name="Text 5"/>
          <p:cNvSpPr/>
          <p:nvPr/>
        </p:nvSpPr>
        <p:spPr>
          <a:xfrm>
            <a:off x="867410" y="3294380"/>
            <a:ext cx="2280285" cy="2984500"/>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传统模拟方式（如对镜子、找亲友）缺乏真实压力和互动性，导致求职者在真实面试中因不适应节奏和氛围而表现失常。</a:t>
            </a:r>
            <a:endParaRPr lang="en-US" sz="1600" dirty="0"/>
          </a:p>
        </p:txBody>
      </p:sp>
      <p:sp>
        <p:nvSpPr>
          <p:cNvPr id="13" name="Text 6"/>
          <p:cNvSpPr/>
          <p:nvPr/>
        </p:nvSpPr>
        <p:spPr>
          <a:xfrm>
            <a:off x="3649345" y="3277235"/>
            <a:ext cx="2280285" cy="2984500"/>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面试失败后，企业反馈通常是“不匹配”或“无反馈”。亲友模拟的建议又往往主观、笼统，缺乏可量化、可指导的专业意见。</a:t>
            </a:r>
            <a:endParaRPr lang="en-US" sz="1600" dirty="0"/>
          </a:p>
        </p:txBody>
      </p:sp>
      <p:sp>
        <p:nvSpPr>
          <p:cNvPr id="14" name="Text 7"/>
          <p:cNvSpPr/>
          <p:nvPr/>
        </p:nvSpPr>
        <p:spPr>
          <a:xfrm>
            <a:off x="6426835" y="3294380"/>
            <a:ext cx="2280285" cy="2984500"/>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网上资料浩如烟海、质量参差不齐，用户难以形成系统性的提升方案，常常陷入“什么都看了，但什么都没掌握”的困境。</a:t>
            </a:r>
            <a:endParaRPr lang="en-US" sz="1600" dirty="0"/>
          </a:p>
        </p:txBody>
      </p:sp>
      <p:sp>
        <p:nvSpPr>
          <p:cNvPr id="15" name="Text 8"/>
          <p:cNvSpPr/>
          <p:nvPr/>
        </p:nvSpPr>
        <p:spPr>
          <a:xfrm>
            <a:off x="9213215" y="3277235"/>
            <a:ext cx="2280285" cy="2984500"/>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一对一的专业求职辅导服务，其高昂的费用对在校学生和初入职场的年轻人构成了显著的经济壁垒。</a:t>
            </a:r>
            <a:endParaRPr lang="en-US" sz="1600" dirty="0"/>
          </a:p>
        </p:txBody>
      </p:sp>
      <p:pic>
        <p:nvPicPr>
          <p:cNvPr id="16" name="Image 5" descr="https://test-kimi-img.moonshot.cn/pub/slides/slides_tmpl/image/25-07-11-18:10:23-d1oe63tcmrb5eq9iqc1g.png"/>
          <p:cNvPicPr>
            <a:picLocks noChangeAspect="1"/>
          </p:cNvPicPr>
          <p:nvPr/>
        </p:nvPicPr>
        <p:blipFill>
          <a:blip r:embed="rId4"/>
          <a:stretch>
            <a:fillRect/>
          </a:stretch>
        </p:blipFill>
        <p:spPr>
          <a:xfrm>
            <a:off x="-1316355" y="5895975"/>
            <a:ext cx="7967345" cy="463550"/>
          </a:xfrm>
          <a:prstGeom prst="rect">
            <a:avLst/>
          </a:prstGeom>
        </p:spPr>
      </p:pic>
      <p:pic>
        <p:nvPicPr>
          <p:cNvPr id="17" name="Image 6" descr="https://test-kimi-img.moonshot.cn/pub/slides/slides_tmpl/image/25-07-11-18:10:23-d1oe63tcmrb5eq9iqc1g.png"/>
          <p:cNvPicPr>
            <a:picLocks noChangeAspect="1"/>
          </p:cNvPicPr>
          <p:nvPr/>
        </p:nvPicPr>
        <p:blipFill>
          <a:blip r:embed="rId4"/>
          <a:stretch>
            <a:fillRect/>
          </a:stretch>
        </p:blipFill>
        <p:spPr>
          <a:xfrm>
            <a:off x="3848735" y="6346190"/>
            <a:ext cx="7967345" cy="463550"/>
          </a:xfrm>
          <a:prstGeom prst="rect">
            <a:avLst/>
          </a:prstGeom>
        </p:spPr>
      </p:pic>
      <p:pic>
        <p:nvPicPr>
          <p:cNvPr id="18" name="Image 7" descr="https://test-kimi-img.moonshot.cn/pub/slides/slides_tmpl/image/25-07-11-18:10:23-d1oe63tcmrb5eq9iqc3g.png"/>
          <p:cNvPicPr>
            <a:picLocks noChangeAspect="1"/>
          </p:cNvPicPr>
          <p:nvPr/>
        </p:nvPicPr>
        <p:blipFill>
          <a:blip r:embed="rId5"/>
          <a:stretch>
            <a:fillRect/>
          </a:stretch>
        </p:blipFill>
        <p:spPr>
          <a:xfrm>
            <a:off x="513715" y="2896870"/>
            <a:ext cx="11106785" cy="286385"/>
          </a:xfrm>
          <a:prstGeom prst="rect">
            <a:avLst/>
          </a:prstGeom>
        </p:spPr>
      </p:pic>
      <p:pic>
        <p:nvPicPr>
          <p:cNvPr id="19" name="Image 8" descr="https://test-kimi-img.moonshot.cn/pub/slides/slides_tmpl/image/25-07-11-18:10:23-d1oe63tcmrb5eq9iqc4g.png"/>
          <p:cNvPicPr>
            <a:picLocks noChangeAspect="1"/>
          </p:cNvPicPr>
          <p:nvPr/>
        </p:nvPicPr>
        <p:blipFill>
          <a:blip r:embed="rId6"/>
          <a:stretch>
            <a:fillRect/>
          </a:stretch>
        </p:blipFill>
        <p:spPr>
          <a:xfrm>
            <a:off x="1595755" y="1459230"/>
            <a:ext cx="822960" cy="810895"/>
          </a:xfrm>
          <a:prstGeom prst="rect">
            <a:avLst/>
          </a:prstGeom>
        </p:spPr>
      </p:pic>
      <p:pic>
        <p:nvPicPr>
          <p:cNvPr id="20" name="Image 9" descr="https://test-kimi-img.moonshot.cn/pub/slides/slides_tmpl/image/25-07-11-18:10:23-d1oe63tcmrb5eq9iqc50.png"/>
          <p:cNvPicPr>
            <a:picLocks noChangeAspect="1"/>
          </p:cNvPicPr>
          <p:nvPr/>
        </p:nvPicPr>
        <p:blipFill>
          <a:blip r:embed="rId7"/>
          <a:stretch>
            <a:fillRect/>
          </a:stretch>
        </p:blipFill>
        <p:spPr>
          <a:xfrm>
            <a:off x="4467225" y="1459230"/>
            <a:ext cx="822960" cy="810895"/>
          </a:xfrm>
          <a:prstGeom prst="rect">
            <a:avLst/>
          </a:prstGeom>
        </p:spPr>
      </p:pic>
      <p:pic>
        <p:nvPicPr>
          <p:cNvPr id="21" name="Image 10" descr="https://test-kimi-img.moonshot.cn/pub/slides/slides_tmpl/image/25-07-11-18:10:23-d1oe63tcmrb5eq9iqc5g.png"/>
          <p:cNvPicPr>
            <a:picLocks noChangeAspect="1"/>
          </p:cNvPicPr>
          <p:nvPr/>
        </p:nvPicPr>
        <p:blipFill>
          <a:blip r:embed="rId8"/>
          <a:stretch>
            <a:fillRect/>
          </a:stretch>
        </p:blipFill>
        <p:spPr>
          <a:xfrm>
            <a:off x="7248525" y="1459230"/>
            <a:ext cx="822960" cy="810895"/>
          </a:xfrm>
          <a:prstGeom prst="rect">
            <a:avLst/>
          </a:prstGeom>
        </p:spPr>
      </p:pic>
      <p:pic>
        <p:nvPicPr>
          <p:cNvPr id="22" name="Image 11" descr="https://test-kimi-img.moonshot.cn/pub/slides/slides_tmpl/image/25-07-11-18:10:23-d1oe63tcmrb5eq9iqc60.png"/>
          <p:cNvPicPr>
            <a:picLocks noChangeAspect="1"/>
          </p:cNvPicPr>
          <p:nvPr/>
        </p:nvPicPr>
        <p:blipFill>
          <a:blip r:embed="rId9"/>
          <a:stretch>
            <a:fillRect/>
          </a:stretch>
        </p:blipFill>
        <p:spPr>
          <a:xfrm>
            <a:off x="10029825" y="1455420"/>
            <a:ext cx="822960" cy="810895"/>
          </a:xfrm>
          <a:prstGeom prst="rect">
            <a:avLst/>
          </a:prstGeom>
        </p:spPr>
      </p:pic>
      <p:pic>
        <p:nvPicPr>
          <p:cNvPr id="23" name="Image 12" descr="https://test-kimi-img.moonshot.cn/pub/slides/slides_tmpl/image/25-07-11-18:10:12-d1oe615cmrb5eq9iqarg.png"/>
          <p:cNvPicPr>
            <a:picLocks noChangeAspect="1"/>
          </p:cNvPicPr>
          <p:nvPr/>
        </p:nvPicPr>
        <p:blipFill>
          <a:blip r:embed="rId10"/>
          <a:stretch>
            <a:fillRect/>
          </a:stretch>
        </p:blipFill>
        <p:spPr>
          <a:xfrm>
            <a:off x="354965" y="208280"/>
            <a:ext cx="1073150" cy="554990"/>
          </a:xfrm>
          <a:prstGeom prst="rect">
            <a:avLst/>
          </a:prstGeom>
        </p:spPr>
      </p:pic>
      <p:pic>
        <p:nvPicPr>
          <p:cNvPr id="24" name="Image 13" descr="https://test-kimi-img.moonshot.cn/pub/slides/slides_tmpl/image/25-07-11-18:10:08-d1oe605cmrb5eq9iqac0.png"/>
          <p:cNvPicPr>
            <a:picLocks noChangeAspect="1"/>
          </p:cNvPicPr>
          <p:nvPr/>
        </p:nvPicPr>
        <p:blipFill>
          <a:blip r:embed="rId11"/>
          <a:stretch>
            <a:fillRect/>
          </a:stretch>
        </p:blipFill>
        <p:spPr>
          <a:xfrm>
            <a:off x="11022965" y="394335"/>
            <a:ext cx="628015" cy="182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90" y="-15875"/>
            <a:ext cx="10438130" cy="6880225"/>
          </a:xfrm>
          <a:prstGeom prst="rect">
            <a:avLst/>
          </a:prstGeom>
          <a:gradFill flip="none" rotWithShape="1">
            <a:gsLst>
              <a:gs pos="0">
                <a:srgbClr val="FFFFFF"/>
              </a:gs>
              <a:gs pos="100000">
                <a:srgbClr val="FFFFFF">
                  <a:alpha val="0"/>
                </a:srgbClr>
              </a:gs>
            </a:gsLst>
            <a:lin ang="0" scaled="1"/>
          </a:gradFill>
        </p:spPr>
      </p:sp>
      <p:sp>
        <p:nvSpPr>
          <p:cNvPr id="3" name="Text 1"/>
          <p:cNvSpPr/>
          <p:nvPr/>
        </p:nvSpPr>
        <p:spPr>
          <a:xfrm>
            <a:off x="8890" y="-15875"/>
            <a:ext cx="10438130" cy="688022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test-kimi-img.moonshot.cn/pub/slides/slides_tmpl/image/25-07-11-18:10:09-d1oe60dcmrb5eq9iqag0.png"/>
          <p:cNvPicPr>
            <a:picLocks noChangeAspect="1"/>
          </p:cNvPicPr>
          <p:nvPr/>
        </p:nvPicPr>
        <p:blipFill>
          <a:blip r:embed="rId2"/>
          <a:stretch>
            <a:fillRect/>
          </a:stretch>
        </p:blipFill>
        <p:spPr>
          <a:xfrm>
            <a:off x="612140" y="2388552"/>
            <a:ext cx="1600200" cy="1651000"/>
          </a:xfrm>
          <a:prstGeom prst="rect">
            <a:avLst/>
          </a:prstGeom>
        </p:spPr>
      </p:pic>
      <p:pic>
        <p:nvPicPr>
          <p:cNvPr id="5" name="Image 1" descr="https://test-kimi-img.moonshot.cn/pub/slides/slides_tmpl/image/25-07-11-18:10:09-d1oe60dcmrb5eq9iqagg.png"/>
          <p:cNvPicPr>
            <a:picLocks noChangeAspect="1"/>
          </p:cNvPicPr>
          <p:nvPr/>
        </p:nvPicPr>
        <p:blipFill>
          <a:blip r:embed="rId3"/>
          <a:srcRect l="56" t="92" b="92"/>
          <a:stretch>
            <a:fillRect/>
          </a:stretch>
        </p:blipFill>
        <p:spPr>
          <a:xfrm>
            <a:off x="8890" y="0"/>
            <a:ext cx="6771640" cy="6858000"/>
          </a:xfrm>
          <a:prstGeom prst="rect">
            <a:avLst/>
          </a:prstGeom>
        </p:spPr>
      </p:pic>
      <p:pic>
        <p:nvPicPr>
          <p:cNvPr id="6" name="Image 2" descr="https://test-kimi-img.moonshot.cn/pub/slides/slides_tmpl/image/25-07-11-18:10:09-d1oe60dcmrb5eq9iqah0.png"/>
          <p:cNvPicPr>
            <a:picLocks noChangeAspect="1"/>
          </p:cNvPicPr>
          <p:nvPr/>
        </p:nvPicPr>
        <p:blipFill>
          <a:blip r:embed="rId4"/>
          <a:stretch>
            <a:fillRect/>
          </a:stretch>
        </p:blipFill>
        <p:spPr>
          <a:xfrm>
            <a:off x="854710" y="2689860"/>
            <a:ext cx="1859280" cy="1871345"/>
          </a:xfrm>
          <a:prstGeom prst="rect">
            <a:avLst/>
          </a:prstGeom>
        </p:spPr>
      </p:pic>
      <p:sp>
        <p:nvSpPr>
          <p:cNvPr id="7" name="Text 2"/>
          <p:cNvSpPr/>
          <p:nvPr/>
        </p:nvSpPr>
        <p:spPr>
          <a:xfrm>
            <a:off x="2637790" y="2865755"/>
            <a:ext cx="8900160" cy="951865"/>
          </a:xfrm>
          <a:prstGeom prst="rect">
            <a:avLst/>
          </a:prstGeom>
          <a:noFill/>
        </p:spPr>
        <p:txBody>
          <a:bodyPr wrap="square" lIns="91440" tIns="45720" rIns="91440" bIns="45720" rtlCol="0" anchor="t"/>
          <a:lstStyle/>
          <a:p>
            <a:pPr marL="0" indent="0" algn="l">
              <a:lnSpc>
                <a:spcPct val="100000"/>
              </a:lnSpc>
              <a:buNone/>
            </a:pPr>
            <a:r>
              <a:rPr lang="en-US" sz="5000" b="1" dirty="0">
                <a:solidFill>
                  <a:srgbClr val="4874CB"/>
                </a:solidFill>
                <a:latin typeface="MiSans" panose="00000500000000000000" pitchFamily="34" charset="-122"/>
                <a:ea typeface="MiSans" panose="00000500000000000000" pitchFamily="34" charset="-122"/>
                <a:cs typeface="MiSans" panose="00000500000000000000" pitchFamily="34" charset="-120"/>
              </a:rPr>
              <a:t>系统概述与解决方案</a:t>
            </a:r>
            <a:endParaRPr lang="en-US" sz="1600" dirty="0"/>
          </a:p>
        </p:txBody>
      </p:sp>
      <p:sp>
        <p:nvSpPr>
          <p:cNvPr id="8" name="Text 3"/>
          <p:cNvSpPr/>
          <p:nvPr/>
        </p:nvSpPr>
        <p:spPr>
          <a:xfrm>
            <a:off x="2647950" y="3747135"/>
            <a:ext cx="8497570" cy="460375"/>
          </a:xfrm>
          <a:prstGeom prst="rect">
            <a:avLst/>
          </a:prstGeom>
          <a:noFill/>
        </p:spPr>
        <p:txBody>
          <a:bodyPr wrap="square" lIns="91440" tIns="45720" rIns="91440" bIns="45720" rtlCol="0" anchor="t">
            <a:spAutoFit/>
          </a:bodyPr>
          <a:lstStyle/>
          <a:p>
            <a:pPr marL="0" indent="0" algn="l">
              <a:lnSpc>
                <a:spcPct val="150000"/>
              </a:lnSpc>
              <a:buNone/>
            </a:pPr>
            <a:r>
              <a:rPr lang="en-US" sz="1600" b="1" dirty="0">
                <a:solidFill>
                  <a:srgbClr val="000000"/>
                </a:solidFill>
                <a:latin typeface="MiSans" panose="00000500000000000000" pitchFamily="34" charset="-122"/>
                <a:ea typeface="MiSans" panose="00000500000000000000" pitchFamily="34" charset="-122"/>
                <a:cs typeface="MiSans" panose="00000500000000000000" pitchFamily="34" charset="-120"/>
              </a:rPr>
              <a:t>System Overview and Solution</a:t>
            </a:r>
            <a:endParaRPr lang="en-US" sz="1600" b="1"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9" name="Shape 4"/>
          <p:cNvSpPr/>
          <p:nvPr/>
        </p:nvSpPr>
        <p:spPr>
          <a:xfrm>
            <a:off x="1187450" y="2612390"/>
            <a:ext cx="1508125" cy="1494155"/>
          </a:xfrm>
          <a:prstGeom prst="rect">
            <a:avLst/>
          </a:prstGeom>
          <a:solidFill>
            <a:srgbClr val="000000">
              <a:alpha val="0"/>
            </a:srgbClr>
          </a:solidFill>
        </p:spPr>
      </p:sp>
      <p:sp>
        <p:nvSpPr>
          <p:cNvPr id="10" name="Text 5"/>
          <p:cNvSpPr/>
          <p:nvPr/>
        </p:nvSpPr>
        <p:spPr>
          <a:xfrm>
            <a:off x="1187450" y="2612390"/>
            <a:ext cx="1508125" cy="1494155"/>
          </a:xfrm>
          <a:prstGeom prst="rect">
            <a:avLst/>
          </a:prstGeom>
          <a:noFill/>
        </p:spPr>
        <p:txBody>
          <a:bodyPr wrap="square" lIns="46863" tIns="90043" rIns="90043" bIns="46863" rtlCol="0" anchor="ctr"/>
          <a:lstStyle/>
          <a:p>
            <a:pPr marL="0" indent="0" algn="l">
              <a:lnSpc>
                <a:spcPct val="130000"/>
              </a:lnSpc>
              <a:buNone/>
            </a:pPr>
            <a:r>
              <a:rPr lang="en-US" sz="4500" dirty="0">
                <a:solidFill>
                  <a:srgbClr val="FFFFFF"/>
                </a:solidFill>
                <a:latin typeface="MiSans" panose="00000500000000000000" pitchFamily="34" charset="-122"/>
                <a:ea typeface="MiSans" panose="00000500000000000000" pitchFamily="34" charset="-122"/>
                <a:cs typeface="MiSans" panose="00000500000000000000"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44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09-d1oe60dcmrb5eq9iqagg.png"/>
          <p:cNvPicPr>
            <a:picLocks noChangeAspect="1"/>
          </p:cNvPicPr>
          <p:nvPr/>
        </p:nvPicPr>
        <p:blipFill>
          <a:blip r:embed="rId2"/>
          <a:srcRect l="56" t="92" b="92"/>
          <a:stretch>
            <a:fillRect/>
          </a:stretch>
        </p:blipFill>
        <p:spPr>
          <a:xfrm flipH="1">
            <a:off x="1069975" y="0"/>
            <a:ext cx="6436360" cy="6858000"/>
          </a:xfrm>
          <a:prstGeom prst="rect">
            <a:avLst/>
          </a:prstGeom>
        </p:spPr>
      </p:pic>
      <p:pic>
        <p:nvPicPr>
          <p:cNvPr id="3" name="Image 1" descr="https://test-kimi-img.moonshot.cn/pub/slides/slides_tmpl/image/25-07-11-18:10:14-d1oe61lcmrb5eq9iqb2g.png"/>
          <p:cNvPicPr>
            <a:picLocks noChangeAspect="1"/>
          </p:cNvPicPr>
          <p:nvPr/>
        </p:nvPicPr>
        <p:blipFill>
          <a:blip r:embed="rId3">
            <a:alphaModFix amt="83000"/>
          </a:blip>
          <a:srcRect l="115" t="145" r="53121" b="161"/>
          <a:stretch>
            <a:fillRect/>
          </a:stretch>
        </p:blipFill>
        <p:spPr>
          <a:xfrm>
            <a:off x="10478135" y="1482090"/>
            <a:ext cx="1723390" cy="3728085"/>
          </a:xfrm>
          <a:prstGeom prst="rect">
            <a:avLst/>
          </a:prstGeom>
        </p:spPr>
      </p:pic>
      <p:sp>
        <p:nvSpPr>
          <p:cNvPr id="4" name="Text 0"/>
          <p:cNvSpPr/>
          <p:nvPr/>
        </p:nvSpPr>
        <p:spPr>
          <a:xfrm>
            <a:off x="2127250" y="1450975"/>
            <a:ext cx="8688705" cy="1692275"/>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通过结合用户简历的个性化追问和动态压力生成机制，我们创造了无限接近真实的面试情境。</a:t>
            </a:r>
            <a:endParaRPr lang="en-US" sz="1600" dirty="0"/>
          </a:p>
        </p:txBody>
      </p:sp>
      <p:sp>
        <p:nvSpPr>
          <p:cNvPr id="5" name="Text 1"/>
          <p:cNvSpPr/>
          <p:nvPr/>
        </p:nvSpPr>
        <p:spPr>
          <a:xfrm>
            <a:off x="2127250" y="942340"/>
            <a:ext cx="3710305" cy="572135"/>
          </a:xfrm>
          <a:prstGeom prst="rect">
            <a:avLst/>
          </a:prstGeom>
          <a:noFill/>
        </p:spPr>
        <p:txBody>
          <a:bodyPr wrap="square" lIns="0" tIns="0" rIns="0" bIns="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高仿真模拟</a:t>
            </a:r>
            <a:endParaRPr lang="en-US" sz="1600" dirty="0"/>
          </a:p>
        </p:txBody>
      </p:sp>
      <p:sp>
        <p:nvSpPr>
          <p:cNvPr id="6" name="Text 2"/>
          <p:cNvSpPr/>
          <p:nvPr/>
        </p:nvSpPr>
        <p:spPr>
          <a:xfrm>
            <a:off x="1655445" y="2780030"/>
            <a:ext cx="8640445" cy="1692275"/>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系统从内容逻辑、言语表达、视觉仪态三大维度，进行超过10项基础指标的量化评估，将模糊的感觉转化为清晰的数据。</a:t>
            </a:r>
            <a:endParaRPr lang="en-US" sz="1600" dirty="0"/>
          </a:p>
        </p:txBody>
      </p:sp>
      <p:sp>
        <p:nvSpPr>
          <p:cNvPr id="7" name="Text 3"/>
          <p:cNvSpPr/>
          <p:nvPr/>
        </p:nvSpPr>
        <p:spPr>
          <a:xfrm>
            <a:off x="1655445" y="2271395"/>
            <a:ext cx="3655695" cy="572135"/>
          </a:xfrm>
          <a:prstGeom prst="rect">
            <a:avLst/>
          </a:prstGeom>
          <a:noFill/>
        </p:spPr>
        <p:txBody>
          <a:bodyPr wrap="square" lIns="0" tIns="0" rIns="0" bIns="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多模态分析</a:t>
            </a:r>
            <a:endParaRPr lang="en-US" sz="1600" dirty="0"/>
          </a:p>
        </p:txBody>
      </p:sp>
      <p:sp>
        <p:nvSpPr>
          <p:cNvPr id="8" name="Text 4"/>
          <p:cNvSpPr/>
          <p:nvPr/>
        </p:nvSpPr>
        <p:spPr>
          <a:xfrm>
            <a:off x="1717675" y="4197985"/>
            <a:ext cx="8652510" cy="1692275"/>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我们构建了“模拟练习 → 智能测评 → 个性化学习”的自动化成长闭环，以极低的成本提供可持续的专业指导。</a:t>
            </a:r>
            <a:endParaRPr lang="en-US" sz="1600" dirty="0"/>
          </a:p>
        </p:txBody>
      </p:sp>
      <p:sp>
        <p:nvSpPr>
          <p:cNvPr id="9" name="Text 5"/>
          <p:cNvSpPr/>
          <p:nvPr/>
        </p:nvSpPr>
        <p:spPr>
          <a:xfrm>
            <a:off x="1717675" y="3689350"/>
            <a:ext cx="3593465" cy="572135"/>
          </a:xfrm>
          <a:prstGeom prst="rect">
            <a:avLst/>
          </a:prstGeom>
          <a:noFill/>
        </p:spPr>
        <p:txBody>
          <a:bodyPr wrap="square" lIns="0" tIns="0" rIns="0" bIns="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即时智能反馈</a:t>
            </a:r>
            <a:endParaRPr lang="en-US" sz="1600" dirty="0"/>
          </a:p>
        </p:txBody>
      </p:sp>
      <p:sp>
        <p:nvSpPr>
          <p:cNvPr id="10" name="Text 6"/>
          <p:cNvSpPr/>
          <p:nvPr/>
        </p:nvSpPr>
        <p:spPr>
          <a:xfrm>
            <a:off x="2162175" y="5579745"/>
            <a:ext cx="8606790" cy="1692275"/>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面试结束后，系统立即生成数据驱动的诊断报告，精准定位用户短板，并提供针对性的改进建议。</a:t>
            </a:r>
            <a:endParaRPr lang="en-US" sz="1600" dirty="0"/>
          </a:p>
        </p:txBody>
      </p:sp>
      <p:sp>
        <p:nvSpPr>
          <p:cNvPr id="11" name="Text 7"/>
          <p:cNvSpPr/>
          <p:nvPr/>
        </p:nvSpPr>
        <p:spPr>
          <a:xfrm>
            <a:off x="2162175" y="5071110"/>
            <a:ext cx="3619500" cy="572135"/>
          </a:xfrm>
          <a:prstGeom prst="rect">
            <a:avLst/>
          </a:prstGeom>
          <a:noFill/>
        </p:spPr>
        <p:txBody>
          <a:bodyPr wrap="square" lIns="0" tIns="0" rIns="0" bIns="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闭环式提升</a:t>
            </a:r>
            <a:endParaRPr lang="en-US" sz="1600" dirty="0"/>
          </a:p>
        </p:txBody>
      </p:sp>
      <p:pic>
        <p:nvPicPr>
          <p:cNvPr id="12" name="Image 2" descr="https://test-kimi-img.moonshot.cn/pub/slides/slides_tmpl/image/25-07-11-18:10:21-d1oe63dcmrb5eq9iqbsg.png"/>
          <p:cNvPicPr>
            <a:picLocks noChangeAspect="1"/>
          </p:cNvPicPr>
          <p:nvPr/>
        </p:nvPicPr>
        <p:blipFill>
          <a:blip r:embed="rId4"/>
          <a:srcRect l="48779" t="363" b="-7459"/>
          <a:stretch>
            <a:fillRect/>
          </a:stretch>
        </p:blipFill>
        <p:spPr>
          <a:xfrm>
            <a:off x="-27940" y="0"/>
            <a:ext cx="657860" cy="735965"/>
          </a:xfrm>
          <a:prstGeom prst="rect">
            <a:avLst/>
          </a:prstGeom>
        </p:spPr>
      </p:pic>
      <p:pic>
        <p:nvPicPr>
          <p:cNvPr id="13" name="Image 3" descr="https://test-kimi-img.moonshot.cn/pub/slides/slides_tmpl/image/25-07-11-18:10:08-d1oe605cmrb5eq9iqac0.png"/>
          <p:cNvPicPr>
            <a:picLocks noChangeAspect="1"/>
          </p:cNvPicPr>
          <p:nvPr/>
        </p:nvPicPr>
        <p:blipFill>
          <a:blip r:embed="rId5"/>
          <a:stretch>
            <a:fillRect/>
          </a:stretch>
        </p:blipFill>
        <p:spPr>
          <a:xfrm>
            <a:off x="11022965" y="394335"/>
            <a:ext cx="628015" cy="182880"/>
          </a:xfrm>
          <a:prstGeom prst="rect">
            <a:avLst/>
          </a:prstGeom>
        </p:spPr>
      </p:pic>
      <p:pic>
        <p:nvPicPr>
          <p:cNvPr id="14" name="Image 4" descr="https://test-kimi-img.moonshot.cn/pub/slides/slides_tmpl/image/25-07-11-18:10:21-d1oe63dcmrb5eq9iqbt0.png"/>
          <p:cNvPicPr>
            <a:picLocks noChangeAspect="1"/>
          </p:cNvPicPr>
          <p:nvPr/>
        </p:nvPicPr>
        <p:blipFill>
          <a:blip r:embed="rId6"/>
          <a:stretch>
            <a:fillRect/>
          </a:stretch>
        </p:blipFill>
        <p:spPr>
          <a:xfrm>
            <a:off x="1392555" y="5401945"/>
            <a:ext cx="890270" cy="890270"/>
          </a:xfrm>
          <a:prstGeom prst="rect">
            <a:avLst/>
          </a:prstGeom>
        </p:spPr>
      </p:pic>
      <p:pic>
        <p:nvPicPr>
          <p:cNvPr id="15" name="Image 5" descr="https://test-kimi-img.moonshot.cn/pub/slides/slides_tmpl/image/25-07-11-18:10:21-d1oe63dcmrb5eq9iqbtg.png"/>
          <p:cNvPicPr>
            <a:picLocks noChangeAspect="1"/>
          </p:cNvPicPr>
          <p:nvPr/>
        </p:nvPicPr>
        <p:blipFill>
          <a:blip r:embed="rId7"/>
          <a:stretch>
            <a:fillRect/>
          </a:stretch>
        </p:blipFill>
        <p:spPr>
          <a:xfrm>
            <a:off x="1236980" y="1290955"/>
            <a:ext cx="890270" cy="890270"/>
          </a:xfrm>
          <a:prstGeom prst="rect">
            <a:avLst/>
          </a:prstGeom>
        </p:spPr>
      </p:pic>
      <p:pic>
        <p:nvPicPr>
          <p:cNvPr id="16" name="Image 6" descr="https://test-kimi-img.moonshot.cn/pub/slides/slides_tmpl/image/25-07-11-18:10:21-d1oe63dcmrb5eq9iqbu0.png"/>
          <p:cNvPicPr>
            <a:picLocks noChangeAspect="1"/>
          </p:cNvPicPr>
          <p:nvPr/>
        </p:nvPicPr>
        <p:blipFill>
          <a:blip r:embed="rId8"/>
          <a:stretch>
            <a:fillRect/>
          </a:stretch>
        </p:blipFill>
        <p:spPr>
          <a:xfrm>
            <a:off x="970280" y="4005580"/>
            <a:ext cx="890270" cy="890270"/>
          </a:xfrm>
          <a:prstGeom prst="rect">
            <a:avLst/>
          </a:prstGeom>
        </p:spPr>
      </p:pic>
      <p:pic>
        <p:nvPicPr>
          <p:cNvPr id="17" name="Image 7" descr="https://test-kimi-img.moonshot.cn/pub/slides/slides_tmpl/image/25-07-11-18:10:21-d1oe63dcmrb5eq9iqbug.png"/>
          <p:cNvPicPr>
            <a:picLocks noChangeAspect="1"/>
          </p:cNvPicPr>
          <p:nvPr/>
        </p:nvPicPr>
        <p:blipFill>
          <a:blip r:embed="rId9"/>
          <a:stretch>
            <a:fillRect/>
          </a:stretch>
        </p:blipFill>
        <p:spPr>
          <a:xfrm>
            <a:off x="970280" y="2538730"/>
            <a:ext cx="890270" cy="890270"/>
          </a:xfrm>
          <a:prstGeom prst="rect">
            <a:avLst/>
          </a:prstGeom>
        </p:spPr>
      </p:pic>
      <p:sp>
        <p:nvSpPr>
          <p:cNvPr id="18" name="Text 8"/>
          <p:cNvSpPr/>
          <p:nvPr/>
        </p:nvSpPr>
        <p:spPr>
          <a:xfrm>
            <a:off x="97028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1E386B"/>
                </a:solidFill>
                <a:latin typeface="MiSans" panose="00000500000000000000" pitchFamily="34" charset="-122"/>
                <a:ea typeface="MiSans" panose="00000500000000000000" pitchFamily="34" charset="-122"/>
                <a:cs typeface="MiSans" panose="00000500000000000000" pitchFamily="34" charset="-120"/>
              </a:rPr>
              <a:t>系统核心价值</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图片 18" descr="图片1"/>
          <p:cNvPicPr>
            <a:picLocks noChangeAspect="1"/>
          </p:cNvPicPr>
          <p:nvPr/>
        </p:nvPicPr>
        <p:blipFill>
          <a:blip r:embed="rId1"/>
          <a:stretch>
            <a:fillRect/>
          </a:stretch>
        </p:blipFill>
        <p:spPr>
          <a:xfrm>
            <a:off x="0" y="0"/>
            <a:ext cx="12180570" cy="6858000"/>
          </a:xfrm>
          <a:prstGeom prst="rect">
            <a:avLst/>
          </a:prstGeom>
        </p:spPr>
      </p:pic>
      <p:pic>
        <p:nvPicPr>
          <p:cNvPr id="20" name="Image 0" descr="https://test-kimi-img.moonshot.cn/pub/slides/slides_tmpl/image/25-07-11-18:10:09-d1oe60dcmrb5eq9iqagg.png"/>
          <p:cNvPicPr>
            <a:picLocks noChangeAspect="1"/>
          </p:cNvPicPr>
          <p:nvPr/>
        </p:nvPicPr>
        <p:blipFill>
          <a:blip r:embed="rId2"/>
          <a:srcRect l="56" t="92" b="92"/>
          <a:stretch>
            <a:fillRect/>
          </a:stretch>
        </p:blipFill>
        <p:spPr>
          <a:xfrm flipH="1">
            <a:off x="1069975" y="0"/>
            <a:ext cx="6436360" cy="6858000"/>
          </a:xfrm>
          <a:prstGeom prst="rect">
            <a:avLst/>
          </a:prstGeom>
        </p:spPr>
      </p:pic>
      <p:pic>
        <p:nvPicPr>
          <p:cNvPr id="21" name="Image 1" descr="https://test-kimi-img.moonshot.cn/pub/slides/slides_tmpl/image/25-07-11-18:10:14-d1oe61lcmrb5eq9iqb2g.png"/>
          <p:cNvPicPr>
            <a:picLocks noChangeAspect="1"/>
          </p:cNvPicPr>
          <p:nvPr/>
        </p:nvPicPr>
        <p:blipFill>
          <a:blip r:embed="rId3">
            <a:alphaModFix amt="83000"/>
          </a:blip>
          <a:srcRect l="115" t="145" r="53121" b="161"/>
          <a:stretch>
            <a:fillRect/>
          </a:stretch>
        </p:blipFill>
        <p:spPr>
          <a:xfrm>
            <a:off x="10478135" y="1482090"/>
            <a:ext cx="1723390" cy="3728085"/>
          </a:xfrm>
          <a:prstGeom prst="rect">
            <a:avLst/>
          </a:prstGeom>
        </p:spPr>
      </p:pic>
      <p:sp>
        <p:nvSpPr>
          <p:cNvPr id="22" name="Text 0"/>
          <p:cNvSpPr/>
          <p:nvPr/>
        </p:nvSpPr>
        <p:spPr>
          <a:xfrm>
            <a:off x="2127250" y="1450975"/>
            <a:ext cx="8688705"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3" name="Text 1"/>
          <p:cNvSpPr/>
          <p:nvPr/>
        </p:nvSpPr>
        <p:spPr>
          <a:xfrm>
            <a:off x="2127250" y="1100455"/>
            <a:ext cx="3710305" cy="572135"/>
          </a:xfrm>
          <a:prstGeom prst="rect">
            <a:avLst/>
          </a:prstGeom>
          <a:noFill/>
        </p:spPr>
        <p:txBody>
          <a:bodyPr wrap="square" lIns="0" tIns="0" rIns="0" bIns="0" rtlCol="0" anchor="ctr"/>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高仿真模拟</a:t>
            </a:r>
            <a:endParaRPr lang="en-US" sz="1600" dirty="0"/>
          </a:p>
        </p:txBody>
      </p:sp>
      <p:sp>
        <p:nvSpPr>
          <p:cNvPr id="24" name="Text 2"/>
          <p:cNvSpPr/>
          <p:nvPr/>
        </p:nvSpPr>
        <p:spPr>
          <a:xfrm>
            <a:off x="1655445" y="2780030"/>
            <a:ext cx="8640445"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5" name="Text 3"/>
          <p:cNvSpPr/>
          <p:nvPr/>
        </p:nvSpPr>
        <p:spPr>
          <a:xfrm>
            <a:off x="1655445" y="2271395"/>
            <a:ext cx="3655695" cy="572135"/>
          </a:xfrm>
          <a:prstGeom prst="rect">
            <a:avLst/>
          </a:prstGeom>
          <a:noFill/>
        </p:spPr>
        <p:txBody>
          <a:bodyPr wrap="square" lIns="0" tIns="0" rIns="0" bIns="0" rtlCol="0" anchor="ctr"/>
          <a:p>
            <a:pPr marL="0" indent="0" algn="l">
              <a:lnSpc>
                <a:spcPct val="100000"/>
              </a:lnSpc>
              <a:buNone/>
            </a:pPr>
            <a:endParaRPr lang="en-US" sz="1600" dirty="0"/>
          </a:p>
        </p:txBody>
      </p:sp>
      <p:sp>
        <p:nvSpPr>
          <p:cNvPr id="26" name="Text 4"/>
          <p:cNvSpPr/>
          <p:nvPr/>
        </p:nvSpPr>
        <p:spPr>
          <a:xfrm>
            <a:off x="1717675" y="4197985"/>
            <a:ext cx="8652510"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7" name="Text 5"/>
          <p:cNvSpPr/>
          <p:nvPr/>
        </p:nvSpPr>
        <p:spPr>
          <a:xfrm>
            <a:off x="1717675" y="3689350"/>
            <a:ext cx="3593465" cy="572135"/>
          </a:xfrm>
          <a:prstGeom prst="rect">
            <a:avLst/>
          </a:prstGeom>
          <a:noFill/>
        </p:spPr>
        <p:txBody>
          <a:bodyPr wrap="square" lIns="0" tIns="0" rIns="0" bIns="0" rtlCol="0" anchor="ctr"/>
          <a:p>
            <a:pPr marL="0" indent="0" algn="l">
              <a:lnSpc>
                <a:spcPct val="100000"/>
              </a:lnSpc>
              <a:buNone/>
            </a:pPr>
            <a:endParaRPr lang="en-US" sz="1600" dirty="0"/>
          </a:p>
        </p:txBody>
      </p:sp>
      <p:sp>
        <p:nvSpPr>
          <p:cNvPr id="28" name="Text 6"/>
          <p:cNvSpPr/>
          <p:nvPr/>
        </p:nvSpPr>
        <p:spPr>
          <a:xfrm>
            <a:off x="2162175" y="5579745"/>
            <a:ext cx="8606790"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9" name="Text 7"/>
          <p:cNvSpPr/>
          <p:nvPr/>
        </p:nvSpPr>
        <p:spPr>
          <a:xfrm>
            <a:off x="2162175" y="5071110"/>
            <a:ext cx="3619500" cy="572135"/>
          </a:xfrm>
          <a:prstGeom prst="rect">
            <a:avLst/>
          </a:prstGeom>
          <a:noFill/>
        </p:spPr>
        <p:txBody>
          <a:bodyPr wrap="square" lIns="0" tIns="0" rIns="0" bIns="0" rtlCol="0" anchor="ctr"/>
          <a:p>
            <a:pPr marL="0" indent="0" algn="l">
              <a:lnSpc>
                <a:spcPct val="100000"/>
              </a:lnSpc>
              <a:buNone/>
            </a:pPr>
            <a:endParaRPr lang="en-US" sz="1600" dirty="0"/>
          </a:p>
        </p:txBody>
      </p:sp>
      <p:pic>
        <p:nvPicPr>
          <p:cNvPr id="30" name="Image 2" descr="https://test-kimi-img.moonshot.cn/pub/slides/slides_tmpl/image/25-07-11-18:10:21-d1oe63dcmrb5eq9iqbsg.png"/>
          <p:cNvPicPr>
            <a:picLocks noChangeAspect="1"/>
          </p:cNvPicPr>
          <p:nvPr/>
        </p:nvPicPr>
        <p:blipFill>
          <a:blip r:embed="rId4"/>
          <a:srcRect l="48779" t="363" b="-7459"/>
          <a:stretch>
            <a:fillRect/>
          </a:stretch>
        </p:blipFill>
        <p:spPr>
          <a:xfrm>
            <a:off x="-27940" y="0"/>
            <a:ext cx="657860" cy="735965"/>
          </a:xfrm>
          <a:prstGeom prst="rect">
            <a:avLst/>
          </a:prstGeom>
        </p:spPr>
      </p:pic>
      <p:pic>
        <p:nvPicPr>
          <p:cNvPr id="31" name="Image 3" descr="https://test-kimi-img.moonshot.cn/pub/slides/slides_tmpl/image/25-07-11-18:10:08-d1oe605cmrb5eq9iqac0.png"/>
          <p:cNvPicPr>
            <a:picLocks noChangeAspect="1"/>
          </p:cNvPicPr>
          <p:nvPr/>
        </p:nvPicPr>
        <p:blipFill>
          <a:blip r:embed="rId5"/>
          <a:stretch>
            <a:fillRect/>
          </a:stretch>
        </p:blipFill>
        <p:spPr>
          <a:xfrm>
            <a:off x="11022965" y="394335"/>
            <a:ext cx="628015" cy="182880"/>
          </a:xfrm>
          <a:prstGeom prst="rect">
            <a:avLst/>
          </a:prstGeom>
        </p:spPr>
      </p:pic>
      <p:pic>
        <p:nvPicPr>
          <p:cNvPr id="33" name="Image 5" descr="https://test-kimi-img.moonshot.cn/pub/slides/slides_tmpl/image/25-07-11-18:10:21-d1oe63dcmrb5eq9iqbtg.png"/>
          <p:cNvPicPr>
            <a:picLocks noChangeAspect="1"/>
          </p:cNvPicPr>
          <p:nvPr/>
        </p:nvPicPr>
        <p:blipFill>
          <a:blip r:embed="rId6"/>
          <a:stretch>
            <a:fillRect/>
          </a:stretch>
        </p:blipFill>
        <p:spPr>
          <a:xfrm>
            <a:off x="1271905" y="1017270"/>
            <a:ext cx="890270" cy="890270"/>
          </a:xfrm>
          <a:prstGeom prst="rect">
            <a:avLst/>
          </a:prstGeom>
        </p:spPr>
      </p:pic>
      <p:sp>
        <p:nvSpPr>
          <p:cNvPr id="36" name="Text 8"/>
          <p:cNvSpPr/>
          <p:nvPr/>
        </p:nvSpPr>
        <p:spPr>
          <a:xfrm>
            <a:off x="970280" y="394335"/>
            <a:ext cx="6780530" cy="622935"/>
          </a:xfrm>
          <a:prstGeom prst="rect">
            <a:avLst/>
          </a:prstGeom>
          <a:noFill/>
        </p:spPr>
        <p:txBody>
          <a:bodyPr wrap="square" lIns="91440" tIns="45720" rIns="91440" bIns="45720" rtlCol="0" anchor="ctr"/>
          <a:p>
            <a:pPr marL="0" indent="0" algn="l">
              <a:lnSpc>
                <a:spcPct val="100000"/>
              </a:lnSpc>
              <a:buNone/>
            </a:pPr>
            <a:r>
              <a:rPr lang="en-US" sz="2800" b="1" dirty="0">
                <a:solidFill>
                  <a:srgbClr val="1E386B"/>
                </a:solidFill>
                <a:latin typeface="MiSans" panose="00000500000000000000" pitchFamily="34" charset="-122"/>
                <a:ea typeface="MiSans" panose="00000500000000000000" pitchFamily="34" charset="-122"/>
                <a:cs typeface="MiSans" panose="00000500000000000000" pitchFamily="34" charset="-120"/>
              </a:rPr>
              <a:t>系统核心价值</a:t>
            </a:r>
            <a:endParaRPr lang="en-US" sz="1600" dirty="0"/>
          </a:p>
        </p:txBody>
      </p:sp>
      <p:pic>
        <p:nvPicPr>
          <p:cNvPr id="38" name="Image 7" descr="https://test-kimi-img.moonshot.cn/pub/slides/slides_tmpl/image/25-07-11-18:10:21-d1oe63dcmrb5eq9iqbug.png"/>
          <p:cNvPicPr>
            <a:picLocks noChangeAspect="1"/>
          </p:cNvPicPr>
          <p:nvPr/>
        </p:nvPicPr>
        <p:blipFill>
          <a:blip r:embed="rId7"/>
          <a:stretch>
            <a:fillRect/>
          </a:stretch>
        </p:blipFill>
        <p:spPr>
          <a:xfrm>
            <a:off x="5957570" y="5509260"/>
            <a:ext cx="890270" cy="890270"/>
          </a:xfrm>
          <a:prstGeom prst="rect">
            <a:avLst/>
          </a:prstGeom>
        </p:spPr>
      </p:pic>
      <p:sp>
        <p:nvSpPr>
          <p:cNvPr id="39" name="文本框 38"/>
          <p:cNvSpPr txBox="1"/>
          <p:nvPr/>
        </p:nvSpPr>
        <p:spPr>
          <a:xfrm>
            <a:off x="6761480" y="5701030"/>
            <a:ext cx="2824480" cy="368300"/>
          </a:xfrm>
          <a:prstGeom prst="rect">
            <a:avLst/>
          </a:prstGeom>
          <a:noFill/>
        </p:spPr>
        <p:txBody>
          <a:bodyPr wrap="square" rtlCol="0">
            <a:spAutoFit/>
          </a:bodyPr>
          <a:p>
            <a:r>
              <a:rPr lang="en-US"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rPr>
              <a:t>多模态分析</a:t>
            </a:r>
            <a:endParaRPr lang="zh-CN" altLang="en-US"/>
          </a:p>
        </p:txBody>
      </p:sp>
      <p:pic>
        <p:nvPicPr>
          <p:cNvPr id="43" name="图片 42" descr="QQ20250722-162026"/>
          <p:cNvPicPr>
            <a:picLocks noChangeAspect="1"/>
          </p:cNvPicPr>
          <p:nvPr/>
        </p:nvPicPr>
        <p:blipFill>
          <a:blip r:embed="rId8"/>
          <a:stretch>
            <a:fillRect/>
          </a:stretch>
        </p:blipFill>
        <p:spPr>
          <a:xfrm>
            <a:off x="492760" y="1880870"/>
            <a:ext cx="5344795" cy="4110990"/>
          </a:xfrm>
          <a:prstGeom prst="rect">
            <a:avLst/>
          </a:prstGeom>
        </p:spPr>
      </p:pic>
      <p:pic>
        <p:nvPicPr>
          <p:cNvPr id="44" name="图片 43"/>
          <p:cNvPicPr>
            <a:picLocks noChangeAspect="1"/>
          </p:cNvPicPr>
          <p:nvPr/>
        </p:nvPicPr>
        <p:blipFill>
          <a:blip r:embed="rId9"/>
          <a:stretch>
            <a:fillRect/>
          </a:stretch>
        </p:blipFill>
        <p:spPr>
          <a:xfrm>
            <a:off x="5957570" y="807085"/>
            <a:ext cx="3267075" cy="3257550"/>
          </a:xfrm>
          <a:prstGeom prst="rect">
            <a:avLst/>
          </a:prstGeom>
        </p:spPr>
      </p:pic>
      <p:pic>
        <p:nvPicPr>
          <p:cNvPr id="45" name="图片 44"/>
          <p:cNvPicPr>
            <a:picLocks noChangeAspect="1"/>
          </p:cNvPicPr>
          <p:nvPr/>
        </p:nvPicPr>
        <p:blipFill>
          <a:blip r:embed="rId10"/>
          <a:stretch>
            <a:fillRect/>
          </a:stretch>
        </p:blipFill>
        <p:spPr>
          <a:xfrm>
            <a:off x="8195945" y="4472305"/>
            <a:ext cx="3837940" cy="2214245"/>
          </a:xfrm>
          <a:prstGeom prst="rect">
            <a:avLst/>
          </a:prstGeom>
        </p:spPr>
      </p:pic>
      <p:pic>
        <p:nvPicPr>
          <p:cNvPr id="47" name="图片 46"/>
          <p:cNvPicPr>
            <a:picLocks noChangeAspect="1"/>
          </p:cNvPicPr>
          <p:nvPr/>
        </p:nvPicPr>
        <p:blipFill>
          <a:blip r:embed="rId11"/>
          <a:stretch>
            <a:fillRect/>
          </a:stretch>
        </p:blipFill>
        <p:spPr>
          <a:xfrm>
            <a:off x="6958330" y="3976370"/>
            <a:ext cx="1265555" cy="1411605"/>
          </a:xfrm>
          <a:prstGeom prst="rect">
            <a:avLst/>
          </a:prstGeom>
        </p:spPr>
      </p:pic>
      <p:pic>
        <p:nvPicPr>
          <p:cNvPr id="48" name="图片 47"/>
          <p:cNvPicPr>
            <a:picLocks noChangeAspect="1"/>
          </p:cNvPicPr>
          <p:nvPr/>
        </p:nvPicPr>
        <p:blipFill>
          <a:blip r:embed="rId12"/>
          <a:stretch>
            <a:fillRect/>
          </a:stretch>
        </p:blipFill>
        <p:spPr>
          <a:xfrm>
            <a:off x="9224645" y="3011805"/>
            <a:ext cx="2496820" cy="1849120"/>
          </a:xfrm>
          <a:prstGeom prst="rect">
            <a:avLst/>
          </a:prstGeom>
        </p:spPr>
      </p:pic>
      <p:pic>
        <p:nvPicPr>
          <p:cNvPr id="49" name="图片 48"/>
          <p:cNvPicPr>
            <a:picLocks noChangeAspect="1"/>
          </p:cNvPicPr>
          <p:nvPr/>
        </p:nvPicPr>
        <p:blipFill>
          <a:blip r:embed="rId13"/>
          <a:stretch>
            <a:fillRect/>
          </a:stretch>
        </p:blipFill>
        <p:spPr>
          <a:xfrm>
            <a:off x="8990330" y="1243330"/>
            <a:ext cx="3043555" cy="1768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图片1"/>
          <p:cNvPicPr>
            <a:picLocks noChangeAspect="1"/>
          </p:cNvPicPr>
          <p:nvPr/>
        </p:nvPicPr>
        <p:blipFill>
          <a:blip r:embed="rId1"/>
          <a:stretch>
            <a:fillRect/>
          </a:stretch>
        </p:blipFill>
        <p:spPr>
          <a:xfrm>
            <a:off x="11430" y="0"/>
            <a:ext cx="12180570" cy="6858000"/>
          </a:xfrm>
          <a:prstGeom prst="rect">
            <a:avLst/>
          </a:prstGeom>
        </p:spPr>
      </p:pic>
      <p:pic>
        <p:nvPicPr>
          <p:cNvPr id="19" name="图片 18" descr="图片1"/>
          <p:cNvPicPr>
            <a:picLocks noChangeAspect="1"/>
          </p:cNvPicPr>
          <p:nvPr/>
        </p:nvPicPr>
        <p:blipFill>
          <a:blip r:embed="rId1"/>
          <a:stretch>
            <a:fillRect/>
          </a:stretch>
        </p:blipFill>
        <p:spPr>
          <a:xfrm>
            <a:off x="20955" y="88265"/>
            <a:ext cx="12180570" cy="6858000"/>
          </a:xfrm>
          <a:prstGeom prst="rect">
            <a:avLst/>
          </a:prstGeom>
        </p:spPr>
      </p:pic>
      <p:pic>
        <p:nvPicPr>
          <p:cNvPr id="20" name="Image 0" descr="https://test-kimi-img.moonshot.cn/pub/slides/slides_tmpl/image/25-07-11-18:10:09-d1oe60dcmrb5eq9iqagg.png"/>
          <p:cNvPicPr>
            <a:picLocks noChangeAspect="1"/>
          </p:cNvPicPr>
          <p:nvPr/>
        </p:nvPicPr>
        <p:blipFill>
          <a:blip r:embed="rId2"/>
          <a:srcRect l="56" t="92" b="92"/>
          <a:stretch>
            <a:fillRect/>
          </a:stretch>
        </p:blipFill>
        <p:spPr>
          <a:xfrm flipH="1">
            <a:off x="1069975" y="0"/>
            <a:ext cx="6436360" cy="6858000"/>
          </a:xfrm>
          <a:prstGeom prst="rect">
            <a:avLst/>
          </a:prstGeom>
        </p:spPr>
      </p:pic>
      <p:pic>
        <p:nvPicPr>
          <p:cNvPr id="21" name="Image 1" descr="https://test-kimi-img.moonshot.cn/pub/slides/slides_tmpl/image/25-07-11-18:10:14-d1oe61lcmrb5eq9iqb2g.png"/>
          <p:cNvPicPr>
            <a:picLocks noChangeAspect="1"/>
          </p:cNvPicPr>
          <p:nvPr/>
        </p:nvPicPr>
        <p:blipFill>
          <a:blip r:embed="rId3">
            <a:alphaModFix amt="83000"/>
          </a:blip>
          <a:srcRect l="115" t="145" r="53121" b="161"/>
          <a:stretch>
            <a:fillRect/>
          </a:stretch>
        </p:blipFill>
        <p:spPr>
          <a:xfrm>
            <a:off x="10478135" y="1482090"/>
            <a:ext cx="1723390" cy="3728085"/>
          </a:xfrm>
          <a:prstGeom prst="rect">
            <a:avLst/>
          </a:prstGeom>
        </p:spPr>
      </p:pic>
      <p:sp>
        <p:nvSpPr>
          <p:cNvPr id="22" name="Text 0"/>
          <p:cNvSpPr/>
          <p:nvPr/>
        </p:nvSpPr>
        <p:spPr>
          <a:xfrm>
            <a:off x="2127250" y="1450975"/>
            <a:ext cx="8688705"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3" name="Text 1"/>
          <p:cNvSpPr/>
          <p:nvPr/>
        </p:nvSpPr>
        <p:spPr>
          <a:xfrm>
            <a:off x="2127250" y="1100455"/>
            <a:ext cx="3710305" cy="572135"/>
          </a:xfrm>
          <a:prstGeom prst="rect">
            <a:avLst/>
          </a:prstGeom>
          <a:noFill/>
        </p:spPr>
        <p:txBody>
          <a:bodyPr wrap="square" lIns="0" tIns="0" rIns="0" bIns="0" rtlCol="0" anchor="ctr"/>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rPr>
              <a:t>即时智能反馈</a:t>
            </a:r>
            <a:endParaRPr lang="en-US" sz="1600" dirty="0"/>
          </a:p>
        </p:txBody>
      </p:sp>
      <p:sp>
        <p:nvSpPr>
          <p:cNvPr id="24" name="Text 2"/>
          <p:cNvSpPr/>
          <p:nvPr/>
        </p:nvSpPr>
        <p:spPr>
          <a:xfrm>
            <a:off x="1655445" y="2780030"/>
            <a:ext cx="8640445"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5" name="Text 3"/>
          <p:cNvSpPr/>
          <p:nvPr/>
        </p:nvSpPr>
        <p:spPr>
          <a:xfrm>
            <a:off x="1655445" y="2271395"/>
            <a:ext cx="3655695" cy="572135"/>
          </a:xfrm>
          <a:prstGeom prst="rect">
            <a:avLst/>
          </a:prstGeom>
          <a:noFill/>
        </p:spPr>
        <p:txBody>
          <a:bodyPr wrap="square" lIns="0" tIns="0" rIns="0" bIns="0" rtlCol="0" anchor="ctr"/>
          <a:p>
            <a:pPr marL="0" indent="0" algn="l">
              <a:lnSpc>
                <a:spcPct val="100000"/>
              </a:lnSpc>
              <a:buNone/>
            </a:pPr>
            <a:endParaRPr lang="en-US" sz="1600" dirty="0"/>
          </a:p>
        </p:txBody>
      </p:sp>
      <p:sp>
        <p:nvSpPr>
          <p:cNvPr id="26" name="Text 4"/>
          <p:cNvSpPr/>
          <p:nvPr/>
        </p:nvSpPr>
        <p:spPr>
          <a:xfrm>
            <a:off x="1717675" y="4197985"/>
            <a:ext cx="8652510"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7" name="Text 5"/>
          <p:cNvSpPr/>
          <p:nvPr/>
        </p:nvSpPr>
        <p:spPr>
          <a:xfrm>
            <a:off x="1717675" y="3689350"/>
            <a:ext cx="3593465" cy="572135"/>
          </a:xfrm>
          <a:prstGeom prst="rect">
            <a:avLst/>
          </a:prstGeom>
          <a:noFill/>
        </p:spPr>
        <p:txBody>
          <a:bodyPr wrap="square" lIns="0" tIns="0" rIns="0" bIns="0" rtlCol="0" anchor="ctr"/>
          <a:p>
            <a:pPr marL="0" indent="0" algn="l">
              <a:lnSpc>
                <a:spcPct val="100000"/>
              </a:lnSpc>
              <a:buNone/>
            </a:pPr>
            <a:endParaRPr lang="en-US" sz="1600" dirty="0"/>
          </a:p>
        </p:txBody>
      </p:sp>
      <p:sp>
        <p:nvSpPr>
          <p:cNvPr id="28" name="Text 6"/>
          <p:cNvSpPr/>
          <p:nvPr/>
        </p:nvSpPr>
        <p:spPr>
          <a:xfrm>
            <a:off x="2162175" y="5579745"/>
            <a:ext cx="8606790" cy="1692275"/>
          </a:xfrm>
          <a:prstGeom prst="rect">
            <a:avLst/>
          </a:prstGeom>
          <a:noFill/>
        </p:spPr>
        <p:txBody>
          <a:bodyPr wrap="square" lIns="0" tIns="0" rIns="0" bIns="0" rtlCol="0" anchor="t"/>
          <a:p>
            <a:pPr marL="0" indent="0" algn="just">
              <a:lnSpc>
                <a:spcPct val="150000"/>
              </a:lnSpc>
              <a:buNone/>
            </a:pPr>
            <a:endParaRPr lang="en-US" sz="1600" dirty="0"/>
          </a:p>
        </p:txBody>
      </p:sp>
      <p:sp>
        <p:nvSpPr>
          <p:cNvPr id="29" name="Text 7"/>
          <p:cNvSpPr/>
          <p:nvPr/>
        </p:nvSpPr>
        <p:spPr>
          <a:xfrm>
            <a:off x="2162175" y="5071110"/>
            <a:ext cx="3619500" cy="572135"/>
          </a:xfrm>
          <a:prstGeom prst="rect">
            <a:avLst/>
          </a:prstGeom>
          <a:noFill/>
        </p:spPr>
        <p:txBody>
          <a:bodyPr wrap="square" lIns="0" tIns="0" rIns="0" bIns="0" rtlCol="0" anchor="ctr"/>
          <a:p>
            <a:pPr marL="0" indent="0" algn="l">
              <a:lnSpc>
                <a:spcPct val="100000"/>
              </a:lnSpc>
              <a:buNone/>
            </a:pPr>
            <a:endParaRPr lang="en-US" sz="1600" dirty="0"/>
          </a:p>
        </p:txBody>
      </p:sp>
      <p:pic>
        <p:nvPicPr>
          <p:cNvPr id="30" name="Image 2" descr="https://test-kimi-img.moonshot.cn/pub/slides/slides_tmpl/image/25-07-11-18:10:21-d1oe63dcmrb5eq9iqbsg.png"/>
          <p:cNvPicPr>
            <a:picLocks noChangeAspect="1"/>
          </p:cNvPicPr>
          <p:nvPr/>
        </p:nvPicPr>
        <p:blipFill>
          <a:blip r:embed="rId4"/>
          <a:srcRect l="48779" t="363" b="-7459"/>
          <a:stretch>
            <a:fillRect/>
          </a:stretch>
        </p:blipFill>
        <p:spPr>
          <a:xfrm>
            <a:off x="-27940" y="0"/>
            <a:ext cx="657860" cy="735965"/>
          </a:xfrm>
          <a:prstGeom prst="rect">
            <a:avLst/>
          </a:prstGeom>
        </p:spPr>
      </p:pic>
      <p:pic>
        <p:nvPicPr>
          <p:cNvPr id="31" name="Image 3" descr="https://test-kimi-img.moonshot.cn/pub/slides/slides_tmpl/image/25-07-11-18:10:08-d1oe605cmrb5eq9iqac0.png"/>
          <p:cNvPicPr>
            <a:picLocks noChangeAspect="1"/>
          </p:cNvPicPr>
          <p:nvPr/>
        </p:nvPicPr>
        <p:blipFill>
          <a:blip r:embed="rId5"/>
          <a:stretch>
            <a:fillRect/>
          </a:stretch>
        </p:blipFill>
        <p:spPr>
          <a:xfrm>
            <a:off x="11022965" y="394335"/>
            <a:ext cx="628015" cy="182880"/>
          </a:xfrm>
          <a:prstGeom prst="rect">
            <a:avLst/>
          </a:prstGeom>
        </p:spPr>
      </p:pic>
      <p:sp>
        <p:nvSpPr>
          <p:cNvPr id="36" name="Text 8"/>
          <p:cNvSpPr/>
          <p:nvPr/>
        </p:nvSpPr>
        <p:spPr>
          <a:xfrm>
            <a:off x="970280" y="394335"/>
            <a:ext cx="6780530" cy="622935"/>
          </a:xfrm>
          <a:prstGeom prst="rect">
            <a:avLst/>
          </a:prstGeom>
          <a:noFill/>
        </p:spPr>
        <p:txBody>
          <a:bodyPr wrap="square" lIns="91440" tIns="45720" rIns="91440" bIns="45720" rtlCol="0" anchor="ctr"/>
          <a:p>
            <a:pPr marL="0" indent="0" algn="l">
              <a:lnSpc>
                <a:spcPct val="100000"/>
              </a:lnSpc>
              <a:buNone/>
            </a:pPr>
            <a:r>
              <a:rPr lang="en-US" sz="2800" b="1" dirty="0">
                <a:solidFill>
                  <a:srgbClr val="1E386B"/>
                </a:solidFill>
                <a:latin typeface="MiSans" panose="00000500000000000000" pitchFamily="34" charset="-122"/>
                <a:ea typeface="MiSans" panose="00000500000000000000" pitchFamily="34" charset="-122"/>
                <a:cs typeface="MiSans" panose="00000500000000000000" pitchFamily="34" charset="-120"/>
              </a:rPr>
              <a:t>系统核心价值</a:t>
            </a:r>
            <a:endParaRPr lang="en-US" sz="1600" dirty="0"/>
          </a:p>
        </p:txBody>
      </p:sp>
      <p:sp>
        <p:nvSpPr>
          <p:cNvPr id="39" name="文本框 38"/>
          <p:cNvSpPr txBox="1"/>
          <p:nvPr/>
        </p:nvSpPr>
        <p:spPr>
          <a:xfrm>
            <a:off x="6761480" y="5701030"/>
            <a:ext cx="2824480" cy="368300"/>
          </a:xfrm>
          <a:prstGeom prst="rect">
            <a:avLst/>
          </a:prstGeom>
          <a:noFill/>
        </p:spPr>
        <p:txBody>
          <a:bodyPr wrap="square" rtlCol="0">
            <a:spAutoFit/>
          </a:bodyPr>
          <a:p>
            <a:pPr marL="0" indent="0" algn="l">
              <a:lnSpc>
                <a:spcPct val="100000"/>
              </a:lnSpc>
              <a:buNone/>
            </a:pPr>
            <a:r>
              <a:rPr lang="en-US"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rPr>
              <a:t>闭环式提升</a:t>
            </a:r>
            <a:endParaRPr lang="zh-CN" altLang="en-US"/>
          </a:p>
        </p:txBody>
      </p:sp>
      <p:pic>
        <p:nvPicPr>
          <p:cNvPr id="16" name="Image 6" descr="https://test-kimi-img.moonshot.cn/pub/slides/slides_tmpl/image/25-07-11-18:10:21-d1oe63dcmrb5eq9iqbu0.png"/>
          <p:cNvPicPr>
            <a:picLocks noChangeAspect="1"/>
          </p:cNvPicPr>
          <p:nvPr/>
        </p:nvPicPr>
        <p:blipFill>
          <a:blip r:embed="rId6"/>
          <a:stretch>
            <a:fillRect/>
          </a:stretch>
        </p:blipFill>
        <p:spPr>
          <a:xfrm>
            <a:off x="1271905" y="1017270"/>
            <a:ext cx="890270" cy="890270"/>
          </a:xfrm>
          <a:prstGeom prst="rect">
            <a:avLst/>
          </a:prstGeom>
        </p:spPr>
      </p:pic>
      <p:pic>
        <p:nvPicPr>
          <p:cNvPr id="14" name="Image 4" descr="https://test-kimi-img.moonshot.cn/pub/slides/slides_tmpl/image/25-07-11-18:10:21-d1oe63dcmrb5eq9iqbt0.png"/>
          <p:cNvPicPr>
            <a:picLocks noChangeAspect="1"/>
          </p:cNvPicPr>
          <p:nvPr/>
        </p:nvPicPr>
        <p:blipFill>
          <a:blip r:embed="rId7"/>
          <a:stretch>
            <a:fillRect/>
          </a:stretch>
        </p:blipFill>
        <p:spPr>
          <a:xfrm>
            <a:off x="6096000" y="5516880"/>
            <a:ext cx="890270" cy="890270"/>
          </a:xfrm>
          <a:prstGeom prst="rect">
            <a:avLst/>
          </a:prstGeom>
        </p:spPr>
      </p:pic>
      <p:pic>
        <p:nvPicPr>
          <p:cNvPr id="3" name="图片 2"/>
          <p:cNvPicPr>
            <a:picLocks noChangeAspect="1"/>
          </p:cNvPicPr>
          <p:nvPr/>
        </p:nvPicPr>
        <p:blipFill>
          <a:blip r:embed="rId8"/>
          <a:stretch>
            <a:fillRect/>
          </a:stretch>
        </p:blipFill>
        <p:spPr>
          <a:xfrm>
            <a:off x="354330" y="1755775"/>
            <a:ext cx="4627245" cy="4664710"/>
          </a:xfrm>
          <a:prstGeom prst="rect">
            <a:avLst/>
          </a:prstGeom>
        </p:spPr>
      </p:pic>
      <p:pic>
        <p:nvPicPr>
          <p:cNvPr id="4" name="图片 3"/>
          <p:cNvPicPr>
            <a:picLocks noChangeAspect="1"/>
          </p:cNvPicPr>
          <p:nvPr/>
        </p:nvPicPr>
        <p:blipFill>
          <a:blip r:embed="rId9"/>
          <a:stretch>
            <a:fillRect/>
          </a:stretch>
        </p:blipFill>
        <p:spPr>
          <a:xfrm>
            <a:off x="5311140" y="666115"/>
            <a:ext cx="4274820" cy="2955925"/>
          </a:xfrm>
          <a:prstGeom prst="rect">
            <a:avLst/>
          </a:prstGeom>
        </p:spPr>
      </p:pic>
      <p:pic>
        <p:nvPicPr>
          <p:cNvPr id="5" name="图片 4"/>
          <p:cNvPicPr>
            <a:picLocks noChangeAspect="1"/>
          </p:cNvPicPr>
          <p:nvPr/>
        </p:nvPicPr>
        <p:blipFill>
          <a:blip r:embed="rId10"/>
          <a:stretch>
            <a:fillRect/>
          </a:stretch>
        </p:blipFill>
        <p:spPr>
          <a:xfrm>
            <a:off x="7424420" y="2990215"/>
            <a:ext cx="4389120" cy="27108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90" y="-15875"/>
            <a:ext cx="10438130" cy="6880225"/>
          </a:xfrm>
          <a:prstGeom prst="rect">
            <a:avLst/>
          </a:prstGeom>
          <a:gradFill flip="none" rotWithShape="1">
            <a:gsLst>
              <a:gs pos="0">
                <a:srgbClr val="FFFFFF"/>
              </a:gs>
              <a:gs pos="100000">
                <a:srgbClr val="FFFFFF">
                  <a:alpha val="0"/>
                </a:srgbClr>
              </a:gs>
            </a:gsLst>
            <a:lin ang="0" scaled="1"/>
          </a:gradFill>
        </p:spPr>
      </p:sp>
      <p:sp>
        <p:nvSpPr>
          <p:cNvPr id="3" name="Text 1"/>
          <p:cNvSpPr/>
          <p:nvPr/>
        </p:nvSpPr>
        <p:spPr>
          <a:xfrm>
            <a:off x="8890" y="-15875"/>
            <a:ext cx="10438130" cy="688022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test-kimi-img.moonshot.cn/pub/slides/slides_tmpl/image/25-07-11-18:10:09-d1oe60dcmrb5eq9iqag0.png"/>
          <p:cNvPicPr>
            <a:picLocks noChangeAspect="1"/>
          </p:cNvPicPr>
          <p:nvPr/>
        </p:nvPicPr>
        <p:blipFill>
          <a:blip r:embed="rId2"/>
          <a:stretch>
            <a:fillRect/>
          </a:stretch>
        </p:blipFill>
        <p:spPr>
          <a:xfrm>
            <a:off x="612140" y="2388552"/>
            <a:ext cx="1600200" cy="1651000"/>
          </a:xfrm>
          <a:prstGeom prst="rect">
            <a:avLst/>
          </a:prstGeom>
        </p:spPr>
      </p:pic>
      <p:pic>
        <p:nvPicPr>
          <p:cNvPr id="5" name="Image 1" descr="https://test-kimi-img.moonshot.cn/pub/slides/slides_tmpl/image/25-07-11-18:10:09-d1oe60dcmrb5eq9iqagg.png"/>
          <p:cNvPicPr>
            <a:picLocks noChangeAspect="1"/>
          </p:cNvPicPr>
          <p:nvPr/>
        </p:nvPicPr>
        <p:blipFill>
          <a:blip r:embed="rId3"/>
          <a:srcRect l="56" t="92" b="92"/>
          <a:stretch>
            <a:fillRect/>
          </a:stretch>
        </p:blipFill>
        <p:spPr>
          <a:xfrm>
            <a:off x="8890" y="0"/>
            <a:ext cx="6771640" cy="6858000"/>
          </a:xfrm>
          <a:prstGeom prst="rect">
            <a:avLst/>
          </a:prstGeom>
        </p:spPr>
      </p:pic>
      <p:pic>
        <p:nvPicPr>
          <p:cNvPr id="6" name="Image 2" descr="https://test-kimi-img.moonshot.cn/pub/slides/slides_tmpl/image/25-07-11-18:10:09-d1oe60dcmrb5eq9iqah0.png"/>
          <p:cNvPicPr>
            <a:picLocks noChangeAspect="1"/>
          </p:cNvPicPr>
          <p:nvPr/>
        </p:nvPicPr>
        <p:blipFill>
          <a:blip r:embed="rId4"/>
          <a:stretch>
            <a:fillRect/>
          </a:stretch>
        </p:blipFill>
        <p:spPr>
          <a:xfrm>
            <a:off x="854710" y="2689860"/>
            <a:ext cx="1859280" cy="1871345"/>
          </a:xfrm>
          <a:prstGeom prst="rect">
            <a:avLst/>
          </a:prstGeom>
        </p:spPr>
      </p:pic>
      <p:sp>
        <p:nvSpPr>
          <p:cNvPr id="7" name="Text 2"/>
          <p:cNvSpPr/>
          <p:nvPr/>
        </p:nvSpPr>
        <p:spPr>
          <a:xfrm>
            <a:off x="2637790" y="2865755"/>
            <a:ext cx="8900160" cy="951865"/>
          </a:xfrm>
          <a:prstGeom prst="rect">
            <a:avLst/>
          </a:prstGeom>
          <a:noFill/>
        </p:spPr>
        <p:txBody>
          <a:bodyPr wrap="square" lIns="91440" tIns="45720" rIns="91440" bIns="45720" rtlCol="0" anchor="t"/>
          <a:lstStyle/>
          <a:p>
            <a:pPr marL="0" indent="0" algn="l">
              <a:lnSpc>
                <a:spcPct val="100000"/>
              </a:lnSpc>
              <a:buNone/>
            </a:pPr>
            <a:r>
              <a:rPr lang="en-US" sz="5000" b="1" dirty="0">
                <a:solidFill>
                  <a:srgbClr val="4874CB"/>
                </a:solidFill>
                <a:latin typeface="MiSans" panose="00000500000000000000" pitchFamily="34" charset="-122"/>
                <a:ea typeface="MiSans" panose="00000500000000000000" pitchFamily="34" charset="-122"/>
                <a:cs typeface="MiSans" panose="00000500000000000000" pitchFamily="34" charset="-120"/>
              </a:rPr>
              <a:t>核心功能深度解析</a:t>
            </a:r>
            <a:endParaRPr lang="en-US" sz="1600" dirty="0"/>
          </a:p>
        </p:txBody>
      </p:sp>
      <p:sp>
        <p:nvSpPr>
          <p:cNvPr id="8" name="Text 3"/>
          <p:cNvSpPr/>
          <p:nvPr/>
        </p:nvSpPr>
        <p:spPr>
          <a:xfrm>
            <a:off x="2647950" y="3747135"/>
            <a:ext cx="8497570" cy="460375"/>
          </a:xfrm>
          <a:prstGeom prst="rect">
            <a:avLst/>
          </a:prstGeom>
          <a:noFill/>
        </p:spPr>
        <p:txBody>
          <a:bodyPr wrap="square" lIns="91440" tIns="45720" rIns="91440" bIns="45720" rtlCol="0" anchor="t">
            <a:spAutoFit/>
          </a:bodyPr>
          <a:lstStyle/>
          <a:p>
            <a:pPr marL="0" indent="0" algn="l">
              <a:lnSpc>
                <a:spcPct val="150000"/>
              </a:lnSpc>
              <a:buNone/>
            </a:pPr>
            <a:r>
              <a:rPr lang="en-US" sz="1600" b="1" dirty="0">
                <a:solidFill>
                  <a:srgbClr val="000000"/>
                </a:solidFill>
                <a:latin typeface="MiSans" panose="00000500000000000000" pitchFamily="34" charset="-122"/>
                <a:ea typeface="MiSans" panose="00000500000000000000" pitchFamily="34" charset="-122"/>
                <a:cs typeface="MiSans" panose="00000500000000000000" pitchFamily="34" charset="-120"/>
              </a:rPr>
              <a:t>In-depth Analysis of Core Functions</a:t>
            </a:r>
            <a:endParaRPr lang="en-US" sz="1600" dirty="0"/>
          </a:p>
        </p:txBody>
      </p:sp>
      <p:sp>
        <p:nvSpPr>
          <p:cNvPr id="9" name="Shape 4"/>
          <p:cNvSpPr/>
          <p:nvPr/>
        </p:nvSpPr>
        <p:spPr>
          <a:xfrm>
            <a:off x="1187450" y="2612390"/>
            <a:ext cx="1508125" cy="1494155"/>
          </a:xfrm>
          <a:prstGeom prst="rect">
            <a:avLst/>
          </a:prstGeom>
          <a:solidFill>
            <a:srgbClr val="000000">
              <a:alpha val="0"/>
            </a:srgbClr>
          </a:solidFill>
        </p:spPr>
      </p:sp>
      <p:sp>
        <p:nvSpPr>
          <p:cNvPr id="10" name="Text 5"/>
          <p:cNvSpPr/>
          <p:nvPr/>
        </p:nvSpPr>
        <p:spPr>
          <a:xfrm>
            <a:off x="1187450" y="2612390"/>
            <a:ext cx="1508125" cy="1494155"/>
          </a:xfrm>
          <a:prstGeom prst="rect">
            <a:avLst/>
          </a:prstGeom>
          <a:noFill/>
        </p:spPr>
        <p:txBody>
          <a:bodyPr wrap="square" lIns="46863" tIns="90043" rIns="90043" bIns="46863" rtlCol="0" anchor="ctr"/>
          <a:lstStyle/>
          <a:p>
            <a:pPr marL="0" indent="0" algn="l">
              <a:lnSpc>
                <a:spcPct val="130000"/>
              </a:lnSpc>
              <a:buNone/>
            </a:pPr>
            <a:r>
              <a:rPr lang="en-US" sz="4500" dirty="0">
                <a:solidFill>
                  <a:srgbClr val="FFFFFF"/>
                </a:solidFill>
                <a:latin typeface="MiSans" panose="00000500000000000000" pitchFamily="34" charset="-122"/>
                <a:ea typeface="MiSans" panose="00000500000000000000" pitchFamily="34" charset="-122"/>
                <a:cs typeface="MiSans" panose="00000500000000000000" pitchFamily="34" charset="-120"/>
              </a:rPr>
              <a:t>03</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50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12-d1oe615cmrb5eq9iqas0.png"/>
          <p:cNvPicPr>
            <a:picLocks noChangeAspect="1"/>
          </p:cNvPicPr>
          <p:nvPr/>
        </p:nvPicPr>
        <p:blipFill>
          <a:blip r:embed="rId2"/>
          <a:stretch>
            <a:fillRect/>
          </a:stretch>
        </p:blipFill>
        <p:spPr>
          <a:xfrm>
            <a:off x="365760" y="1475740"/>
            <a:ext cx="652145" cy="6778625"/>
          </a:xfrm>
          <a:prstGeom prst="rect">
            <a:avLst/>
          </a:prstGeom>
        </p:spPr>
      </p:pic>
      <p:sp>
        <p:nvSpPr>
          <p:cNvPr id="3" name="Text 0"/>
          <p:cNvSpPr/>
          <p:nvPr/>
        </p:nvSpPr>
        <p:spPr>
          <a:xfrm>
            <a:off x="4937125" y="57721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高仿真模拟面试</a:t>
            </a:r>
            <a:endParaRPr lang="en-US" sz="1600" dirty="0"/>
          </a:p>
        </p:txBody>
      </p:sp>
      <p:pic>
        <p:nvPicPr>
          <p:cNvPr id="4" name="Image 1" descr="https://test-kimi-img.moonshot.cn/pub/slides/slides_tmpl/image/25-07-11-18:10:09-d1oe60dcmrb5eq9iqafg.png"/>
          <p:cNvPicPr>
            <a:picLocks noChangeAspect="1"/>
          </p:cNvPicPr>
          <p:nvPr/>
        </p:nvPicPr>
        <p:blipFill>
          <a:blip r:embed="rId3">
            <a:alphaModFix amt="74000"/>
          </a:blip>
          <a:srcRect l="128" t="26683" r="-128" b="-4046"/>
          <a:stretch>
            <a:fillRect/>
          </a:stretch>
        </p:blipFill>
        <p:spPr>
          <a:xfrm>
            <a:off x="5582285" y="0"/>
            <a:ext cx="6927215" cy="2076450"/>
          </a:xfrm>
          <a:prstGeom prst="rect">
            <a:avLst/>
          </a:prstGeom>
        </p:spPr>
      </p:pic>
      <p:sp>
        <p:nvSpPr>
          <p:cNvPr id="5" name="Text 1"/>
          <p:cNvSpPr/>
          <p:nvPr>
            <p:custDataLst>
              <p:tags r:id="rId4"/>
            </p:custDataLst>
          </p:nvPr>
        </p:nvSpPr>
        <p:spPr>
          <a:xfrm>
            <a:off x="5503719" y="1563827"/>
            <a:ext cx="5899611" cy="368354"/>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深度个性化开场</a:t>
            </a:r>
            <a:endParaRPr lang="en-US" sz="1600" dirty="0"/>
          </a:p>
        </p:txBody>
      </p:sp>
      <p:sp>
        <p:nvSpPr>
          <p:cNvPr id="6" name="Text 2"/>
          <p:cNvSpPr/>
          <p:nvPr>
            <p:custDataLst>
              <p:tags r:id="rId5"/>
            </p:custDataLst>
          </p:nvPr>
        </p:nvSpPr>
        <p:spPr>
          <a:xfrm>
            <a:off x="5504989" y="1932181"/>
            <a:ext cx="6212657" cy="1032028"/>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系统启动时会自动解析用户上传的简历，首个问题直接与用户最相关的经验挂钩，迅速建立面试情境。</a:t>
            </a:r>
            <a:endParaRPr lang="en-US" sz="1600" dirty="0"/>
          </a:p>
        </p:txBody>
      </p:sp>
      <p:sp>
        <p:nvSpPr>
          <p:cNvPr id="7" name="Text 3"/>
          <p:cNvSpPr/>
          <p:nvPr>
            <p:custDataLst>
              <p:tags r:id="rId6"/>
            </p:custDataLst>
          </p:nvPr>
        </p:nvSpPr>
        <p:spPr>
          <a:xfrm>
            <a:off x="5503719" y="3210560"/>
            <a:ext cx="5899611" cy="368300"/>
          </a:xfrm>
          <a:prstGeom prst="rect">
            <a:avLst/>
          </a:prstGeom>
          <a:noFill/>
        </p:spPr>
        <p:txBody>
          <a:bodyPr wrap="square" lIns="91440" tIns="45720" rIns="91440" bIns="4572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LLM驱动的动态追问</a:t>
            </a:r>
            <a:endParaRPr lang="en-US" sz="1600" dirty="0"/>
          </a:p>
        </p:txBody>
      </p:sp>
      <p:sp>
        <p:nvSpPr>
          <p:cNvPr id="8" name="Text 4"/>
          <p:cNvSpPr/>
          <p:nvPr>
            <p:custDataLst>
              <p:tags r:id="rId7"/>
            </p:custDataLst>
          </p:nvPr>
        </p:nvSpPr>
        <p:spPr>
          <a:xfrm>
            <a:off x="5504989" y="3578860"/>
            <a:ext cx="6212657" cy="106299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系统能根据用户的实时回答，进行3-5轮具有逻辑深度和上下文关联的追问，实现对用户技术深度的压力测试。</a:t>
            </a:r>
            <a:endParaRPr lang="en-US" sz="1600" dirty="0"/>
          </a:p>
        </p:txBody>
      </p:sp>
      <p:sp>
        <p:nvSpPr>
          <p:cNvPr id="9" name="Text 5"/>
          <p:cNvSpPr/>
          <p:nvPr>
            <p:custDataLst>
              <p:tags r:id="rId8"/>
            </p:custDataLst>
          </p:nvPr>
        </p:nvSpPr>
        <p:spPr>
          <a:xfrm>
            <a:off x="5503719" y="4807585"/>
            <a:ext cx="5899611" cy="368300"/>
          </a:xfrm>
          <a:prstGeom prst="rect">
            <a:avLst/>
          </a:prstGeom>
          <a:noFill/>
        </p:spPr>
        <p:txBody>
          <a:bodyPr wrap="square" lIns="91440" tIns="45720" rIns="91440" bIns="4572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专业题库动态融入</a:t>
            </a:r>
            <a:endParaRPr lang="en-US" sz="1600" dirty="0"/>
          </a:p>
        </p:txBody>
      </p:sp>
      <p:sp>
        <p:nvSpPr>
          <p:cNvPr id="10" name="Text 6"/>
          <p:cNvSpPr/>
          <p:nvPr>
            <p:custDataLst>
              <p:tags r:id="rId9"/>
            </p:custDataLst>
          </p:nvPr>
        </p:nvSpPr>
        <p:spPr>
          <a:xfrm>
            <a:off x="5504989" y="5175885"/>
            <a:ext cx="6280600" cy="110490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在自由对话之外，系统会根据岗位画像，动态地从题库中抽取专业题目，确保面试的广度和深度。</a:t>
            </a:r>
            <a:endParaRPr lang="en-US" sz="1600" dirty="0"/>
          </a:p>
        </p:txBody>
      </p:sp>
      <p:sp>
        <p:nvSpPr>
          <p:cNvPr id="11" name="Shape 7"/>
          <p:cNvSpPr/>
          <p:nvPr>
            <p:custDataLst>
              <p:tags r:id="rId10"/>
            </p:custDataLst>
          </p:nvPr>
        </p:nvSpPr>
        <p:spPr>
          <a:xfrm>
            <a:off x="5159375" y="1758950"/>
            <a:ext cx="0" cy="4522470"/>
          </a:xfrm>
          <a:prstGeom prst="line">
            <a:avLst/>
          </a:prstGeom>
          <a:noFill/>
          <a:ln w="25400">
            <a:gradFill flip="none" rotWithShape="1">
              <a:gsLst>
                <a:gs pos="0">
                  <a:srgbClr val="5A7DD4"/>
                </a:gs>
                <a:gs pos="47000">
                  <a:srgbClr val="5A7DD4"/>
                </a:gs>
                <a:gs pos="100000">
                  <a:srgbClr val="C8D5EF"/>
                </a:gs>
              </a:gsLst>
              <a:lin ang="5400000" scaled="1"/>
            </a:gradFill>
            <a:prstDash val="sysDot"/>
            <a:headEnd type="none"/>
            <a:tailEnd type="none"/>
          </a:ln>
        </p:spPr>
      </p:sp>
      <p:pic>
        <p:nvPicPr>
          <p:cNvPr id="12" name="Image 2" descr="https://test-kimi-img.moonshot.cn/pub/slides/slides_tmpl/image/25-07-11-18:10:12-d1oe615cmrb5eq9iqarg.png"/>
          <p:cNvPicPr>
            <a:picLocks noChangeAspect="1"/>
          </p:cNvPicPr>
          <p:nvPr/>
        </p:nvPicPr>
        <p:blipFill>
          <a:blip r:embed="rId11"/>
          <a:stretch>
            <a:fillRect/>
          </a:stretch>
        </p:blipFill>
        <p:spPr>
          <a:xfrm>
            <a:off x="354965" y="208280"/>
            <a:ext cx="1073150" cy="554990"/>
          </a:xfrm>
          <a:prstGeom prst="rect">
            <a:avLst/>
          </a:prstGeom>
        </p:spPr>
      </p:pic>
      <p:pic>
        <p:nvPicPr>
          <p:cNvPr id="13" name="Image 3" descr="https://test-kimi-img.moonshot.cn/pub/slides/slides_tmpl/image/25-07-11-18:10:11-d1oe60tcmrb5eq9iqapg.png"/>
          <p:cNvPicPr>
            <a:picLocks noChangeAspect="1"/>
          </p:cNvPicPr>
          <p:nvPr/>
        </p:nvPicPr>
        <p:blipFill>
          <a:blip r:embed="rId12"/>
          <a:stretch>
            <a:fillRect/>
          </a:stretch>
        </p:blipFill>
        <p:spPr>
          <a:xfrm rot="11520000">
            <a:off x="10706735" y="-624205"/>
            <a:ext cx="1950720" cy="1950720"/>
          </a:xfrm>
          <a:prstGeom prst="rect">
            <a:avLst/>
          </a:prstGeom>
        </p:spPr>
      </p:pic>
      <p:pic>
        <p:nvPicPr>
          <p:cNvPr id="14" name="Image 4" descr="https://test-kimi-img.moonshot.cn/pub/slides/slides_tmpl/image/25-07-11-18:10:08-d1oe605cmrb5eq9iqac0.png"/>
          <p:cNvPicPr>
            <a:picLocks noChangeAspect="1"/>
          </p:cNvPicPr>
          <p:nvPr/>
        </p:nvPicPr>
        <p:blipFill>
          <a:blip r:embed="rId13"/>
          <a:stretch>
            <a:fillRect/>
          </a:stretch>
        </p:blipFill>
        <p:spPr>
          <a:xfrm>
            <a:off x="11022965" y="394335"/>
            <a:ext cx="628015" cy="182880"/>
          </a:xfrm>
          <a:prstGeom prst="rect">
            <a:avLst/>
          </a:prstGeom>
        </p:spPr>
      </p:pic>
      <p:pic>
        <p:nvPicPr>
          <p:cNvPr id="15" name="Image 5" descr="https://test-kimi-img.moonshot.cn/pub/slides/slides_tmpl/image/25-07-11-18:10:17-d1oe62dcmrb5eq9iqbdg.png"/>
          <p:cNvPicPr>
            <a:picLocks noChangeAspect="1"/>
          </p:cNvPicPr>
          <p:nvPr>
            <p:custDataLst>
              <p:tags r:id="rId14"/>
            </p:custDataLst>
          </p:nvPr>
        </p:nvPicPr>
        <p:blipFill>
          <a:blip r:embed="rId15"/>
          <a:stretch>
            <a:fillRect/>
          </a:stretch>
        </p:blipFill>
        <p:spPr>
          <a:xfrm>
            <a:off x="4887595" y="4726305"/>
            <a:ext cx="530225" cy="530225"/>
          </a:xfrm>
          <a:prstGeom prst="rect">
            <a:avLst/>
          </a:prstGeom>
        </p:spPr>
      </p:pic>
      <p:pic>
        <p:nvPicPr>
          <p:cNvPr id="16" name="Image 6" descr="https://test-kimi-img.moonshot.cn/pub/slides/slides_tmpl/image/25-07-11-18:10:17-d1oe62dcmrb5eq9iqbeg.png"/>
          <p:cNvPicPr>
            <a:picLocks noChangeAspect="1"/>
          </p:cNvPicPr>
          <p:nvPr>
            <p:custDataLst>
              <p:tags r:id="rId16"/>
            </p:custDataLst>
          </p:nvPr>
        </p:nvPicPr>
        <p:blipFill>
          <a:blip r:embed="rId17"/>
          <a:stretch>
            <a:fillRect/>
          </a:stretch>
        </p:blipFill>
        <p:spPr>
          <a:xfrm>
            <a:off x="4887595" y="3116580"/>
            <a:ext cx="530225" cy="530225"/>
          </a:xfrm>
          <a:prstGeom prst="rect">
            <a:avLst/>
          </a:prstGeom>
        </p:spPr>
      </p:pic>
      <p:pic>
        <p:nvPicPr>
          <p:cNvPr id="17" name="Image 7" descr="https://test-kimi-img.moonshot.cn/pub/slides/slides_tmpl/image/25-07-11-18:10:17-d1oe62dcmrb5eq9iqbf0.png"/>
          <p:cNvPicPr>
            <a:picLocks noChangeAspect="1"/>
          </p:cNvPicPr>
          <p:nvPr>
            <p:custDataLst>
              <p:tags r:id="rId18"/>
            </p:custDataLst>
          </p:nvPr>
        </p:nvPicPr>
        <p:blipFill>
          <a:blip r:embed="rId19"/>
          <a:stretch>
            <a:fillRect/>
          </a:stretch>
        </p:blipFill>
        <p:spPr>
          <a:xfrm>
            <a:off x="4887595" y="1570990"/>
            <a:ext cx="530225" cy="530225"/>
          </a:xfrm>
          <a:prstGeom prst="rect">
            <a:avLst/>
          </a:prstGeom>
        </p:spPr>
      </p:pic>
      <p:pic>
        <p:nvPicPr>
          <p:cNvPr id="19" name="图片 18" descr="图片3"/>
          <p:cNvPicPr>
            <a:picLocks noChangeAspect="1"/>
          </p:cNvPicPr>
          <p:nvPr/>
        </p:nvPicPr>
        <p:blipFill>
          <a:blip r:embed="rId20"/>
          <a:stretch>
            <a:fillRect/>
          </a:stretch>
        </p:blipFill>
        <p:spPr>
          <a:xfrm>
            <a:off x="0" y="0"/>
            <a:ext cx="421005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50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16-d1oe625cmrb5eq9iqb8g.jpeg"/>
          <p:cNvPicPr>
            <a:picLocks noChangeAspect="1"/>
          </p:cNvPicPr>
          <p:nvPr/>
        </p:nvPicPr>
        <p:blipFill>
          <a:blip r:embed="rId2"/>
          <a:srcRect t="170" b="200"/>
          <a:stretch>
            <a:fillRect/>
          </a:stretch>
        </p:blipFill>
        <p:spPr>
          <a:xfrm>
            <a:off x="0" y="866775"/>
            <a:ext cx="12192000" cy="2177415"/>
          </a:xfrm>
          <a:prstGeom prst="rect">
            <a:avLst/>
          </a:prstGeom>
        </p:spPr>
      </p:pic>
      <p:sp>
        <p:nvSpPr>
          <p:cNvPr id="3" name="Text 0"/>
          <p:cNvSpPr/>
          <p:nvPr/>
        </p:nvSpPr>
        <p:spPr>
          <a:xfrm>
            <a:off x="476885" y="4243070"/>
            <a:ext cx="3335655" cy="1867535"/>
          </a:xfrm>
          <a:prstGeom prst="rect">
            <a:avLst/>
          </a:prstGeom>
          <a:noFill/>
        </p:spPr>
        <p:txBody>
          <a:bodyPr wrap="square" lIns="0" tIns="0" rIns="0" bIns="4699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将岗位要求与用户表现可视化匹配，用户在哪方面强，哪方面弱，一目了然。</a:t>
            </a:r>
            <a:endParaRPr lang="en-US" sz="1600" dirty="0"/>
          </a:p>
        </p:txBody>
      </p:sp>
      <p:sp>
        <p:nvSpPr>
          <p:cNvPr id="4" name="Text 1"/>
          <p:cNvSpPr/>
          <p:nvPr/>
        </p:nvSpPr>
        <p:spPr>
          <a:xfrm>
            <a:off x="4368165" y="4243070"/>
            <a:ext cx="3335655" cy="1867535"/>
          </a:xfrm>
          <a:prstGeom prst="rect">
            <a:avLst/>
          </a:prstGeom>
          <a:noFill/>
        </p:spPr>
        <p:txBody>
          <a:bodyPr wrap="square" lIns="0" tIns="0" rIns="0" bIns="4699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内容逻辑评估回答与问题的相关性、逻辑结构的完整性；言语表达量化语速、流畅度；视觉仪态识别情绪分布、身体姿态。</a:t>
            </a:r>
            <a:endParaRPr lang="en-US" sz="1600" dirty="0"/>
          </a:p>
        </p:txBody>
      </p:sp>
      <p:sp>
        <p:nvSpPr>
          <p:cNvPr id="5" name="Text 2"/>
          <p:cNvSpPr/>
          <p:nvPr/>
        </p:nvSpPr>
        <p:spPr>
          <a:xfrm>
            <a:off x="8312150" y="4253230"/>
            <a:ext cx="3335655" cy="1867535"/>
          </a:xfrm>
          <a:prstGeom prst="rect">
            <a:avLst/>
          </a:prstGeom>
          <a:noFill/>
        </p:spPr>
        <p:txBody>
          <a:bodyPr wrap="square" lIns="0" tIns="0" rIns="0" bIns="4699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根据报告中的弱项，系统为用户推荐针对性的学习资源，赋能用户改进。</a:t>
            </a:r>
            <a:endParaRPr lang="en-US" sz="1600" dirty="0"/>
          </a:p>
        </p:txBody>
      </p:sp>
      <p:pic>
        <p:nvPicPr>
          <p:cNvPr id="6" name="Image 1" descr="https://test-kimi-img.moonshot.cn/pub/slides/slides_tmpl/image/25-07-11-18:10:16-d1oe625cmrb5eq9iqb9g.png"/>
          <p:cNvPicPr>
            <a:picLocks noChangeAspect="1"/>
          </p:cNvPicPr>
          <p:nvPr/>
        </p:nvPicPr>
        <p:blipFill>
          <a:blip r:embed="rId3"/>
          <a:stretch>
            <a:fillRect/>
          </a:stretch>
        </p:blipFill>
        <p:spPr>
          <a:xfrm>
            <a:off x="922338" y="4041458"/>
            <a:ext cx="2489200" cy="88900"/>
          </a:xfrm>
          <a:prstGeom prst="rect">
            <a:avLst/>
          </a:prstGeom>
        </p:spPr>
      </p:pic>
      <p:pic>
        <p:nvPicPr>
          <p:cNvPr id="7" name="Image 2" descr="https://test-kimi-img.moonshot.cn/pub/slides/slides_tmpl/image/25-07-11-18:10:16-d1oe625cmrb5eq9iqb9g.png"/>
          <p:cNvPicPr>
            <a:picLocks noChangeAspect="1"/>
          </p:cNvPicPr>
          <p:nvPr/>
        </p:nvPicPr>
        <p:blipFill>
          <a:blip r:embed="rId3"/>
          <a:stretch>
            <a:fillRect/>
          </a:stretch>
        </p:blipFill>
        <p:spPr>
          <a:xfrm>
            <a:off x="4814190" y="4041458"/>
            <a:ext cx="2489200" cy="88900"/>
          </a:xfrm>
          <a:prstGeom prst="rect">
            <a:avLst/>
          </a:prstGeom>
        </p:spPr>
      </p:pic>
      <p:pic>
        <p:nvPicPr>
          <p:cNvPr id="8" name="Image 3" descr="https://test-kimi-img.moonshot.cn/pub/slides/slides_tmpl/image/25-07-11-18:10:16-d1oe625cmrb5eq9iqb9g.png"/>
          <p:cNvPicPr>
            <a:picLocks noChangeAspect="1"/>
          </p:cNvPicPr>
          <p:nvPr/>
        </p:nvPicPr>
        <p:blipFill>
          <a:blip r:embed="rId3"/>
          <a:stretch>
            <a:fillRect/>
          </a:stretch>
        </p:blipFill>
        <p:spPr>
          <a:xfrm>
            <a:off x="8757603" y="4051618"/>
            <a:ext cx="2489200" cy="88900"/>
          </a:xfrm>
          <a:prstGeom prst="rect">
            <a:avLst/>
          </a:prstGeom>
        </p:spPr>
      </p:pic>
      <p:pic>
        <p:nvPicPr>
          <p:cNvPr id="9" name="Image 4" descr="https://test-kimi-img.moonshot.cn/pub/slides/slides_tmpl/image/25-07-11-18:10:16-d1oe625cmrb5eq9iqba0.png"/>
          <p:cNvPicPr>
            <a:picLocks noChangeAspect="1"/>
          </p:cNvPicPr>
          <p:nvPr/>
        </p:nvPicPr>
        <p:blipFill>
          <a:blip r:embed="rId4"/>
          <a:stretch>
            <a:fillRect/>
          </a:stretch>
        </p:blipFill>
        <p:spPr>
          <a:xfrm>
            <a:off x="4098097" y="3631248"/>
            <a:ext cx="25400" cy="3060700"/>
          </a:xfrm>
          <a:prstGeom prst="rect">
            <a:avLst/>
          </a:prstGeom>
        </p:spPr>
      </p:pic>
      <p:pic>
        <p:nvPicPr>
          <p:cNvPr id="10" name="Image 5" descr="https://test-kimi-img.moonshot.cn/pub/slides/slides_tmpl/image/25-07-11-18:10:16-d1oe625cmrb5eq9iqba0.png"/>
          <p:cNvPicPr>
            <a:picLocks noChangeAspect="1"/>
          </p:cNvPicPr>
          <p:nvPr/>
        </p:nvPicPr>
        <p:blipFill>
          <a:blip r:embed="rId4"/>
          <a:stretch>
            <a:fillRect/>
          </a:stretch>
        </p:blipFill>
        <p:spPr>
          <a:xfrm>
            <a:off x="7965599" y="3656648"/>
            <a:ext cx="25400" cy="3060700"/>
          </a:xfrm>
          <a:prstGeom prst="rect">
            <a:avLst/>
          </a:prstGeom>
        </p:spPr>
      </p:pic>
      <p:sp>
        <p:nvSpPr>
          <p:cNvPr id="11" name="Shape 3"/>
          <p:cNvSpPr/>
          <p:nvPr/>
        </p:nvSpPr>
        <p:spPr>
          <a:xfrm>
            <a:off x="-635" y="635"/>
            <a:ext cx="12192635" cy="854710"/>
          </a:xfrm>
          <a:prstGeom prst="rect">
            <a:avLst/>
          </a:prstGeom>
          <a:solidFill>
            <a:srgbClr val="FFFFFF"/>
          </a:solidFill>
        </p:spPr>
      </p:sp>
      <p:sp>
        <p:nvSpPr>
          <p:cNvPr id="12" name="Text 4"/>
          <p:cNvSpPr/>
          <p:nvPr/>
        </p:nvSpPr>
        <p:spPr>
          <a:xfrm>
            <a:off x="-635" y="635"/>
            <a:ext cx="12192635" cy="8547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5"/>
          <p:cNvSpPr/>
          <p:nvPr/>
        </p:nvSpPr>
        <p:spPr>
          <a:xfrm>
            <a:off x="386080" y="194945"/>
            <a:ext cx="9518015" cy="622935"/>
          </a:xfrm>
          <a:prstGeom prst="rect">
            <a:avLst/>
          </a:prstGeom>
          <a:noFill/>
        </p:spPr>
        <p:txBody>
          <a:bodyPr wrap="square" lIns="91440" tIns="45720" rIns="91440" bIns="45720" rtlCol="0" anchor="ctr"/>
          <a:lstStyle/>
          <a:p>
            <a:pPr marL="0" indent="0" algn="l">
              <a:lnSpc>
                <a:spcPct val="100000"/>
              </a:lnSpc>
              <a:buNone/>
            </a:pPr>
            <a:r>
              <a:rPr lang="en-US" sz="3000" b="1" dirty="0">
                <a:solidFill>
                  <a:srgbClr val="4874CB"/>
                </a:solidFill>
                <a:latin typeface="MiSans" panose="00000500000000000000" pitchFamily="34" charset="-122"/>
                <a:ea typeface="MiSans" panose="00000500000000000000" pitchFamily="34" charset="-122"/>
                <a:cs typeface="MiSans" panose="00000500000000000000" pitchFamily="34" charset="-120"/>
              </a:rPr>
              <a:t>多维度分析报告</a:t>
            </a:r>
            <a:endParaRPr lang="en-US" sz="1600" dirty="0"/>
          </a:p>
        </p:txBody>
      </p:sp>
      <p:sp>
        <p:nvSpPr>
          <p:cNvPr id="14" name="Text 6"/>
          <p:cNvSpPr/>
          <p:nvPr/>
        </p:nvSpPr>
        <p:spPr>
          <a:xfrm>
            <a:off x="851535" y="3293745"/>
            <a:ext cx="2856865" cy="699135"/>
          </a:xfrm>
          <a:prstGeom prst="rect">
            <a:avLst/>
          </a:prstGeom>
          <a:noFill/>
        </p:spPr>
        <p:txBody>
          <a:bodyPr wrap="square" lIns="0" tIns="0" rIns="0" bIns="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岗位能力雷达图</a:t>
            </a:r>
            <a:endParaRPr lang="en-US" sz="1600" dirty="0"/>
          </a:p>
        </p:txBody>
      </p:sp>
      <p:sp>
        <p:nvSpPr>
          <p:cNvPr id="15" name="Text 7"/>
          <p:cNvSpPr/>
          <p:nvPr/>
        </p:nvSpPr>
        <p:spPr>
          <a:xfrm>
            <a:off x="4616450" y="3293745"/>
            <a:ext cx="2856865" cy="699135"/>
          </a:xfrm>
          <a:prstGeom prst="rect">
            <a:avLst/>
          </a:prstGeom>
          <a:noFill/>
        </p:spPr>
        <p:txBody>
          <a:bodyPr wrap="square" lIns="0" tIns="0" rIns="0" bIns="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全面的多模态量化指标</a:t>
            </a:r>
            <a:endParaRPr lang="en-US" sz="1600" dirty="0"/>
          </a:p>
        </p:txBody>
      </p:sp>
      <p:sp>
        <p:nvSpPr>
          <p:cNvPr id="16" name="Text 8"/>
          <p:cNvSpPr/>
          <p:nvPr/>
        </p:nvSpPr>
        <p:spPr>
          <a:xfrm>
            <a:off x="8482965" y="3298825"/>
            <a:ext cx="2856865" cy="699135"/>
          </a:xfrm>
          <a:prstGeom prst="rect">
            <a:avLst/>
          </a:prstGeom>
          <a:noFill/>
        </p:spPr>
        <p:txBody>
          <a:bodyPr wrap="square" lIns="0" tIns="0" rIns="0" bIns="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个性化学习推荐</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7-11-18:10:12-d1oe615cmrb5eq9iqas0.png"/>
          <p:cNvPicPr>
            <a:picLocks noChangeAspect="1"/>
          </p:cNvPicPr>
          <p:nvPr/>
        </p:nvPicPr>
        <p:blipFill>
          <a:blip r:embed="rId1"/>
          <a:stretch>
            <a:fillRect/>
          </a:stretch>
        </p:blipFill>
        <p:spPr>
          <a:xfrm rot="16200000">
            <a:off x="12004675" y="4376420"/>
            <a:ext cx="367030" cy="3537585"/>
          </a:xfrm>
          <a:prstGeom prst="rect">
            <a:avLst/>
          </a:prstGeom>
        </p:spPr>
      </p:pic>
      <p:pic>
        <p:nvPicPr>
          <p:cNvPr id="3" name="Image 1" descr="https://test-kimi-img.moonshot.cn/pub/slides/slides_tmpl/image/25-07-11-18:10:12-d1oe615cmrb5eq9iqas0.png"/>
          <p:cNvPicPr>
            <a:picLocks noChangeAspect="1"/>
          </p:cNvPicPr>
          <p:nvPr/>
        </p:nvPicPr>
        <p:blipFill>
          <a:blip r:embed="rId1"/>
          <a:stretch>
            <a:fillRect/>
          </a:stretch>
        </p:blipFill>
        <p:spPr>
          <a:xfrm rot="5400000">
            <a:off x="565150" y="3265805"/>
            <a:ext cx="652145" cy="6778625"/>
          </a:xfrm>
          <a:prstGeom prst="rect">
            <a:avLst/>
          </a:prstGeom>
        </p:spPr>
      </p:pic>
      <p:pic>
        <p:nvPicPr>
          <p:cNvPr id="4" name="Image 2" descr="https://test-kimi-img.moonshot.cn/pub/slides/slides_tmpl/image/25-07-11-18:10:12-d1oe615cmrb5eq9iqas0.png"/>
          <p:cNvPicPr>
            <a:picLocks noChangeAspect="1"/>
          </p:cNvPicPr>
          <p:nvPr/>
        </p:nvPicPr>
        <p:blipFill>
          <a:blip r:embed="rId1"/>
          <a:stretch>
            <a:fillRect/>
          </a:stretch>
        </p:blipFill>
        <p:spPr>
          <a:xfrm rot="16200000">
            <a:off x="11927205" y="4007485"/>
            <a:ext cx="521335" cy="5425440"/>
          </a:xfrm>
          <a:prstGeom prst="rect">
            <a:avLst/>
          </a:prstGeom>
        </p:spPr>
      </p:pic>
      <p:pic>
        <p:nvPicPr>
          <p:cNvPr id="5" name="Image 3" descr="https://test-kimi-img.moonshot.cn/pub/slides/slides_tmpl/image/25-07-11-18:10:18-d1oe62lcmrb5eq9iqbg0.png"/>
          <p:cNvPicPr>
            <a:picLocks noChangeAspect="1"/>
          </p:cNvPicPr>
          <p:nvPr>
            <p:custDataLst>
              <p:tags r:id="rId2"/>
            </p:custDataLst>
          </p:nvPr>
        </p:nvPicPr>
        <p:blipFill>
          <a:blip r:embed="rId3"/>
          <a:stretch>
            <a:fillRect/>
          </a:stretch>
        </p:blipFill>
        <p:spPr>
          <a:xfrm>
            <a:off x="8150860" y="1663700"/>
            <a:ext cx="3511550" cy="4431665"/>
          </a:xfrm>
          <a:prstGeom prst="rect">
            <a:avLst/>
          </a:prstGeom>
        </p:spPr>
      </p:pic>
      <p:pic>
        <p:nvPicPr>
          <p:cNvPr id="6" name="Image 4" descr="https://test-kimi-img.moonshot.cn/pub/slides/slides_tmpl/image/25-07-11-18:10:18-d1oe62lcmrb5eq9iqbg0.png"/>
          <p:cNvPicPr>
            <a:picLocks noChangeAspect="1"/>
          </p:cNvPicPr>
          <p:nvPr>
            <p:custDataLst>
              <p:tags r:id="rId4"/>
            </p:custDataLst>
          </p:nvPr>
        </p:nvPicPr>
        <p:blipFill>
          <a:blip r:embed="rId3"/>
          <a:stretch>
            <a:fillRect/>
          </a:stretch>
        </p:blipFill>
        <p:spPr>
          <a:xfrm>
            <a:off x="4474210" y="1663700"/>
            <a:ext cx="3511550" cy="4893945"/>
          </a:xfrm>
          <a:prstGeom prst="rect">
            <a:avLst/>
          </a:prstGeom>
        </p:spPr>
      </p:pic>
      <p:pic>
        <p:nvPicPr>
          <p:cNvPr id="7" name="Image 5" descr="https://test-kimi-img.moonshot.cn/pub/slides/slides_tmpl/image/25-07-11-18:10:18-d1oe62lcmrb5eq9iqbg0.png"/>
          <p:cNvPicPr>
            <a:picLocks noChangeAspect="1"/>
          </p:cNvPicPr>
          <p:nvPr>
            <p:custDataLst>
              <p:tags r:id="rId5"/>
            </p:custDataLst>
          </p:nvPr>
        </p:nvPicPr>
        <p:blipFill>
          <a:blip r:embed="rId3"/>
          <a:stretch>
            <a:fillRect/>
          </a:stretch>
        </p:blipFill>
        <p:spPr>
          <a:xfrm>
            <a:off x="706755" y="1663700"/>
            <a:ext cx="3511550" cy="4431665"/>
          </a:xfrm>
          <a:prstGeom prst="rect">
            <a:avLst/>
          </a:prstGeom>
        </p:spPr>
      </p:pic>
      <p:pic>
        <p:nvPicPr>
          <p:cNvPr id="8" name="Image 6" descr="https://test-kimi-img.moonshot.cn/pub/slides/slides_tmpl/image/25-07-11-18:10:09-d1oe60dcmrb5eq9iqafg.png"/>
          <p:cNvPicPr>
            <a:picLocks noChangeAspect="1"/>
          </p:cNvPicPr>
          <p:nvPr/>
        </p:nvPicPr>
        <p:blipFill>
          <a:blip r:embed="rId6">
            <a:alphaModFix amt="74000"/>
          </a:blip>
          <a:srcRect l="128" t="26683" r="-128" b="-4046"/>
          <a:stretch>
            <a:fillRect/>
          </a:stretch>
        </p:blipFill>
        <p:spPr>
          <a:xfrm>
            <a:off x="5582285" y="0"/>
            <a:ext cx="6927215" cy="2076450"/>
          </a:xfrm>
          <a:prstGeom prst="rect">
            <a:avLst/>
          </a:prstGeom>
        </p:spPr>
      </p:pic>
      <p:sp>
        <p:nvSpPr>
          <p:cNvPr id="9" name="Text 0"/>
          <p:cNvSpPr/>
          <p:nvPr/>
        </p:nvSpPr>
        <p:spPr>
          <a:xfrm>
            <a:off x="78994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“练-评-学”闭环生态</a:t>
            </a:r>
            <a:endParaRPr lang="en-US" sz="1600" dirty="0"/>
          </a:p>
        </p:txBody>
      </p:sp>
      <p:sp>
        <p:nvSpPr>
          <p:cNvPr id="10" name="Text 1"/>
          <p:cNvSpPr/>
          <p:nvPr>
            <p:custDataLst>
              <p:tags r:id="rId7"/>
            </p:custDataLst>
          </p:nvPr>
        </p:nvSpPr>
        <p:spPr>
          <a:xfrm>
            <a:off x="941705" y="2134235"/>
            <a:ext cx="3060700" cy="706755"/>
          </a:xfrm>
          <a:prstGeom prst="rect">
            <a:avLst/>
          </a:prstGeom>
          <a:noFill/>
        </p:spPr>
        <p:txBody>
          <a:bodyPr wrap="square" lIns="91440" tIns="45720" rIns="91440" bIns="4572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在线题库模块</a:t>
            </a:r>
            <a:endParaRPr lang="en-US" sz="1600" dirty="0"/>
          </a:p>
        </p:txBody>
      </p:sp>
      <p:sp>
        <p:nvSpPr>
          <p:cNvPr id="11" name="Text 2"/>
          <p:cNvSpPr/>
          <p:nvPr>
            <p:custDataLst>
              <p:tags r:id="rId8"/>
            </p:custDataLst>
          </p:nvPr>
        </p:nvSpPr>
        <p:spPr>
          <a:xfrm>
            <a:off x="4596130" y="2134235"/>
            <a:ext cx="3060700" cy="706755"/>
          </a:xfrm>
          <a:prstGeom prst="rect">
            <a:avLst/>
          </a:prstGeom>
          <a:noFill/>
        </p:spPr>
        <p:txBody>
          <a:bodyPr wrap="square" lIns="91440" tIns="45720" rIns="91440" bIns="4572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AI 助手</a:t>
            </a:r>
            <a:endParaRPr lang="en-US" sz="1600" dirty="0"/>
          </a:p>
        </p:txBody>
      </p:sp>
      <p:sp>
        <p:nvSpPr>
          <p:cNvPr id="12" name="Text 3"/>
          <p:cNvSpPr/>
          <p:nvPr>
            <p:custDataLst>
              <p:tags r:id="rId9"/>
            </p:custDataLst>
          </p:nvPr>
        </p:nvSpPr>
        <p:spPr>
          <a:xfrm>
            <a:off x="8312150" y="2134235"/>
            <a:ext cx="3060700" cy="706755"/>
          </a:xfrm>
          <a:prstGeom prst="rect">
            <a:avLst/>
          </a:prstGeom>
          <a:noFill/>
        </p:spPr>
        <p:txBody>
          <a:bodyPr wrap="square" lIns="91440" tIns="45720" rIns="91440" bIns="4572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个人中心与成长追踪</a:t>
            </a:r>
            <a:endParaRPr lang="en-US" sz="1600" dirty="0"/>
          </a:p>
        </p:txBody>
      </p:sp>
      <p:sp>
        <p:nvSpPr>
          <p:cNvPr id="13" name="Text 4"/>
          <p:cNvSpPr/>
          <p:nvPr>
            <p:custDataLst>
              <p:tags r:id="rId10"/>
            </p:custDataLst>
          </p:nvPr>
        </p:nvSpPr>
        <p:spPr>
          <a:xfrm>
            <a:off x="888365" y="2982595"/>
            <a:ext cx="3060700" cy="235331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提供按领域、岗位、难度筛选的专业题库，支持专项练习和知识点自查。</a:t>
            </a:r>
            <a:endParaRPr lang="en-US" sz="1600" dirty="0"/>
          </a:p>
        </p:txBody>
      </p:sp>
      <p:sp>
        <p:nvSpPr>
          <p:cNvPr id="14" name="Text 5"/>
          <p:cNvSpPr/>
          <p:nvPr>
            <p:custDataLst>
              <p:tags r:id="rId11"/>
            </p:custDataLst>
          </p:nvPr>
        </p:nvSpPr>
        <p:spPr>
          <a:xfrm>
            <a:off x="4604385" y="2982595"/>
            <a:ext cx="3060700" cy="235331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7x24小时在线，即时解答面试准备中的问题，提供学习支持。</a:t>
            </a:r>
            <a:endParaRPr lang="en-US" sz="1600" dirty="0"/>
          </a:p>
        </p:txBody>
      </p:sp>
      <p:sp>
        <p:nvSpPr>
          <p:cNvPr id="15" name="Text 6"/>
          <p:cNvSpPr/>
          <p:nvPr>
            <p:custDataLst>
              <p:tags r:id="rId12"/>
            </p:custDataLst>
          </p:nvPr>
        </p:nvSpPr>
        <p:spPr>
          <a:xfrm>
            <a:off x="8328660" y="3013710"/>
            <a:ext cx="3060700" cy="235331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系统保存面试记录与报告，用户可追踪进步轨迹，形成成长档案。</a:t>
            </a:r>
            <a:endParaRPr lang="en-US" sz="1600" dirty="0"/>
          </a:p>
        </p:txBody>
      </p:sp>
      <p:pic>
        <p:nvPicPr>
          <p:cNvPr id="16" name="Image 7" descr="https://test-kimi-img.moonshot.cn/pub/slides/slides_tmpl/image/25-07-11-18:10:12-d1oe615cmrb5eq9iqarg.png"/>
          <p:cNvPicPr>
            <a:picLocks noChangeAspect="1"/>
          </p:cNvPicPr>
          <p:nvPr/>
        </p:nvPicPr>
        <p:blipFill>
          <a:blip r:embed="rId13"/>
          <a:stretch>
            <a:fillRect/>
          </a:stretch>
        </p:blipFill>
        <p:spPr>
          <a:xfrm>
            <a:off x="354965" y="208280"/>
            <a:ext cx="1073150" cy="554990"/>
          </a:xfrm>
          <a:prstGeom prst="rect">
            <a:avLst/>
          </a:prstGeom>
        </p:spPr>
      </p:pic>
      <p:pic>
        <p:nvPicPr>
          <p:cNvPr id="17" name="Image 8" descr="https://test-kimi-img.moonshot.cn/pub/slides/slides_tmpl/image/25-07-11-18:10:11-d1oe60tcmrb5eq9iqapg.png"/>
          <p:cNvPicPr>
            <a:picLocks noChangeAspect="1"/>
          </p:cNvPicPr>
          <p:nvPr/>
        </p:nvPicPr>
        <p:blipFill>
          <a:blip r:embed="rId14"/>
          <a:stretch>
            <a:fillRect/>
          </a:stretch>
        </p:blipFill>
        <p:spPr>
          <a:xfrm rot="11520000">
            <a:off x="10706735" y="-624205"/>
            <a:ext cx="1950720" cy="1950720"/>
          </a:xfrm>
          <a:prstGeom prst="rect">
            <a:avLst/>
          </a:prstGeom>
        </p:spPr>
      </p:pic>
      <p:pic>
        <p:nvPicPr>
          <p:cNvPr id="18" name="Image 9" descr="https://test-kimi-img.moonshot.cn/pub/slides/slides_tmpl/image/25-07-11-18:10:08-d1oe605cmrb5eq9iqac0.png"/>
          <p:cNvPicPr>
            <a:picLocks noChangeAspect="1"/>
          </p:cNvPicPr>
          <p:nvPr/>
        </p:nvPicPr>
        <p:blipFill>
          <a:blip r:embed="rId15"/>
          <a:stretch>
            <a:fillRect/>
          </a:stretch>
        </p:blipFill>
        <p:spPr>
          <a:xfrm>
            <a:off x="11022965" y="394335"/>
            <a:ext cx="628015" cy="182880"/>
          </a:xfrm>
          <a:prstGeom prst="rect">
            <a:avLst/>
          </a:prstGeom>
        </p:spPr>
      </p:pic>
      <p:pic>
        <p:nvPicPr>
          <p:cNvPr id="19" name="Image 10" descr="https://test-kimi-img.moonshot.cn/pub/slides/slides_tmpl/image/25-07-11-18:10:18-d1oe62lcmrb5eq9iqbh0.png"/>
          <p:cNvPicPr>
            <a:picLocks noChangeAspect="1"/>
          </p:cNvPicPr>
          <p:nvPr>
            <p:custDataLst>
              <p:tags r:id="rId16"/>
            </p:custDataLst>
          </p:nvPr>
        </p:nvPicPr>
        <p:blipFill>
          <a:blip r:embed="rId17"/>
          <a:stretch>
            <a:fillRect/>
          </a:stretch>
        </p:blipFill>
        <p:spPr>
          <a:xfrm>
            <a:off x="2044065" y="1318260"/>
            <a:ext cx="810895" cy="810895"/>
          </a:xfrm>
          <a:prstGeom prst="rect">
            <a:avLst/>
          </a:prstGeom>
        </p:spPr>
      </p:pic>
      <p:pic>
        <p:nvPicPr>
          <p:cNvPr id="20" name="Image 11" descr="https://test-kimi-img.moonshot.cn/pub/slides/slides_tmpl/image/25-07-11-18:10:19-d1oe62tcmrb5eq9iqbi0.png"/>
          <p:cNvPicPr>
            <a:picLocks noChangeAspect="1"/>
          </p:cNvPicPr>
          <p:nvPr>
            <p:custDataLst>
              <p:tags r:id="rId18"/>
            </p:custDataLst>
          </p:nvPr>
        </p:nvPicPr>
        <p:blipFill>
          <a:blip r:embed="rId19"/>
          <a:stretch>
            <a:fillRect/>
          </a:stretch>
        </p:blipFill>
        <p:spPr>
          <a:xfrm>
            <a:off x="5839460" y="1333500"/>
            <a:ext cx="780415" cy="780415"/>
          </a:xfrm>
          <a:prstGeom prst="rect">
            <a:avLst/>
          </a:prstGeom>
        </p:spPr>
      </p:pic>
      <p:pic>
        <p:nvPicPr>
          <p:cNvPr id="21" name="Image 12" descr="https://test-kimi-img.moonshot.cn/pub/slides/slides_tmpl/image/25-07-11-18:10:19-d1oe62tcmrb5eq9iqbhg.png"/>
          <p:cNvPicPr>
            <a:picLocks noChangeAspect="1"/>
          </p:cNvPicPr>
          <p:nvPr>
            <p:custDataLst>
              <p:tags r:id="rId20"/>
            </p:custDataLst>
          </p:nvPr>
        </p:nvPicPr>
        <p:blipFill>
          <a:blip r:embed="rId21"/>
          <a:stretch>
            <a:fillRect/>
          </a:stretch>
        </p:blipFill>
        <p:spPr>
          <a:xfrm>
            <a:off x="9620250" y="1333500"/>
            <a:ext cx="780415" cy="780415"/>
          </a:xfrm>
          <a:prstGeom prst="rect">
            <a:avLst/>
          </a:prstGeom>
        </p:spPr>
      </p:pic>
      <p:pic>
        <p:nvPicPr>
          <p:cNvPr id="22" name="Image 13" descr="https://test-kimi-img.moonshot.cn/pub/slides/slides_tmpl/image/25-07-11-18:10:19-d1oe62tcmrb5eq9iqbig.png"/>
          <p:cNvPicPr>
            <a:picLocks noChangeAspect="1"/>
          </p:cNvPicPr>
          <p:nvPr>
            <p:custDataLst>
              <p:tags r:id="rId22"/>
            </p:custDataLst>
          </p:nvPr>
        </p:nvPicPr>
        <p:blipFill>
          <a:blip r:embed="rId23"/>
          <a:stretch>
            <a:fillRect/>
          </a:stretch>
        </p:blipFill>
        <p:spPr>
          <a:xfrm>
            <a:off x="3221355" y="5160645"/>
            <a:ext cx="883920" cy="859790"/>
          </a:xfrm>
          <a:prstGeom prst="rect">
            <a:avLst/>
          </a:prstGeom>
        </p:spPr>
      </p:pic>
      <p:pic>
        <p:nvPicPr>
          <p:cNvPr id="23" name="Image 14" descr="https://test-kimi-img.moonshot.cn/pub/slides/slides_tmpl/image/25-07-11-18:10:19-d1oe62tcmrb5eq9iqbj0.png"/>
          <p:cNvPicPr>
            <a:picLocks noChangeAspect="1"/>
          </p:cNvPicPr>
          <p:nvPr>
            <p:custDataLst>
              <p:tags r:id="rId24"/>
            </p:custDataLst>
          </p:nvPr>
        </p:nvPicPr>
        <p:blipFill>
          <a:blip r:embed="rId25"/>
          <a:stretch>
            <a:fillRect/>
          </a:stretch>
        </p:blipFill>
        <p:spPr>
          <a:xfrm>
            <a:off x="6958330" y="5160645"/>
            <a:ext cx="926465" cy="859790"/>
          </a:xfrm>
          <a:prstGeom prst="rect">
            <a:avLst/>
          </a:prstGeom>
        </p:spPr>
      </p:pic>
      <p:pic>
        <p:nvPicPr>
          <p:cNvPr id="24" name="Image 15" descr="https://test-kimi-img.moonshot.cn/pub/slides/slides_tmpl/image/25-07-11-18:10:19-d1oe62tcmrb5eq9iqbjg.png"/>
          <p:cNvPicPr>
            <a:picLocks noChangeAspect="1"/>
          </p:cNvPicPr>
          <p:nvPr>
            <p:custDataLst>
              <p:tags r:id="rId26"/>
            </p:custDataLst>
          </p:nvPr>
        </p:nvPicPr>
        <p:blipFill>
          <a:blip r:embed="rId27"/>
          <a:stretch>
            <a:fillRect/>
          </a:stretch>
        </p:blipFill>
        <p:spPr>
          <a:xfrm>
            <a:off x="10643235" y="5160645"/>
            <a:ext cx="932815" cy="859790"/>
          </a:xfrm>
          <a:prstGeom prst="rect">
            <a:avLst/>
          </a:prstGeom>
        </p:spPr>
      </p:pic>
      <p:pic>
        <p:nvPicPr>
          <p:cNvPr id="25" name="图片 24"/>
          <p:cNvPicPr>
            <a:picLocks noChangeAspect="1"/>
          </p:cNvPicPr>
          <p:nvPr>
            <p:custDataLst>
              <p:tags r:id="rId28"/>
            </p:custDataLst>
          </p:nvPr>
        </p:nvPicPr>
        <p:blipFill>
          <a:blip r:embed="rId29"/>
          <a:stretch>
            <a:fillRect/>
          </a:stretch>
        </p:blipFill>
        <p:spPr>
          <a:xfrm>
            <a:off x="4665345" y="3957955"/>
            <a:ext cx="2333625" cy="2441575"/>
          </a:xfrm>
          <a:prstGeom prst="rect">
            <a:avLst/>
          </a:prstGeom>
        </p:spPr>
      </p:pic>
      <p:pic>
        <p:nvPicPr>
          <p:cNvPr id="26" name="图片 25"/>
          <p:cNvPicPr>
            <a:picLocks noChangeAspect="1"/>
          </p:cNvPicPr>
          <p:nvPr>
            <p:custDataLst>
              <p:tags r:id="rId30"/>
            </p:custDataLst>
          </p:nvPr>
        </p:nvPicPr>
        <p:blipFill>
          <a:blip r:embed="rId31"/>
          <a:stretch>
            <a:fillRect/>
          </a:stretch>
        </p:blipFill>
        <p:spPr>
          <a:xfrm>
            <a:off x="1089025" y="3793490"/>
            <a:ext cx="2423795" cy="1542415"/>
          </a:xfrm>
          <a:prstGeom prst="rect">
            <a:avLst/>
          </a:prstGeom>
        </p:spPr>
      </p:pic>
      <p:pic>
        <p:nvPicPr>
          <p:cNvPr id="27" name="图片 26"/>
          <p:cNvPicPr>
            <a:picLocks noChangeAspect="1"/>
          </p:cNvPicPr>
          <p:nvPr>
            <p:custDataLst>
              <p:tags r:id="rId32"/>
            </p:custDataLst>
          </p:nvPr>
        </p:nvPicPr>
        <p:blipFill>
          <a:blip r:embed="rId33"/>
          <a:stretch>
            <a:fillRect/>
          </a:stretch>
        </p:blipFill>
        <p:spPr>
          <a:xfrm>
            <a:off x="8354695" y="3931285"/>
            <a:ext cx="3166110" cy="1452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90" y="-15875"/>
            <a:ext cx="10438130" cy="6880225"/>
          </a:xfrm>
          <a:prstGeom prst="rect">
            <a:avLst/>
          </a:prstGeom>
          <a:gradFill flip="none" rotWithShape="1">
            <a:gsLst>
              <a:gs pos="0">
                <a:srgbClr val="FFFFFF"/>
              </a:gs>
              <a:gs pos="100000">
                <a:srgbClr val="FFFFFF">
                  <a:alpha val="0"/>
                </a:srgbClr>
              </a:gs>
            </a:gsLst>
            <a:lin ang="0" scaled="1"/>
          </a:gradFill>
        </p:spPr>
      </p:sp>
      <p:sp>
        <p:nvSpPr>
          <p:cNvPr id="3" name="Text 1"/>
          <p:cNvSpPr/>
          <p:nvPr/>
        </p:nvSpPr>
        <p:spPr>
          <a:xfrm>
            <a:off x="8890" y="-15875"/>
            <a:ext cx="10438130" cy="688022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test-kimi-img.moonshot.cn/pub/slides/slides_tmpl/image/25-07-11-18:10:09-d1oe60dcmrb5eq9iqag0.png"/>
          <p:cNvPicPr>
            <a:picLocks noChangeAspect="1"/>
          </p:cNvPicPr>
          <p:nvPr/>
        </p:nvPicPr>
        <p:blipFill>
          <a:blip r:embed="rId2"/>
          <a:stretch>
            <a:fillRect/>
          </a:stretch>
        </p:blipFill>
        <p:spPr>
          <a:xfrm>
            <a:off x="612140" y="2388552"/>
            <a:ext cx="1600200" cy="1651000"/>
          </a:xfrm>
          <a:prstGeom prst="rect">
            <a:avLst/>
          </a:prstGeom>
        </p:spPr>
      </p:pic>
      <p:pic>
        <p:nvPicPr>
          <p:cNvPr id="5" name="Image 1" descr="https://test-kimi-img.moonshot.cn/pub/slides/slides_tmpl/image/25-07-11-18:10:09-d1oe60dcmrb5eq9iqagg.png"/>
          <p:cNvPicPr>
            <a:picLocks noChangeAspect="1"/>
          </p:cNvPicPr>
          <p:nvPr/>
        </p:nvPicPr>
        <p:blipFill>
          <a:blip r:embed="rId3"/>
          <a:srcRect l="56" t="92" b="92"/>
          <a:stretch>
            <a:fillRect/>
          </a:stretch>
        </p:blipFill>
        <p:spPr>
          <a:xfrm>
            <a:off x="8890" y="0"/>
            <a:ext cx="6771640" cy="6858000"/>
          </a:xfrm>
          <a:prstGeom prst="rect">
            <a:avLst/>
          </a:prstGeom>
        </p:spPr>
      </p:pic>
      <p:pic>
        <p:nvPicPr>
          <p:cNvPr id="6" name="Image 2" descr="https://test-kimi-img.moonshot.cn/pub/slides/slides_tmpl/image/25-07-11-18:10:09-d1oe60dcmrb5eq9iqah0.png"/>
          <p:cNvPicPr>
            <a:picLocks noChangeAspect="1"/>
          </p:cNvPicPr>
          <p:nvPr/>
        </p:nvPicPr>
        <p:blipFill>
          <a:blip r:embed="rId4"/>
          <a:stretch>
            <a:fillRect/>
          </a:stretch>
        </p:blipFill>
        <p:spPr>
          <a:xfrm>
            <a:off x="854710" y="2689860"/>
            <a:ext cx="1859280" cy="1871345"/>
          </a:xfrm>
          <a:prstGeom prst="rect">
            <a:avLst/>
          </a:prstGeom>
        </p:spPr>
      </p:pic>
      <p:sp>
        <p:nvSpPr>
          <p:cNvPr id="7" name="Text 2"/>
          <p:cNvSpPr/>
          <p:nvPr/>
        </p:nvSpPr>
        <p:spPr>
          <a:xfrm>
            <a:off x="2637790" y="2865755"/>
            <a:ext cx="8900160" cy="951865"/>
          </a:xfrm>
          <a:prstGeom prst="rect">
            <a:avLst/>
          </a:prstGeom>
          <a:noFill/>
        </p:spPr>
        <p:txBody>
          <a:bodyPr wrap="square" lIns="91440" tIns="45720" rIns="91440" bIns="45720" rtlCol="0" anchor="t"/>
          <a:lstStyle/>
          <a:p>
            <a:pPr marL="0" indent="0" algn="l">
              <a:lnSpc>
                <a:spcPct val="100000"/>
              </a:lnSpc>
              <a:buNone/>
            </a:pPr>
            <a:r>
              <a:rPr lang="en-US" sz="5000" b="1" dirty="0">
                <a:solidFill>
                  <a:srgbClr val="4874CB"/>
                </a:solidFill>
                <a:latin typeface="MiSans" panose="00000500000000000000" pitchFamily="34" charset="-122"/>
                <a:ea typeface="MiSans" panose="00000500000000000000" pitchFamily="34" charset="-122"/>
                <a:cs typeface="MiSans" panose="00000500000000000000" pitchFamily="34" charset="-120"/>
              </a:rPr>
              <a:t>系统架构与技术实现</a:t>
            </a:r>
            <a:endParaRPr lang="en-US" sz="1600" dirty="0"/>
          </a:p>
        </p:txBody>
      </p:sp>
      <p:sp>
        <p:nvSpPr>
          <p:cNvPr id="8" name="Text 3"/>
          <p:cNvSpPr/>
          <p:nvPr/>
        </p:nvSpPr>
        <p:spPr>
          <a:xfrm>
            <a:off x="2647950" y="3747135"/>
            <a:ext cx="8497570" cy="460375"/>
          </a:xfrm>
          <a:prstGeom prst="rect">
            <a:avLst/>
          </a:prstGeom>
          <a:noFill/>
        </p:spPr>
        <p:txBody>
          <a:bodyPr wrap="square" lIns="91440" tIns="45720" rIns="91440" bIns="45720" rtlCol="0" anchor="t">
            <a:spAutoFit/>
          </a:bodyPr>
          <a:lstStyle/>
          <a:p>
            <a:pPr marL="0" indent="0" algn="l">
              <a:lnSpc>
                <a:spcPct val="150000"/>
              </a:lnSpc>
              <a:buNone/>
            </a:pPr>
            <a:r>
              <a:rPr lang="en-US" sz="1600" b="1" dirty="0">
                <a:solidFill>
                  <a:srgbClr val="000000"/>
                </a:solidFill>
                <a:latin typeface="MiSans" panose="00000500000000000000" pitchFamily="34" charset="-122"/>
                <a:ea typeface="MiSans" panose="00000500000000000000" pitchFamily="34" charset="-122"/>
                <a:cs typeface="MiSans" panose="00000500000000000000" pitchFamily="34" charset="-120"/>
              </a:rPr>
              <a:t>System Architecture and Technical Implementation</a:t>
            </a:r>
            <a:endParaRPr lang="en-US" sz="1600" dirty="0"/>
          </a:p>
        </p:txBody>
      </p:sp>
      <p:sp>
        <p:nvSpPr>
          <p:cNvPr id="9" name="Shape 4"/>
          <p:cNvSpPr/>
          <p:nvPr/>
        </p:nvSpPr>
        <p:spPr>
          <a:xfrm>
            <a:off x="1187450" y="2612390"/>
            <a:ext cx="1508125" cy="1494155"/>
          </a:xfrm>
          <a:prstGeom prst="rect">
            <a:avLst/>
          </a:prstGeom>
          <a:solidFill>
            <a:srgbClr val="000000">
              <a:alpha val="0"/>
            </a:srgbClr>
          </a:solidFill>
        </p:spPr>
      </p:sp>
      <p:sp>
        <p:nvSpPr>
          <p:cNvPr id="10" name="Text 5"/>
          <p:cNvSpPr/>
          <p:nvPr/>
        </p:nvSpPr>
        <p:spPr>
          <a:xfrm>
            <a:off x="1187450" y="2612390"/>
            <a:ext cx="1508125" cy="1494155"/>
          </a:xfrm>
          <a:prstGeom prst="rect">
            <a:avLst/>
          </a:prstGeom>
          <a:noFill/>
        </p:spPr>
        <p:txBody>
          <a:bodyPr wrap="square" lIns="46863" tIns="90043" rIns="90043" bIns="46863" rtlCol="0" anchor="ctr"/>
          <a:lstStyle/>
          <a:p>
            <a:pPr marL="0" indent="0" algn="l">
              <a:lnSpc>
                <a:spcPct val="130000"/>
              </a:lnSpc>
              <a:buNone/>
            </a:pPr>
            <a:r>
              <a:rPr lang="en-US" sz="4500" dirty="0">
                <a:solidFill>
                  <a:srgbClr val="FFFFFF"/>
                </a:solidFill>
                <a:latin typeface="MiSans" panose="00000500000000000000" pitchFamily="34" charset="-122"/>
                <a:ea typeface="MiSans" panose="00000500000000000000" pitchFamily="34" charset="-122"/>
                <a:cs typeface="MiSans" panose="00000500000000000000" pitchFamily="34" charset="-120"/>
              </a:rPr>
              <a:t>04</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5" name="Image 3" descr="https://test-kimi-img.moonshot.cn/pub/slides/slides_tmpl/image/25-07-11-18:10:12-d1oe615cmrb5eq9iqas0.png"/>
          <p:cNvPicPr>
            <a:picLocks noChangeAspect="1"/>
          </p:cNvPicPr>
          <p:nvPr/>
        </p:nvPicPr>
        <p:blipFill>
          <a:blip r:embed="rId2"/>
          <a:stretch>
            <a:fillRect/>
          </a:stretch>
        </p:blipFill>
        <p:spPr>
          <a:xfrm rot="16200000">
            <a:off x="3418205" y="2958465"/>
            <a:ext cx="652145" cy="6778625"/>
          </a:xfrm>
          <a:prstGeom prst="rect">
            <a:avLst/>
          </a:prstGeom>
        </p:spPr>
      </p:pic>
      <p:pic>
        <p:nvPicPr>
          <p:cNvPr id="6" name="Image 4" descr="https://test-kimi-img.moonshot.cn/pub/slides/slides_tmpl/image/25-07-11-18:10:12-d1oe615cmrb5eq9iqarg.png"/>
          <p:cNvPicPr>
            <a:picLocks noChangeAspect="1"/>
          </p:cNvPicPr>
          <p:nvPr/>
        </p:nvPicPr>
        <p:blipFill>
          <a:blip r:embed="rId3"/>
          <a:stretch>
            <a:fillRect/>
          </a:stretch>
        </p:blipFill>
        <p:spPr>
          <a:xfrm>
            <a:off x="354965" y="208280"/>
            <a:ext cx="1073150" cy="554990"/>
          </a:xfrm>
          <a:prstGeom prst="rect">
            <a:avLst/>
          </a:prstGeom>
        </p:spPr>
      </p:pic>
      <p:pic>
        <p:nvPicPr>
          <p:cNvPr id="7" name="Image 5" descr="https://test-kimi-img.moonshot.cn/pub/slides/slides_tmpl/image/25-07-11-18:10:11-d1oe60tcmrb5eq9iqapg.png"/>
          <p:cNvPicPr>
            <a:picLocks noChangeAspect="1"/>
          </p:cNvPicPr>
          <p:nvPr/>
        </p:nvPicPr>
        <p:blipFill>
          <a:blip r:embed="rId4"/>
          <a:stretch>
            <a:fillRect/>
          </a:stretch>
        </p:blipFill>
        <p:spPr>
          <a:xfrm rot="11520000">
            <a:off x="10706735" y="-624205"/>
            <a:ext cx="1950720" cy="1950720"/>
          </a:xfrm>
          <a:prstGeom prst="rect">
            <a:avLst/>
          </a:prstGeom>
        </p:spPr>
      </p:pic>
      <p:pic>
        <p:nvPicPr>
          <p:cNvPr id="8" name="Image 6" descr="https://test-kimi-img.moonshot.cn/pub/slides/slides_tmpl/image/25-07-11-18:10:08-d1oe605cmrb5eq9iqac0.png"/>
          <p:cNvPicPr>
            <a:picLocks noChangeAspect="1"/>
          </p:cNvPicPr>
          <p:nvPr/>
        </p:nvPicPr>
        <p:blipFill>
          <a:blip r:embed="rId5"/>
          <a:stretch>
            <a:fillRect/>
          </a:stretch>
        </p:blipFill>
        <p:spPr>
          <a:xfrm>
            <a:off x="11022965" y="394335"/>
            <a:ext cx="628015" cy="182880"/>
          </a:xfrm>
          <a:prstGeom prst="rect">
            <a:avLst/>
          </a:prstGeom>
        </p:spPr>
      </p:pic>
      <p:pic>
        <p:nvPicPr>
          <p:cNvPr id="9" name="Image 7" descr="https://test-kimi-img.moonshot.cn/pub/slides/slides_tmpl/image/25-07-11-18:10:09-d1oe60dcmrb5eq9iqafg.png"/>
          <p:cNvPicPr>
            <a:picLocks noChangeAspect="1"/>
          </p:cNvPicPr>
          <p:nvPr/>
        </p:nvPicPr>
        <p:blipFill>
          <a:blip r:embed="rId6">
            <a:alphaModFix amt="74000"/>
          </a:blip>
          <a:srcRect l="128" t="26683" r="-128" b="-4046"/>
          <a:stretch>
            <a:fillRect/>
          </a:stretch>
        </p:blipFill>
        <p:spPr>
          <a:xfrm>
            <a:off x="5573395" y="0"/>
            <a:ext cx="6927215" cy="2076450"/>
          </a:xfrm>
          <a:prstGeom prst="rect">
            <a:avLst/>
          </a:prstGeom>
        </p:spPr>
      </p:pic>
      <p:sp>
        <p:nvSpPr>
          <p:cNvPr id="10" name="Text 0"/>
          <p:cNvSpPr/>
          <p:nvPr/>
        </p:nvSpPr>
        <p:spPr>
          <a:xfrm>
            <a:off x="78994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总体分层架构</a:t>
            </a:r>
            <a:endParaRPr lang="en-US" sz="1600" dirty="0"/>
          </a:p>
        </p:txBody>
      </p:sp>
      <p:sp>
        <p:nvSpPr>
          <p:cNvPr id="12" name="Text 1"/>
          <p:cNvSpPr/>
          <p:nvPr/>
        </p:nvSpPr>
        <p:spPr>
          <a:xfrm>
            <a:off x="628015" y="1986280"/>
            <a:ext cx="4368800" cy="1383665"/>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基于Vue.js构建，负责用户界面的渲染与交互逻辑。</a:t>
            </a:r>
            <a:endPar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endParaRPr>
          </a:p>
          <a:p>
            <a:pPr marL="0" indent="0" algn="just">
              <a:lnSpc>
                <a:spcPct val="15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rPr>
              <a:t>控制层</a:t>
            </a:r>
            <a:endPar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endParaRPr>
          </a:p>
          <a:p>
            <a:pPr marL="0" indent="0" algn="just">
              <a:lnSpc>
                <a:spcPct val="150000"/>
              </a:lnSpc>
              <a:buNone/>
            </a:pPr>
            <a:r>
              <a:rPr lang="en-US" sz="1600" dirty="0">
                <a:solidFill>
                  <a:srgbClr val="262626"/>
                </a:solidFill>
                <a:latin typeface="MiSans" panose="00000500000000000000" pitchFamily="34" charset="-122"/>
                <a:ea typeface="MiSans" panose="00000500000000000000" pitchFamily="34" charset="-122"/>
                <a:cs typeface="MiSans" panose="00000500000000000000" pitchFamily="34" charset="-120"/>
                <a:sym typeface="+mn-ea"/>
              </a:rPr>
              <a:t>基于FastAPI，作为请求入口，负责API路由、参数校验和用户鉴权。</a:t>
            </a:r>
            <a:endParaRPr lang="en-US" sz="1600" dirty="0"/>
          </a:p>
          <a:p>
            <a:pPr marL="0" indent="0" algn="just">
              <a:lnSpc>
                <a:spcPct val="150000"/>
              </a:lnSpc>
              <a:buNone/>
            </a:pPr>
            <a:endParaRPr lang="en-US" sz="1600" dirty="0"/>
          </a:p>
          <a:p>
            <a:pPr marL="0" indent="0" algn="just">
              <a:lnSpc>
                <a:spcPct val="150000"/>
              </a:lnSpc>
              <a:buNone/>
            </a:pPr>
            <a:endParaRPr lang="en-US" sz="1600" dirty="0"/>
          </a:p>
        </p:txBody>
      </p:sp>
      <p:sp>
        <p:nvSpPr>
          <p:cNvPr id="13" name="Text 2"/>
          <p:cNvSpPr/>
          <p:nvPr/>
        </p:nvSpPr>
        <p:spPr>
          <a:xfrm>
            <a:off x="628189" y="1663533"/>
            <a:ext cx="5899611" cy="368329"/>
          </a:xfrm>
          <a:prstGeom prst="rect">
            <a:avLst/>
          </a:prstGeom>
          <a:noFill/>
        </p:spPr>
        <p:txBody>
          <a:bodyPr wrap="square" lIns="91440" tIns="45720" rIns="91440" bIns="4572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表</a:t>
            </a:r>
            <a:r>
              <a:rPr lang="zh-CN" alt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现</a:t>
            </a: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层</a:t>
            </a:r>
            <a:endParaRPr lang="en-US" sz="1600" dirty="0"/>
          </a:p>
        </p:txBody>
      </p:sp>
      <p:sp>
        <p:nvSpPr>
          <p:cNvPr id="14" name="Text 3"/>
          <p:cNvSpPr/>
          <p:nvPr/>
        </p:nvSpPr>
        <p:spPr>
          <a:xfrm>
            <a:off x="609600" y="4314825"/>
            <a:ext cx="3667760" cy="1706880"/>
          </a:xfrm>
          <a:prstGeom prst="rect">
            <a:avLst/>
          </a:prstGeom>
          <a:noFill/>
        </p:spPr>
        <p:txBody>
          <a:bodyPr wrap="square" lIns="91440" tIns="45720" rIns="91440" bIns="45720" rtlCol="0" anchor="t"/>
          <a:lstStyle/>
          <a:p>
            <a:pPr marL="0" indent="0" algn="just">
              <a:lnSpc>
                <a:spcPct val="150000"/>
              </a:lnSpc>
              <a:buNone/>
            </a:pPr>
            <a:endParaRPr lang="en-US" sz="1600" dirty="0"/>
          </a:p>
        </p:txBody>
      </p:sp>
      <p:sp>
        <p:nvSpPr>
          <p:cNvPr id="16" name="Text 4"/>
          <p:cNvSpPr/>
          <p:nvPr/>
        </p:nvSpPr>
        <p:spPr>
          <a:xfrm>
            <a:off x="651510" y="3509010"/>
            <a:ext cx="3708400" cy="538480"/>
          </a:xfrm>
          <a:prstGeom prst="rect">
            <a:avLst/>
          </a:prstGeom>
          <a:noFill/>
        </p:spPr>
        <p:txBody>
          <a:bodyPr wrap="square" lIns="91440" tIns="45720" rIns="91440" bIns="4572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rPr>
              <a:t>业务逻辑层</a:t>
            </a:r>
            <a:endParaRPr lang="en-US" sz="1600" dirty="0"/>
          </a:p>
        </p:txBody>
      </p:sp>
      <p:sp>
        <p:nvSpPr>
          <p:cNvPr id="17" name="Text 5"/>
          <p:cNvSpPr/>
          <p:nvPr/>
        </p:nvSpPr>
        <p:spPr>
          <a:xfrm>
            <a:off x="7425690" y="3490595"/>
            <a:ext cx="3708400" cy="538480"/>
          </a:xfrm>
          <a:prstGeom prst="rect">
            <a:avLst/>
          </a:prstGeom>
          <a:noFill/>
        </p:spPr>
        <p:txBody>
          <a:bodyPr wrap="square" lIns="91440" tIns="45720" rIns="91440" bIns="45720" rtlCol="0" anchor="ctr"/>
          <a:lstStyle/>
          <a:p>
            <a:pPr marL="0" indent="0" algn="ctr">
              <a:lnSpc>
                <a:spcPct val="100000"/>
              </a:lnSpc>
              <a:buNone/>
            </a:pPr>
            <a:endParaRPr lang="en-US" sz="1600" dirty="0"/>
          </a:p>
        </p:txBody>
      </p:sp>
      <p:sp>
        <p:nvSpPr>
          <p:cNvPr id="18" name="Text 6"/>
          <p:cNvSpPr/>
          <p:nvPr/>
        </p:nvSpPr>
        <p:spPr>
          <a:xfrm>
            <a:off x="651510" y="3957320"/>
            <a:ext cx="3350260" cy="170688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核心业务处理中心，实现如面试流程控制、报告生成、AI调用等复杂逻辑。</a:t>
            </a:r>
            <a:endPar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endParaRPr>
          </a:p>
          <a:p>
            <a:pPr marL="0" indent="0" algn="just">
              <a:lnSpc>
                <a:spcPct val="150000"/>
              </a:lnSpc>
              <a:buNone/>
            </a:pPr>
            <a:r>
              <a:rPr lang="zh-CN" alt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rPr>
              <a:t>数据</a:t>
            </a: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rPr>
              <a:t>层</a:t>
            </a:r>
            <a:endPar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sym typeface="+mn-ea"/>
            </a:endParaRPr>
          </a:p>
          <a:p>
            <a:pPr marL="0" indent="0" algn="just">
              <a:lnSpc>
                <a:spcPct val="150000"/>
              </a:lnSpc>
              <a:buNone/>
            </a:pPr>
            <a:r>
              <a:rPr lang="zh-CN" altLang="en-US" sz="1600" dirty="0">
                <a:solidFill>
                  <a:srgbClr val="262626"/>
                </a:solidFill>
                <a:latin typeface="MiSans" panose="00000500000000000000" pitchFamily="34" charset="-122"/>
                <a:ea typeface="MiSans" panose="00000500000000000000" pitchFamily="34" charset="-122"/>
                <a:cs typeface="MiSans" panose="00000500000000000000" pitchFamily="34" charset="-120"/>
                <a:sym typeface="+mn-ea"/>
              </a:rPr>
              <a:t>学习资源、用户信息、面试数据存储与管理</a:t>
            </a:r>
            <a:endParaRPr lang="en-US" sz="1600" dirty="0"/>
          </a:p>
          <a:p>
            <a:pPr marL="0" indent="0" algn="just">
              <a:lnSpc>
                <a:spcPct val="150000"/>
              </a:lnSpc>
              <a:buNone/>
            </a:pPr>
            <a:endParaRPr lang="en-US" sz="1600" dirty="0"/>
          </a:p>
        </p:txBody>
      </p:sp>
      <p:pic>
        <p:nvPicPr>
          <p:cNvPr id="19" name="Image 10" descr="https://test-kimi-img.moonshot.cn/pub/slides/slides_tmpl/image/25-07-11-18:10:17-d1oe62dcmrb5eq9iqbe0.png"/>
          <p:cNvPicPr>
            <a:picLocks noChangeAspect="1"/>
          </p:cNvPicPr>
          <p:nvPr/>
        </p:nvPicPr>
        <p:blipFill>
          <a:blip r:embed="rId7"/>
          <a:stretch>
            <a:fillRect/>
          </a:stretch>
        </p:blipFill>
        <p:spPr>
          <a:xfrm>
            <a:off x="4359910" y="1211580"/>
            <a:ext cx="640080" cy="323215"/>
          </a:xfrm>
          <a:prstGeom prst="rect">
            <a:avLst/>
          </a:prstGeom>
        </p:spPr>
      </p:pic>
      <p:pic>
        <p:nvPicPr>
          <p:cNvPr id="20" name="图片 19" descr="图片2"/>
          <p:cNvPicPr>
            <a:picLocks noChangeAspect="1"/>
          </p:cNvPicPr>
          <p:nvPr/>
        </p:nvPicPr>
        <p:blipFill>
          <a:blip r:embed="rId8">
            <a:alphaModFix amt="80000"/>
          </a:blip>
          <a:stretch>
            <a:fillRect/>
          </a:stretch>
        </p:blipFill>
        <p:spPr>
          <a:xfrm>
            <a:off x="4942205" y="1577975"/>
            <a:ext cx="7098030" cy="45523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50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12-d1oe615cmrb5eq9iqas0.png"/>
          <p:cNvPicPr>
            <a:picLocks noChangeAspect="1"/>
          </p:cNvPicPr>
          <p:nvPr/>
        </p:nvPicPr>
        <p:blipFill>
          <a:blip r:embed="rId2"/>
          <a:stretch>
            <a:fillRect/>
          </a:stretch>
        </p:blipFill>
        <p:spPr>
          <a:xfrm>
            <a:off x="0" y="1250315"/>
            <a:ext cx="652145" cy="6778625"/>
          </a:xfrm>
          <a:prstGeom prst="rect">
            <a:avLst/>
          </a:prstGeom>
        </p:spPr>
      </p:pic>
      <p:sp>
        <p:nvSpPr>
          <p:cNvPr id="3" name="Text 0"/>
          <p:cNvSpPr/>
          <p:nvPr/>
        </p:nvSpPr>
        <p:spPr>
          <a:xfrm>
            <a:off x="78994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核心技术栈选型</a:t>
            </a:r>
            <a:endParaRPr lang="en-US" sz="1600" dirty="0"/>
          </a:p>
        </p:txBody>
      </p:sp>
      <p:pic>
        <p:nvPicPr>
          <p:cNvPr id="4" name="Image 1" descr="https://test-kimi-img.moonshot.cn/pub/slides/slides_tmpl/image/25-07-11-18:10:09-d1oe60dcmrb5eq9iqafg.png"/>
          <p:cNvPicPr>
            <a:picLocks noChangeAspect="1"/>
          </p:cNvPicPr>
          <p:nvPr/>
        </p:nvPicPr>
        <p:blipFill>
          <a:blip r:embed="rId3">
            <a:alphaModFix amt="74000"/>
          </a:blip>
          <a:srcRect l="128" t="26683" r="-128" b="-4046"/>
          <a:stretch>
            <a:fillRect/>
          </a:stretch>
        </p:blipFill>
        <p:spPr>
          <a:xfrm>
            <a:off x="5582285" y="0"/>
            <a:ext cx="6927215" cy="2076450"/>
          </a:xfrm>
          <a:prstGeom prst="rect">
            <a:avLst/>
          </a:prstGeom>
        </p:spPr>
      </p:pic>
      <p:sp>
        <p:nvSpPr>
          <p:cNvPr id="5" name="Text 1"/>
          <p:cNvSpPr/>
          <p:nvPr>
            <p:custDataLst>
              <p:tags r:id="rId4"/>
            </p:custDataLst>
          </p:nvPr>
        </p:nvSpPr>
        <p:spPr>
          <a:xfrm>
            <a:off x="5503719" y="1563827"/>
            <a:ext cx="5899611" cy="368354"/>
          </a:xfrm>
          <a:prstGeom prst="rect">
            <a:avLst/>
          </a:prstGeom>
          <a:noFill/>
        </p:spPr>
        <p:txBody>
          <a:bodyPr wrap="square" lIns="91440" tIns="45720" rIns="91440" bIns="45720" rtlCol="0" anchor="ctr"/>
          <a:lstStyle/>
          <a:p>
            <a:pPr marL="0" indent="0" algn="l">
              <a:lnSpc>
                <a:spcPct val="100000"/>
              </a:lnSpc>
              <a:buNone/>
            </a:pPr>
            <a:r>
              <a:rPr lang="en-US" sz="1800" b="1" dirty="0">
                <a:solidFill>
                  <a:srgbClr val="4874CB"/>
                </a:solidFill>
                <a:latin typeface="MiSans" panose="00000500000000000000" pitchFamily="34" charset="-122"/>
                <a:ea typeface="MiSans" panose="00000500000000000000" pitchFamily="34" charset="-122"/>
                <a:cs typeface="MiSans" panose="00000500000000000000" pitchFamily="34" charset="-120"/>
              </a:rPr>
              <a:t>前端</a:t>
            </a:r>
            <a:endParaRPr lang="en-US" sz="1600" dirty="0"/>
          </a:p>
        </p:txBody>
      </p:sp>
      <p:sp>
        <p:nvSpPr>
          <p:cNvPr id="6" name="Text 2"/>
          <p:cNvSpPr/>
          <p:nvPr>
            <p:custDataLst>
              <p:tags r:id="rId5"/>
            </p:custDataLst>
          </p:nvPr>
        </p:nvSpPr>
        <p:spPr>
          <a:xfrm>
            <a:off x="5504989" y="1932181"/>
            <a:ext cx="6212657" cy="1032028"/>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Vue.js &amp; Element Plus构建高质量、交互复杂的UI界面；WebRTC提供低延迟音视频通信能力。</a:t>
            </a:r>
            <a:endParaRPr lang="en-US" sz="1600" dirty="0"/>
          </a:p>
        </p:txBody>
      </p:sp>
      <p:sp>
        <p:nvSpPr>
          <p:cNvPr id="7" name="Text 3"/>
          <p:cNvSpPr/>
          <p:nvPr>
            <p:custDataLst>
              <p:tags r:id="rId6"/>
            </p:custDataLst>
          </p:nvPr>
        </p:nvSpPr>
        <p:spPr>
          <a:xfrm>
            <a:off x="5503719" y="3210560"/>
            <a:ext cx="5899611" cy="368300"/>
          </a:xfrm>
          <a:prstGeom prst="rect">
            <a:avLst/>
          </a:prstGeom>
          <a:noFill/>
        </p:spPr>
        <p:txBody>
          <a:bodyPr wrap="square" lIns="91440" tIns="45720" rIns="91440" bIns="4572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后端</a:t>
            </a:r>
            <a:endParaRPr lang="en-US" sz="1600" dirty="0"/>
          </a:p>
        </p:txBody>
      </p:sp>
      <p:sp>
        <p:nvSpPr>
          <p:cNvPr id="8" name="Text 4"/>
          <p:cNvSpPr/>
          <p:nvPr>
            <p:custDataLst>
              <p:tags r:id="rId7"/>
            </p:custDataLst>
          </p:nvPr>
        </p:nvSpPr>
        <p:spPr>
          <a:xfrm>
            <a:off x="5504989" y="3578860"/>
            <a:ext cx="6212657" cy="106299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Python 3.9 + FastAPI，顶级性能、原生异步支持，自动生成交互式API文档。</a:t>
            </a:r>
            <a:endParaRPr lang="en-US" sz="1600" dirty="0"/>
          </a:p>
        </p:txBody>
      </p:sp>
      <p:sp>
        <p:nvSpPr>
          <p:cNvPr id="9" name="Text 5"/>
          <p:cNvSpPr/>
          <p:nvPr>
            <p:custDataLst>
              <p:tags r:id="rId8"/>
            </p:custDataLst>
          </p:nvPr>
        </p:nvSpPr>
        <p:spPr>
          <a:xfrm>
            <a:off x="5503719" y="4807585"/>
            <a:ext cx="5899611" cy="368300"/>
          </a:xfrm>
          <a:prstGeom prst="rect">
            <a:avLst/>
          </a:prstGeom>
          <a:noFill/>
        </p:spPr>
        <p:txBody>
          <a:bodyPr wrap="square" lIns="91440" tIns="45720" rIns="91440" bIns="45720" rtlCol="0" anchor="ctr"/>
          <a:lstStyle/>
          <a:p>
            <a:pPr marL="0" indent="0" algn="l">
              <a:lnSpc>
                <a:spcPct val="100000"/>
              </a:lnSpc>
              <a:buNone/>
            </a:pPr>
            <a:r>
              <a:rPr lang="en-US" sz="1600" b="1" dirty="0">
                <a:solidFill>
                  <a:srgbClr val="4874CB"/>
                </a:solidFill>
                <a:latin typeface="MiSans" panose="00000500000000000000" pitchFamily="34" charset="-122"/>
                <a:ea typeface="MiSans" panose="00000500000000000000" pitchFamily="34" charset="-122"/>
                <a:cs typeface="MiSans" panose="00000500000000000000" pitchFamily="34" charset="-120"/>
              </a:rPr>
              <a:t>核心AI服务</a:t>
            </a:r>
            <a:endParaRPr lang="en-US" sz="1600" dirty="0"/>
          </a:p>
        </p:txBody>
      </p:sp>
      <p:sp>
        <p:nvSpPr>
          <p:cNvPr id="10" name="Text 6"/>
          <p:cNvSpPr/>
          <p:nvPr>
            <p:custDataLst>
              <p:tags r:id="rId9"/>
            </p:custDataLst>
          </p:nvPr>
        </p:nvSpPr>
        <p:spPr>
          <a:xfrm>
            <a:off x="5504989" y="5175885"/>
            <a:ext cx="6280600" cy="110490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讯飞星火认知大模型负责上下文理解、动态问题生成和深度文本评估；开源模型/库进行视觉分析和语音转写。</a:t>
            </a:r>
            <a:endParaRPr lang="en-US" sz="1600" dirty="0"/>
          </a:p>
        </p:txBody>
      </p:sp>
      <p:sp>
        <p:nvSpPr>
          <p:cNvPr id="11" name="Shape 7"/>
          <p:cNvSpPr/>
          <p:nvPr>
            <p:custDataLst>
              <p:tags r:id="rId10"/>
            </p:custDataLst>
          </p:nvPr>
        </p:nvSpPr>
        <p:spPr>
          <a:xfrm>
            <a:off x="5159375" y="1758950"/>
            <a:ext cx="0" cy="4522470"/>
          </a:xfrm>
          <a:prstGeom prst="line">
            <a:avLst/>
          </a:prstGeom>
          <a:noFill/>
          <a:ln w="25400">
            <a:gradFill flip="none" rotWithShape="1">
              <a:gsLst>
                <a:gs pos="0">
                  <a:srgbClr val="5A7DD4"/>
                </a:gs>
                <a:gs pos="47000">
                  <a:srgbClr val="5A7DD4"/>
                </a:gs>
                <a:gs pos="100000">
                  <a:srgbClr val="C8D5EF"/>
                </a:gs>
              </a:gsLst>
              <a:lin ang="5400000" scaled="1"/>
            </a:gradFill>
            <a:prstDash val="sysDot"/>
            <a:headEnd type="none"/>
            <a:tailEnd type="none"/>
          </a:ln>
        </p:spPr>
      </p:sp>
      <p:pic>
        <p:nvPicPr>
          <p:cNvPr id="12" name="Image 2" descr="https://test-kimi-img.moonshot.cn/pub/slides/slides_tmpl/image/25-07-11-18:10:12-d1oe615cmrb5eq9iqarg.png"/>
          <p:cNvPicPr>
            <a:picLocks noChangeAspect="1"/>
          </p:cNvPicPr>
          <p:nvPr/>
        </p:nvPicPr>
        <p:blipFill>
          <a:blip r:embed="rId11"/>
          <a:stretch>
            <a:fillRect/>
          </a:stretch>
        </p:blipFill>
        <p:spPr>
          <a:xfrm>
            <a:off x="354965" y="208280"/>
            <a:ext cx="1073150" cy="554990"/>
          </a:xfrm>
          <a:prstGeom prst="rect">
            <a:avLst/>
          </a:prstGeom>
        </p:spPr>
      </p:pic>
      <p:pic>
        <p:nvPicPr>
          <p:cNvPr id="13" name="Image 3" descr="https://test-kimi-img.moonshot.cn/pub/slides/slides_tmpl/image/25-07-11-18:10:11-d1oe60tcmrb5eq9iqapg.png"/>
          <p:cNvPicPr>
            <a:picLocks noChangeAspect="1"/>
          </p:cNvPicPr>
          <p:nvPr/>
        </p:nvPicPr>
        <p:blipFill>
          <a:blip r:embed="rId12"/>
          <a:stretch>
            <a:fillRect/>
          </a:stretch>
        </p:blipFill>
        <p:spPr>
          <a:xfrm rot="11520000">
            <a:off x="10706735" y="-624205"/>
            <a:ext cx="1950720" cy="1950720"/>
          </a:xfrm>
          <a:prstGeom prst="rect">
            <a:avLst/>
          </a:prstGeom>
        </p:spPr>
      </p:pic>
      <p:pic>
        <p:nvPicPr>
          <p:cNvPr id="14" name="Image 4" descr="https://test-kimi-img.moonshot.cn/pub/slides/slides_tmpl/image/25-07-11-18:10:08-d1oe605cmrb5eq9iqac0.png"/>
          <p:cNvPicPr>
            <a:picLocks noChangeAspect="1"/>
          </p:cNvPicPr>
          <p:nvPr/>
        </p:nvPicPr>
        <p:blipFill>
          <a:blip r:embed="rId13"/>
          <a:stretch>
            <a:fillRect/>
          </a:stretch>
        </p:blipFill>
        <p:spPr>
          <a:xfrm>
            <a:off x="11022965" y="394335"/>
            <a:ext cx="628015" cy="182880"/>
          </a:xfrm>
          <a:prstGeom prst="rect">
            <a:avLst/>
          </a:prstGeom>
        </p:spPr>
      </p:pic>
      <p:pic>
        <p:nvPicPr>
          <p:cNvPr id="15" name="Image 5" descr="https://test-kimi-img.moonshot.cn/pub/slides/slides_tmpl/image/25-07-11-18:10:17-d1oe62dcmrb5eq9iqbdg.png"/>
          <p:cNvPicPr>
            <a:picLocks noChangeAspect="1"/>
          </p:cNvPicPr>
          <p:nvPr>
            <p:custDataLst>
              <p:tags r:id="rId14"/>
            </p:custDataLst>
          </p:nvPr>
        </p:nvPicPr>
        <p:blipFill>
          <a:blip r:embed="rId15"/>
          <a:stretch>
            <a:fillRect/>
          </a:stretch>
        </p:blipFill>
        <p:spPr>
          <a:xfrm>
            <a:off x="4887595" y="4726305"/>
            <a:ext cx="530225" cy="530225"/>
          </a:xfrm>
          <a:prstGeom prst="rect">
            <a:avLst/>
          </a:prstGeom>
        </p:spPr>
      </p:pic>
      <p:pic>
        <p:nvPicPr>
          <p:cNvPr id="16" name="Image 6" descr="https://test-kimi-img.moonshot.cn/pub/slides/slides_tmpl/image/25-07-11-18:10:17-d1oe62dcmrb5eq9iqbeg.png"/>
          <p:cNvPicPr>
            <a:picLocks noChangeAspect="1"/>
          </p:cNvPicPr>
          <p:nvPr>
            <p:custDataLst>
              <p:tags r:id="rId16"/>
            </p:custDataLst>
          </p:nvPr>
        </p:nvPicPr>
        <p:blipFill>
          <a:blip r:embed="rId17"/>
          <a:stretch>
            <a:fillRect/>
          </a:stretch>
        </p:blipFill>
        <p:spPr>
          <a:xfrm>
            <a:off x="4887595" y="3116580"/>
            <a:ext cx="530225" cy="530225"/>
          </a:xfrm>
          <a:prstGeom prst="rect">
            <a:avLst/>
          </a:prstGeom>
        </p:spPr>
      </p:pic>
      <p:pic>
        <p:nvPicPr>
          <p:cNvPr id="17" name="Image 7" descr="https://test-kimi-img.moonshot.cn/pub/slides/slides_tmpl/image/25-07-11-18:10:17-d1oe62dcmrb5eq9iqbf0.png"/>
          <p:cNvPicPr>
            <a:picLocks noChangeAspect="1"/>
          </p:cNvPicPr>
          <p:nvPr>
            <p:custDataLst>
              <p:tags r:id="rId18"/>
            </p:custDataLst>
          </p:nvPr>
        </p:nvPicPr>
        <p:blipFill>
          <a:blip r:embed="rId19"/>
          <a:stretch>
            <a:fillRect/>
          </a:stretch>
        </p:blipFill>
        <p:spPr>
          <a:xfrm>
            <a:off x="4887595" y="1570990"/>
            <a:ext cx="530225" cy="530225"/>
          </a:xfrm>
          <a:prstGeom prst="rect">
            <a:avLst/>
          </a:prstGeom>
        </p:spPr>
      </p:pic>
      <p:pic>
        <p:nvPicPr>
          <p:cNvPr id="19" name="图片 18"/>
          <p:cNvPicPr>
            <a:picLocks noChangeAspect="1"/>
          </p:cNvPicPr>
          <p:nvPr/>
        </p:nvPicPr>
        <p:blipFill>
          <a:blip r:embed="rId20"/>
          <a:stretch>
            <a:fillRect/>
          </a:stretch>
        </p:blipFill>
        <p:spPr>
          <a:xfrm>
            <a:off x="652145" y="1250315"/>
            <a:ext cx="4234815" cy="50203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90" y="-15875"/>
            <a:ext cx="10438130" cy="6880225"/>
          </a:xfrm>
          <a:prstGeom prst="rect">
            <a:avLst/>
          </a:prstGeom>
          <a:gradFill flip="none" rotWithShape="1">
            <a:gsLst>
              <a:gs pos="0">
                <a:srgbClr val="FFFFFF"/>
              </a:gs>
              <a:gs pos="100000">
                <a:srgbClr val="FFFFFF">
                  <a:alpha val="0"/>
                </a:srgbClr>
              </a:gs>
            </a:gsLst>
            <a:lin ang="0" scaled="1"/>
          </a:gradFill>
        </p:spPr>
      </p:sp>
      <p:sp>
        <p:nvSpPr>
          <p:cNvPr id="3" name="Text 1"/>
          <p:cNvSpPr/>
          <p:nvPr/>
        </p:nvSpPr>
        <p:spPr>
          <a:xfrm>
            <a:off x="8890" y="-15875"/>
            <a:ext cx="10438130" cy="688022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test-kimi-img.moonshot.cn/pub/slides/slides_tmpl/image/25-07-11-18:10:09-d1oe60dcmrb5eq9iqag0.png"/>
          <p:cNvPicPr>
            <a:picLocks noChangeAspect="1"/>
          </p:cNvPicPr>
          <p:nvPr/>
        </p:nvPicPr>
        <p:blipFill>
          <a:blip r:embed="rId2"/>
          <a:stretch>
            <a:fillRect/>
          </a:stretch>
        </p:blipFill>
        <p:spPr>
          <a:xfrm>
            <a:off x="612140" y="2388552"/>
            <a:ext cx="1600200" cy="1651000"/>
          </a:xfrm>
          <a:prstGeom prst="rect">
            <a:avLst/>
          </a:prstGeom>
        </p:spPr>
      </p:pic>
      <p:pic>
        <p:nvPicPr>
          <p:cNvPr id="5" name="Image 1" descr="https://test-kimi-img.moonshot.cn/pub/slides/slides_tmpl/image/25-07-11-18:10:09-d1oe60dcmrb5eq9iqagg.png"/>
          <p:cNvPicPr>
            <a:picLocks noChangeAspect="1"/>
          </p:cNvPicPr>
          <p:nvPr/>
        </p:nvPicPr>
        <p:blipFill>
          <a:blip r:embed="rId3"/>
          <a:srcRect l="56" t="92" b="92"/>
          <a:stretch>
            <a:fillRect/>
          </a:stretch>
        </p:blipFill>
        <p:spPr>
          <a:xfrm>
            <a:off x="8890" y="0"/>
            <a:ext cx="6771640" cy="6858000"/>
          </a:xfrm>
          <a:prstGeom prst="rect">
            <a:avLst/>
          </a:prstGeom>
        </p:spPr>
      </p:pic>
      <p:pic>
        <p:nvPicPr>
          <p:cNvPr id="6" name="Image 2" descr="https://test-kimi-img.moonshot.cn/pub/slides/slides_tmpl/image/25-07-11-18:10:09-d1oe60dcmrb5eq9iqah0.png"/>
          <p:cNvPicPr>
            <a:picLocks noChangeAspect="1"/>
          </p:cNvPicPr>
          <p:nvPr/>
        </p:nvPicPr>
        <p:blipFill>
          <a:blip r:embed="rId4"/>
          <a:stretch>
            <a:fillRect/>
          </a:stretch>
        </p:blipFill>
        <p:spPr>
          <a:xfrm>
            <a:off x="854710" y="2689860"/>
            <a:ext cx="1859280" cy="1871345"/>
          </a:xfrm>
          <a:prstGeom prst="rect">
            <a:avLst/>
          </a:prstGeom>
        </p:spPr>
      </p:pic>
      <p:sp>
        <p:nvSpPr>
          <p:cNvPr id="7" name="Text 2"/>
          <p:cNvSpPr/>
          <p:nvPr/>
        </p:nvSpPr>
        <p:spPr>
          <a:xfrm>
            <a:off x="2637790" y="2865755"/>
            <a:ext cx="8900160" cy="951865"/>
          </a:xfrm>
          <a:prstGeom prst="rect">
            <a:avLst/>
          </a:prstGeom>
          <a:noFill/>
        </p:spPr>
        <p:txBody>
          <a:bodyPr wrap="square" lIns="91440" tIns="45720" rIns="91440" bIns="45720" rtlCol="0" anchor="t"/>
          <a:lstStyle/>
          <a:p>
            <a:pPr marL="0" indent="0" algn="l">
              <a:lnSpc>
                <a:spcPct val="100000"/>
              </a:lnSpc>
              <a:buNone/>
            </a:pPr>
            <a:r>
              <a:rPr lang="en-US" sz="5000" b="1" dirty="0">
                <a:solidFill>
                  <a:srgbClr val="4874CB"/>
                </a:solidFill>
                <a:latin typeface="MiSans" panose="00000500000000000000" pitchFamily="34" charset="-122"/>
                <a:ea typeface="MiSans" panose="00000500000000000000" pitchFamily="34" charset="-122"/>
                <a:cs typeface="MiSans" panose="00000500000000000000" pitchFamily="34" charset="-120"/>
              </a:rPr>
              <a:t>项目核心创新点分析</a:t>
            </a:r>
            <a:endParaRPr lang="en-US" sz="1600" dirty="0"/>
          </a:p>
        </p:txBody>
      </p:sp>
      <p:sp>
        <p:nvSpPr>
          <p:cNvPr id="8" name="Text 3"/>
          <p:cNvSpPr/>
          <p:nvPr/>
        </p:nvSpPr>
        <p:spPr>
          <a:xfrm>
            <a:off x="2647950" y="3747135"/>
            <a:ext cx="8497570" cy="460375"/>
          </a:xfrm>
          <a:prstGeom prst="rect">
            <a:avLst/>
          </a:prstGeom>
          <a:noFill/>
        </p:spPr>
        <p:txBody>
          <a:bodyPr wrap="square" lIns="91440" tIns="45720" rIns="91440" bIns="45720" rtlCol="0" anchor="t">
            <a:spAutoFit/>
          </a:bodyPr>
          <a:lstStyle/>
          <a:p>
            <a:pPr marL="0" indent="0" algn="l">
              <a:lnSpc>
                <a:spcPct val="150000"/>
              </a:lnSpc>
              <a:buNone/>
            </a:pPr>
            <a:r>
              <a:rPr lang="en-US" sz="1600" dirty="0"/>
              <a:t>Analysis of Core Innovation Points of the Project</a:t>
            </a:r>
            <a:endParaRPr lang="en-US" sz="1600" dirty="0"/>
          </a:p>
        </p:txBody>
      </p:sp>
      <p:sp>
        <p:nvSpPr>
          <p:cNvPr id="9" name="Shape 4"/>
          <p:cNvSpPr/>
          <p:nvPr/>
        </p:nvSpPr>
        <p:spPr>
          <a:xfrm>
            <a:off x="1187450" y="2612390"/>
            <a:ext cx="1508125" cy="1494155"/>
          </a:xfrm>
          <a:prstGeom prst="rect">
            <a:avLst/>
          </a:prstGeom>
          <a:solidFill>
            <a:srgbClr val="000000">
              <a:alpha val="0"/>
            </a:srgbClr>
          </a:solidFill>
        </p:spPr>
      </p:sp>
      <p:sp>
        <p:nvSpPr>
          <p:cNvPr id="10" name="Text 5"/>
          <p:cNvSpPr/>
          <p:nvPr/>
        </p:nvSpPr>
        <p:spPr>
          <a:xfrm>
            <a:off x="1187450" y="2612390"/>
            <a:ext cx="1508125" cy="1494155"/>
          </a:xfrm>
          <a:prstGeom prst="rect">
            <a:avLst/>
          </a:prstGeom>
          <a:noFill/>
        </p:spPr>
        <p:txBody>
          <a:bodyPr wrap="square" lIns="46863" tIns="90043" rIns="90043" bIns="46863" rtlCol="0" anchor="ctr"/>
          <a:lstStyle/>
          <a:p>
            <a:pPr marL="0" indent="0" algn="l">
              <a:lnSpc>
                <a:spcPct val="130000"/>
              </a:lnSpc>
              <a:buNone/>
            </a:pPr>
            <a:r>
              <a:rPr lang="en-US" sz="4500" dirty="0">
                <a:solidFill>
                  <a:srgbClr val="FFFFFF"/>
                </a:solidFill>
                <a:latin typeface="MiSans" panose="00000500000000000000" pitchFamily="34" charset="-122"/>
                <a:ea typeface="MiSans" panose="00000500000000000000" pitchFamily="34" charset="-122"/>
                <a:cs typeface="MiSans" panose="00000500000000000000" pitchFamily="34" charset="-120"/>
              </a:rPr>
              <a:t>05</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59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12-d1oe615cmrb5eq9iqarg.png"/>
          <p:cNvPicPr>
            <a:picLocks noChangeAspect="1"/>
          </p:cNvPicPr>
          <p:nvPr/>
        </p:nvPicPr>
        <p:blipFill>
          <a:blip r:embed="rId2"/>
          <a:stretch>
            <a:fillRect/>
          </a:stretch>
        </p:blipFill>
        <p:spPr>
          <a:xfrm>
            <a:off x="354965" y="208280"/>
            <a:ext cx="1073150" cy="554990"/>
          </a:xfrm>
          <a:prstGeom prst="rect">
            <a:avLst/>
          </a:prstGeom>
        </p:spPr>
      </p:pic>
      <p:sp>
        <p:nvSpPr>
          <p:cNvPr id="3" name="Text 0"/>
          <p:cNvSpPr/>
          <p:nvPr/>
        </p:nvSpPr>
        <p:spPr>
          <a:xfrm>
            <a:off x="78994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从“通用问答”到“个性化压力模拟”的体验革命</a:t>
            </a:r>
            <a:endParaRPr lang="en-US" sz="1600" dirty="0"/>
          </a:p>
        </p:txBody>
      </p:sp>
      <p:sp>
        <p:nvSpPr>
          <p:cNvPr id="4" name="Text 1"/>
          <p:cNvSpPr/>
          <p:nvPr/>
        </p:nvSpPr>
        <p:spPr>
          <a:xfrm>
            <a:off x="6273165" y="1632585"/>
            <a:ext cx="5481955" cy="118110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000000"/>
                </a:solidFill>
                <a:latin typeface="MiSans" panose="00000500000000000000" pitchFamily="34" charset="-122"/>
                <a:ea typeface="MiSans" panose="00000500000000000000" pitchFamily="34" charset="-122"/>
                <a:cs typeface="MiSans" panose="00000500000000000000" pitchFamily="34" charset="-120"/>
              </a:rPr>
              <a:t>传统工具提供的是千篇一律的静态题库，无法模拟真实面试的个性化和压力。</a:t>
            </a:r>
            <a:r>
              <a:rPr lang="zh-CN" altLang="en-US" sz="1400" dirty="0">
                <a:solidFill>
                  <a:srgbClr val="000000"/>
                </a:solidFill>
                <a:latin typeface="MiSans" panose="00000500000000000000" pitchFamily="34" charset="-122"/>
                <a:ea typeface="MiSans" panose="00000500000000000000" pitchFamily="34" charset="-122"/>
                <a:cs typeface="MiSans" panose="00000500000000000000" pitchFamily="34" charset="-120"/>
              </a:rPr>
              <a:t>传统的工具如同一个没有感情的题库机器，用户只能够进行被动的、可预测的问答式练习。这种模式无法复刻真实面试的动态性、逻辑深度性，以及面试者面试时的心理</a:t>
            </a:r>
            <a:r>
              <a:rPr lang="zh-CN" altLang="en-US" sz="1400" dirty="0">
                <a:solidFill>
                  <a:srgbClr val="000000"/>
                </a:solidFill>
                <a:latin typeface="MiSans" panose="00000500000000000000" pitchFamily="34" charset="-122"/>
                <a:ea typeface="MiSans" panose="00000500000000000000" pitchFamily="34" charset="-122"/>
                <a:cs typeface="MiSans" panose="00000500000000000000" pitchFamily="34" charset="-120"/>
              </a:rPr>
              <a:t>压力。</a:t>
            </a:r>
            <a:endParaRPr lang="zh-CN" altLang="en-US" sz="1400"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5" name="Shape 2"/>
          <p:cNvSpPr/>
          <p:nvPr/>
        </p:nvSpPr>
        <p:spPr>
          <a:xfrm>
            <a:off x="6273165" y="1160780"/>
            <a:ext cx="4406265" cy="461645"/>
          </a:xfrm>
          <a:prstGeom prst="roundRect">
            <a:avLst>
              <a:gd name="adj" fmla="val 27647"/>
            </a:avLst>
          </a:prstGeom>
          <a:gradFill flip="none" rotWithShape="1">
            <a:gsLst>
              <a:gs pos="0">
                <a:srgbClr val="6292D4">
                  <a:alpha val="63000"/>
                </a:srgbClr>
              </a:gs>
              <a:gs pos="91000">
                <a:srgbClr val="4874CB">
                  <a:alpha val="76000"/>
                </a:srgbClr>
              </a:gs>
            </a:gsLst>
            <a:lin ang="5400000" scaled="1"/>
          </a:gradFill>
        </p:spPr>
      </p:sp>
      <p:sp>
        <p:nvSpPr>
          <p:cNvPr id="6" name="Text 3"/>
          <p:cNvSpPr/>
          <p:nvPr/>
        </p:nvSpPr>
        <p:spPr>
          <a:xfrm>
            <a:off x="6273165" y="1160780"/>
            <a:ext cx="4406265" cy="461645"/>
          </a:xfrm>
          <a:prstGeom prst="rect">
            <a:avLst/>
          </a:prstGeom>
          <a:noFill/>
        </p:spPr>
        <p:txBody>
          <a:bodyPr wrap="square" lIns="0" tIns="0" rIns="0" bIns="0" rtlCol="0" anchor="ctr"/>
          <a:lstStyle/>
          <a:p>
            <a:pPr marL="0" indent="0" algn="ctr">
              <a:lnSpc>
                <a:spcPct val="100000"/>
              </a:lnSpc>
              <a:buNone/>
            </a:pPr>
            <a:r>
              <a:rPr 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现状:</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低效的</a:t>
            </a:r>
            <a:r>
              <a:rPr lang="en-US" altLang="zh-CN"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问答式</a:t>
            </a:r>
            <a:r>
              <a:rPr lang="en-US" altLang="zh-CN"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对</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练</a:t>
            </a:r>
            <a:endPar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endParaRPr>
          </a:p>
        </p:txBody>
      </p:sp>
      <p:sp>
        <p:nvSpPr>
          <p:cNvPr id="7" name="Text 4"/>
          <p:cNvSpPr/>
          <p:nvPr/>
        </p:nvSpPr>
        <p:spPr>
          <a:xfrm>
            <a:off x="6273165" y="3500120"/>
            <a:ext cx="5450840" cy="1181100"/>
          </a:xfrm>
          <a:prstGeom prst="rect">
            <a:avLst/>
          </a:prstGeom>
          <a:noFill/>
        </p:spPr>
        <p:txBody>
          <a:bodyPr wrap="square" lIns="91440" tIns="45720" rIns="91440" bIns="45720" rtlCol="0" anchor="t"/>
          <a:lstStyle/>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我们首创的</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个性化压力交互模型</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，将面试从</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问答</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升级为一场</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博弈</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简历解析，个性化开局：</a:t>
            </a:r>
            <a:r>
              <a:rPr lang="en-US" altLang="zh-CN" sz="1400" dirty="0">
                <a:latin typeface="MiSans" panose="00000500000000000000" pitchFamily="34" charset="-122"/>
                <a:ea typeface="MiSans" panose="00000500000000000000" pitchFamily="34" charset="-122"/>
                <a:cs typeface="MiSans" panose="00000500000000000000" pitchFamily="34" charset="-122"/>
              </a:rPr>
              <a:t>AI</a:t>
            </a:r>
            <a:r>
              <a:rPr lang="zh-CN" altLang="en-US" sz="1400" dirty="0">
                <a:latin typeface="MiSans" panose="00000500000000000000" pitchFamily="34" charset="-122"/>
                <a:ea typeface="MiSans" panose="00000500000000000000" pitchFamily="34" charset="-122"/>
                <a:cs typeface="MiSans" panose="00000500000000000000" pitchFamily="34" charset="-122"/>
              </a:rPr>
              <a:t>深度解析用户简历，首个问题便直击其项目核心，</a:t>
            </a:r>
            <a:r>
              <a:rPr lang="zh-CN" altLang="en-US" sz="1400" dirty="0">
                <a:latin typeface="MiSans" panose="00000500000000000000" pitchFamily="34" charset="-122"/>
                <a:ea typeface="MiSans" panose="00000500000000000000" pitchFamily="34" charset="-122"/>
                <a:cs typeface="MiSans" panose="00000500000000000000" pitchFamily="34" charset="-122"/>
              </a:rPr>
              <a:t>迅速建立真实情景。</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上下文感知，构建短期</a:t>
            </a:r>
            <a:r>
              <a:rPr lang="zh-CN" altLang="en-US" sz="1400" dirty="0">
                <a:latin typeface="MiSans" panose="00000500000000000000" pitchFamily="34" charset="-122"/>
                <a:ea typeface="MiSans" panose="00000500000000000000" pitchFamily="34" charset="-122"/>
                <a:cs typeface="MiSans" panose="00000500000000000000" pitchFamily="34" charset="-122"/>
              </a:rPr>
              <a:t>记忆：</a:t>
            </a:r>
            <a:r>
              <a:rPr lang="en-US" altLang="zh-CN" sz="1400" dirty="0">
                <a:latin typeface="MiSans" panose="00000500000000000000" pitchFamily="34" charset="-122"/>
                <a:ea typeface="MiSans" panose="00000500000000000000" pitchFamily="34" charset="-122"/>
                <a:cs typeface="MiSans" panose="00000500000000000000" pitchFamily="34" charset="-122"/>
              </a:rPr>
              <a:t>AI</a:t>
            </a:r>
            <a:r>
              <a:rPr lang="zh-CN" altLang="en-US" sz="1400" dirty="0">
                <a:latin typeface="MiSans" panose="00000500000000000000" pitchFamily="34" charset="-122"/>
                <a:ea typeface="MiSans" panose="00000500000000000000" pitchFamily="34" charset="-122"/>
                <a:cs typeface="MiSans" panose="00000500000000000000" pitchFamily="34" charset="-122"/>
              </a:rPr>
              <a:t>能够理解并</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记住</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上下文回答，将对话串联成有逻辑地</a:t>
            </a:r>
            <a:r>
              <a:rPr lang="zh-CN" altLang="en-US" sz="1400" dirty="0">
                <a:latin typeface="MiSans" panose="00000500000000000000" pitchFamily="34" charset="-122"/>
                <a:ea typeface="MiSans" panose="00000500000000000000" pitchFamily="34" charset="-122"/>
                <a:cs typeface="MiSans" panose="00000500000000000000" pitchFamily="34" charset="-122"/>
              </a:rPr>
              <a:t>整体。</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动态追问，实现深度压力：</a:t>
            </a:r>
            <a:r>
              <a:rPr lang="en-US" altLang="zh-CN" sz="1400" dirty="0">
                <a:latin typeface="MiSans" panose="00000500000000000000" pitchFamily="34" charset="-122"/>
                <a:ea typeface="MiSans" panose="00000500000000000000" pitchFamily="34" charset="-122"/>
                <a:cs typeface="MiSans" panose="00000500000000000000" pitchFamily="34" charset="-122"/>
              </a:rPr>
              <a:t>AI</a:t>
            </a:r>
            <a:r>
              <a:rPr lang="zh-CN" altLang="en-US" sz="1400" dirty="0">
                <a:latin typeface="MiSans" panose="00000500000000000000" pitchFamily="34" charset="-122"/>
                <a:ea typeface="MiSans" panose="00000500000000000000" pitchFamily="34" charset="-122"/>
                <a:cs typeface="MiSans" panose="00000500000000000000" pitchFamily="34" charset="-122"/>
              </a:rPr>
              <a:t>地每一个追问都旨在探查用户只是深度地</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边界</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，实现真正的压力</a:t>
            </a:r>
            <a:r>
              <a:rPr lang="zh-CN" altLang="en-US" sz="1400" dirty="0">
                <a:latin typeface="MiSans" panose="00000500000000000000" pitchFamily="34" charset="-122"/>
                <a:ea typeface="MiSans" panose="00000500000000000000" pitchFamily="34" charset="-122"/>
                <a:cs typeface="MiSans" panose="00000500000000000000" pitchFamily="34" charset="-122"/>
              </a:rPr>
              <a:t>模拟。</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p:txBody>
      </p:sp>
      <p:sp>
        <p:nvSpPr>
          <p:cNvPr id="8" name="Shape 5"/>
          <p:cNvSpPr/>
          <p:nvPr/>
        </p:nvSpPr>
        <p:spPr>
          <a:xfrm>
            <a:off x="6273165" y="3038475"/>
            <a:ext cx="4406265" cy="461645"/>
          </a:xfrm>
          <a:prstGeom prst="roundRect">
            <a:avLst>
              <a:gd name="adj" fmla="val 30674"/>
            </a:avLst>
          </a:prstGeom>
          <a:gradFill flip="none" rotWithShape="1">
            <a:gsLst>
              <a:gs pos="0">
                <a:srgbClr val="6292D4">
                  <a:alpha val="65000"/>
                </a:srgbClr>
              </a:gs>
              <a:gs pos="90000">
                <a:srgbClr val="4874CB">
                  <a:alpha val="74000"/>
                </a:srgbClr>
              </a:gs>
            </a:gsLst>
            <a:lin ang="5400000" scaled="1"/>
          </a:gradFill>
        </p:spPr>
      </p:sp>
      <p:sp>
        <p:nvSpPr>
          <p:cNvPr id="9" name="Text 6"/>
          <p:cNvSpPr/>
          <p:nvPr/>
        </p:nvSpPr>
        <p:spPr>
          <a:xfrm>
            <a:off x="6173470" y="3038475"/>
            <a:ext cx="4406265" cy="461645"/>
          </a:xfrm>
          <a:prstGeom prst="rect">
            <a:avLst/>
          </a:prstGeom>
          <a:noFill/>
        </p:spPr>
        <p:txBody>
          <a:bodyPr wrap="square" lIns="0" tIns="0" rIns="0" bIns="0" rtlCol="0" anchor="ctr"/>
          <a:lstStyle/>
          <a:p>
            <a:pPr marL="0" indent="0" algn="ctr">
              <a:lnSpc>
                <a:spcPct val="100000"/>
              </a:lnSpc>
              <a:buNone/>
            </a:pPr>
            <a:r>
              <a:rPr 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我们的创新</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：打造</a:t>
            </a:r>
            <a:r>
              <a:rPr lang="en-US" altLang="zh-CN"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有记忆、会思考</a:t>
            </a:r>
            <a:r>
              <a:rPr lang="en-US" altLang="zh-CN"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的</a:t>
            </a:r>
            <a:r>
              <a:rPr lang="en-US" altLang="zh-CN"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AI</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面试</a:t>
            </a:r>
            <a:r>
              <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rPr>
              <a:t>官</a:t>
            </a:r>
            <a:endParaRPr lang="zh-CN" altLang="en-US" sz="1600" b="1" dirty="0">
              <a:solidFill>
                <a:srgbClr val="FFFFFF"/>
              </a:solidFill>
              <a:latin typeface="MiSans" panose="00000500000000000000" pitchFamily="34" charset="-122"/>
              <a:ea typeface="MiSans" panose="00000500000000000000" pitchFamily="34" charset="-122"/>
              <a:cs typeface="MiSans" panose="00000500000000000000" pitchFamily="34" charset="-120"/>
            </a:endParaRPr>
          </a:p>
        </p:txBody>
      </p:sp>
      <p:pic>
        <p:nvPicPr>
          <p:cNvPr id="10" name="Image 1" descr="https://test-kimi-img.moonshot.cn/pub/slides/slides_tmpl/image/25-07-11-18:10:08-d1oe605cmrb5eq9iqac0.png"/>
          <p:cNvPicPr>
            <a:picLocks noChangeAspect="1"/>
          </p:cNvPicPr>
          <p:nvPr/>
        </p:nvPicPr>
        <p:blipFill>
          <a:blip r:embed="rId3"/>
          <a:stretch>
            <a:fillRect/>
          </a:stretch>
        </p:blipFill>
        <p:spPr>
          <a:xfrm>
            <a:off x="11022965" y="394335"/>
            <a:ext cx="628015" cy="182880"/>
          </a:xfrm>
          <a:prstGeom prst="rect">
            <a:avLst/>
          </a:prstGeom>
        </p:spPr>
      </p:pic>
      <p:pic>
        <p:nvPicPr>
          <p:cNvPr id="11" name="Image 2" descr="https://test-kimi-img.moonshot.cn/pub/slides/slides_tmpl/image/25-07-11-18:10:12-d1oe615cmrb5eq9iqaug.png"/>
          <p:cNvPicPr>
            <a:picLocks noChangeAspect="1"/>
          </p:cNvPicPr>
          <p:nvPr/>
        </p:nvPicPr>
        <p:blipFill>
          <a:blip r:embed="rId4"/>
          <a:stretch>
            <a:fillRect/>
          </a:stretch>
        </p:blipFill>
        <p:spPr>
          <a:xfrm>
            <a:off x="11755120" y="6363970"/>
            <a:ext cx="676910" cy="676910"/>
          </a:xfrm>
          <a:prstGeom prst="rect">
            <a:avLst/>
          </a:prstGeom>
        </p:spPr>
      </p:pic>
      <p:pic>
        <p:nvPicPr>
          <p:cNvPr id="12" name="Image 3" descr="https://test-kimi-img.moonshot.cn/pub/slides/slides_tmpl/image/25-07-11-18:10:12-d1oe615cmrb5eq9iqav0.png"/>
          <p:cNvPicPr>
            <a:picLocks noChangeAspect="1"/>
          </p:cNvPicPr>
          <p:nvPr/>
        </p:nvPicPr>
        <p:blipFill>
          <a:blip r:embed="rId5"/>
          <a:stretch>
            <a:fillRect/>
          </a:stretch>
        </p:blipFill>
        <p:spPr>
          <a:xfrm>
            <a:off x="5277485" y="1160780"/>
            <a:ext cx="895985" cy="463550"/>
          </a:xfrm>
          <a:prstGeom prst="rect">
            <a:avLst/>
          </a:prstGeom>
        </p:spPr>
      </p:pic>
      <p:pic>
        <p:nvPicPr>
          <p:cNvPr id="13" name="Image 4" descr="https://test-kimi-img.moonshot.cn/pub/slides/slides_tmpl/image/25-07-11-18:10:12-d1oe615cmrb5eq9iqav0.png"/>
          <p:cNvPicPr>
            <a:picLocks noChangeAspect="1"/>
          </p:cNvPicPr>
          <p:nvPr/>
        </p:nvPicPr>
        <p:blipFill>
          <a:blip r:embed="rId5"/>
          <a:stretch>
            <a:fillRect/>
          </a:stretch>
        </p:blipFill>
        <p:spPr>
          <a:xfrm>
            <a:off x="5277485" y="3036570"/>
            <a:ext cx="895985" cy="463550"/>
          </a:xfrm>
          <a:prstGeom prst="rect">
            <a:avLst/>
          </a:prstGeom>
        </p:spPr>
      </p:pic>
      <p:pic>
        <p:nvPicPr>
          <p:cNvPr id="14" name="Image 5" descr="https://test-kimi-img.moonshot.cn/pub/slides/slides_tmpl/image/25-07-11-18:10:15-d1oe61tcmrb5eq9iqb60.png"/>
          <p:cNvPicPr>
            <a:picLocks noChangeAspect="1"/>
          </p:cNvPicPr>
          <p:nvPr/>
        </p:nvPicPr>
        <p:blipFill>
          <a:blip r:embed="rId6"/>
          <a:stretch>
            <a:fillRect/>
          </a:stretch>
        </p:blipFill>
        <p:spPr>
          <a:xfrm>
            <a:off x="1251585" y="1089025"/>
            <a:ext cx="3475355" cy="54362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59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09-d1oe60dcmrb5eq9iqafg.png"/>
          <p:cNvPicPr>
            <a:picLocks noChangeAspect="1"/>
          </p:cNvPicPr>
          <p:nvPr/>
        </p:nvPicPr>
        <p:blipFill>
          <a:blip r:embed="rId2">
            <a:alphaModFix amt="74000"/>
          </a:blip>
          <a:srcRect t="15208"/>
          <a:stretch>
            <a:fillRect/>
          </a:stretch>
        </p:blipFill>
        <p:spPr>
          <a:xfrm>
            <a:off x="6398895" y="0"/>
            <a:ext cx="7380605" cy="2425065"/>
          </a:xfrm>
          <a:prstGeom prst="rect">
            <a:avLst/>
          </a:prstGeom>
        </p:spPr>
      </p:pic>
      <p:sp>
        <p:nvSpPr>
          <p:cNvPr id="3" name="Shape 0"/>
          <p:cNvSpPr/>
          <p:nvPr/>
        </p:nvSpPr>
        <p:spPr>
          <a:xfrm>
            <a:off x="-635" y="1473835"/>
            <a:ext cx="12192635" cy="1571625"/>
          </a:xfrm>
          <a:prstGeom prst="rect">
            <a:avLst/>
          </a:prstGeom>
          <a:gradFill flip="none" rotWithShape="1">
            <a:gsLst>
              <a:gs pos="42000">
                <a:srgbClr val="92ABDF">
                  <a:alpha val="81000"/>
                </a:srgbClr>
              </a:gs>
              <a:gs pos="100000">
                <a:srgbClr val="4874CB">
                  <a:alpha val="72000"/>
                </a:srgbClr>
              </a:gs>
            </a:gsLst>
            <a:lin ang="0" scaled="1"/>
          </a:gradFill>
        </p:spPr>
      </p:sp>
      <p:sp>
        <p:nvSpPr>
          <p:cNvPr id="4" name="Text 1"/>
          <p:cNvSpPr/>
          <p:nvPr/>
        </p:nvSpPr>
        <p:spPr>
          <a:xfrm>
            <a:off x="-635" y="1473835"/>
            <a:ext cx="12192635" cy="157162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Text 2"/>
          <p:cNvSpPr/>
          <p:nvPr/>
        </p:nvSpPr>
        <p:spPr>
          <a:xfrm>
            <a:off x="7697470" y="1614805"/>
            <a:ext cx="4281805" cy="1330960"/>
          </a:xfrm>
          <a:prstGeom prst="rect">
            <a:avLst/>
          </a:prstGeom>
          <a:noFill/>
        </p:spPr>
        <p:txBody>
          <a:bodyPr wrap="square" lIns="91440" tIns="45720" rIns="91440" bIns="45720" rtlCol="0" anchor="ctr"/>
          <a:lstStyle/>
          <a:p>
            <a:pPr marL="457200" lvl="1" indent="457200" algn="just">
              <a:lnSpc>
                <a:spcPct val="100000"/>
              </a:lnSpc>
              <a:buNone/>
            </a:pPr>
            <a:r>
              <a:rPr lang="en-US" sz="3600" b="1" dirty="0">
                <a:solidFill>
                  <a:srgbClr val="FFFFFF"/>
                </a:solidFill>
                <a:latin typeface="MiSans" panose="00000500000000000000" pitchFamily="34" charset="-122"/>
                <a:ea typeface="MiSans" panose="00000500000000000000" pitchFamily="34" charset="-122"/>
                <a:cs typeface="MiSans" panose="00000500000000000000" pitchFamily="34" charset="-120"/>
              </a:rPr>
              <a:t>从“内容对错”</a:t>
            </a:r>
            <a:endParaRPr lang="en-US" sz="3600" b="1" dirty="0">
              <a:solidFill>
                <a:srgbClr val="FFFFFF"/>
              </a:solidFill>
              <a:latin typeface="MiSans" panose="00000500000000000000" pitchFamily="34" charset="-122"/>
              <a:ea typeface="MiSans" panose="00000500000000000000" pitchFamily="34" charset="-122"/>
              <a:cs typeface="MiSans" panose="00000500000000000000" pitchFamily="34" charset="-120"/>
            </a:endParaRPr>
          </a:p>
          <a:p>
            <a:pPr marL="0" indent="457200" algn="just">
              <a:lnSpc>
                <a:spcPct val="100000"/>
              </a:lnSpc>
              <a:buNone/>
            </a:pPr>
            <a:r>
              <a:rPr lang="en-US" sz="3600" b="1" dirty="0">
                <a:solidFill>
                  <a:srgbClr val="FFFFFF"/>
                </a:solidFill>
                <a:latin typeface="MiSans" panose="00000500000000000000" pitchFamily="34" charset="-122"/>
                <a:ea typeface="MiSans" panose="00000500000000000000" pitchFamily="34" charset="-122"/>
                <a:cs typeface="MiSans" panose="00000500000000000000" pitchFamily="34" charset="-120"/>
              </a:rPr>
              <a:t>到“360°全息</a:t>
            </a:r>
            <a:endParaRPr lang="en-US" sz="3600" b="1" dirty="0">
              <a:solidFill>
                <a:srgbClr val="FFFFFF"/>
              </a:solidFill>
              <a:latin typeface="MiSans" panose="00000500000000000000" pitchFamily="34" charset="-122"/>
              <a:ea typeface="MiSans" panose="00000500000000000000" pitchFamily="34" charset="-122"/>
              <a:cs typeface="MiSans" panose="00000500000000000000" pitchFamily="34" charset="-120"/>
            </a:endParaRPr>
          </a:p>
          <a:p>
            <a:pPr marL="0" indent="0" algn="just">
              <a:lnSpc>
                <a:spcPct val="100000"/>
              </a:lnSpc>
              <a:buNone/>
            </a:pPr>
            <a:r>
              <a:rPr lang="en-US" sz="3600" b="1" dirty="0">
                <a:solidFill>
                  <a:srgbClr val="FFFFFF"/>
                </a:solidFill>
                <a:latin typeface="MiSans" panose="00000500000000000000" pitchFamily="34" charset="-122"/>
                <a:ea typeface="MiSans" panose="00000500000000000000" pitchFamily="34" charset="-122"/>
                <a:cs typeface="MiSans" panose="00000500000000000000" pitchFamily="34" charset="-120"/>
              </a:rPr>
              <a:t>表现诊断”反馈升级</a:t>
            </a:r>
            <a:endParaRPr lang="en-US" sz="1600" dirty="0"/>
          </a:p>
        </p:txBody>
      </p:sp>
      <p:sp>
        <p:nvSpPr>
          <p:cNvPr id="6" name="Text 3"/>
          <p:cNvSpPr/>
          <p:nvPr/>
        </p:nvSpPr>
        <p:spPr>
          <a:xfrm>
            <a:off x="6158865" y="4472305"/>
            <a:ext cx="5891530" cy="1868170"/>
          </a:xfrm>
          <a:prstGeom prst="rect">
            <a:avLst/>
          </a:prstGeom>
          <a:noFill/>
        </p:spPr>
        <p:txBody>
          <a:bodyPr wrap="square" lIns="0" tIns="0" rIns="0" bIns="46990" rtlCol="0" anchor="t"/>
          <a:lstStyle/>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我们构建的</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多模态特征融合管道</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，为用户提供深度自我认知：</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zh-CN" altLang="en-US" sz="1400" dirty="0">
                <a:latin typeface="MiSans" panose="00000500000000000000" pitchFamily="34" charset="-122"/>
                <a:ea typeface="MiSans" panose="00000500000000000000" pitchFamily="34" charset="-122"/>
                <a:cs typeface="MiSans" panose="00000500000000000000" pitchFamily="34" charset="-122"/>
              </a:rPr>
              <a:t>说什么</a:t>
            </a:r>
            <a:r>
              <a:rPr lang="en-US" altLang="zh-CN" sz="1400" dirty="0">
                <a:latin typeface="MiSans" panose="00000500000000000000" pitchFamily="34" charset="-122"/>
                <a:ea typeface="MiSans" panose="00000500000000000000" pitchFamily="34" charset="-122"/>
                <a:cs typeface="MiSans" panose="00000500000000000000" pitchFamily="34" charset="-122"/>
              </a:rPr>
              <a:t>” - </a:t>
            </a:r>
            <a:r>
              <a:rPr lang="zh-CN" altLang="en-US" sz="1400" dirty="0">
                <a:latin typeface="MiSans" panose="00000500000000000000" pitchFamily="34" charset="-122"/>
                <a:ea typeface="MiSans" panose="00000500000000000000" pitchFamily="34" charset="-122"/>
                <a:cs typeface="MiSans" panose="00000500000000000000" pitchFamily="34" charset="-122"/>
              </a:rPr>
              <a:t>内容逻辑分析：评估回答的相关性、完整性和逻辑结构。</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zh-CN" altLang="en-US" sz="1400" dirty="0">
                <a:latin typeface="MiSans" panose="00000500000000000000" pitchFamily="34" charset="-122"/>
                <a:ea typeface="MiSans" panose="00000500000000000000" pitchFamily="34" charset="-122"/>
                <a:cs typeface="MiSans" panose="00000500000000000000" pitchFamily="34" charset="-122"/>
              </a:rPr>
              <a:t>怎么说</a:t>
            </a:r>
            <a:r>
              <a:rPr lang="en-US" altLang="zh-CN" sz="1400" dirty="0">
                <a:latin typeface="MiSans" panose="00000500000000000000" pitchFamily="34" charset="-122"/>
                <a:ea typeface="MiSans" panose="00000500000000000000" pitchFamily="34" charset="-122"/>
                <a:cs typeface="MiSans" panose="00000500000000000000" pitchFamily="34" charset="-122"/>
              </a:rPr>
              <a:t>” - </a:t>
            </a:r>
            <a:r>
              <a:rPr lang="zh-CN" altLang="en-US" sz="1400" dirty="0">
                <a:latin typeface="MiSans" panose="00000500000000000000" pitchFamily="34" charset="-122"/>
                <a:ea typeface="MiSans" panose="00000500000000000000" pitchFamily="34" charset="-122"/>
                <a:cs typeface="MiSans" panose="00000500000000000000" pitchFamily="34" charset="-122"/>
              </a:rPr>
              <a:t>言语表达分析：量化评估语速、语调、流畅度等表达能力。</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a:t>
            </a:r>
            <a:r>
              <a:rPr lang="en-US" altLang="en-US" sz="1400" dirty="0">
                <a:latin typeface="MiSans" panose="00000500000000000000" pitchFamily="34" charset="-122"/>
                <a:ea typeface="MiSans" panose="00000500000000000000" pitchFamily="34" charset="-122"/>
                <a:cs typeface="MiSans" panose="00000500000000000000" pitchFamily="34" charset="-122"/>
              </a:rPr>
              <a:t>️</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zh-CN" altLang="en-US" sz="1400" dirty="0">
                <a:latin typeface="MiSans" panose="00000500000000000000" pitchFamily="34" charset="-122"/>
                <a:ea typeface="MiSans" panose="00000500000000000000" pitchFamily="34" charset="-122"/>
                <a:cs typeface="MiSans" panose="00000500000000000000" pitchFamily="34" charset="-122"/>
              </a:rPr>
              <a:t>什么样</a:t>
            </a:r>
            <a:r>
              <a:rPr lang="en-US" altLang="zh-CN" sz="1400" dirty="0">
                <a:latin typeface="MiSans" panose="00000500000000000000" pitchFamily="34" charset="-122"/>
                <a:ea typeface="MiSans" panose="00000500000000000000" pitchFamily="34" charset="-122"/>
                <a:cs typeface="MiSans" panose="00000500000000000000" pitchFamily="34" charset="-122"/>
              </a:rPr>
              <a:t>” - </a:t>
            </a:r>
            <a:r>
              <a:rPr lang="zh-CN" altLang="en-US" sz="1400" dirty="0">
                <a:latin typeface="MiSans" panose="00000500000000000000" pitchFamily="34" charset="-122"/>
                <a:ea typeface="MiSans" panose="00000500000000000000" pitchFamily="34" charset="-122"/>
                <a:cs typeface="MiSans" panose="00000500000000000000" pitchFamily="34" charset="-122"/>
              </a:rPr>
              <a:t>视觉仪态分析：洞察微表情、身体姿态、眼神接触背后的心理状态。</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a:p>
            <a:pPr marL="0" indent="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核心突破：</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zh-CN" altLang="en-US" sz="1400" dirty="0">
                <a:latin typeface="MiSans" panose="00000500000000000000" pitchFamily="34" charset="-122"/>
                <a:ea typeface="MiSans" panose="00000500000000000000" pitchFamily="34" charset="-122"/>
                <a:cs typeface="MiSans" panose="00000500000000000000" pitchFamily="34" charset="-122"/>
              </a:rPr>
              <a:t>建模模态间的相互影响，提供如</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因内容不熟练导致语速下降和不自信微表情</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的深度诊断。</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p:txBody>
      </p:sp>
      <p:sp>
        <p:nvSpPr>
          <p:cNvPr id="7" name="Text 4"/>
          <p:cNvSpPr/>
          <p:nvPr/>
        </p:nvSpPr>
        <p:spPr>
          <a:xfrm>
            <a:off x="665269" y="4463967"/>
            <a:ext cx="4964861" cy="1867301"/>
          </a:xfrm>
          <a:prstGeom prst="rect">
            <a:avLst/>
          </a:prstGeom>
          <a:noFill/>
        </p:spPr>
        <p:txBody>
          <a:bodyPr wrap="square" lIns="0" tIns="0" rIns="0" bIns="4699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现有反馈多集中在回答内容的正确性上，忽略了同样重要的表达方式和仪态。</a:t>
            </a:r>
            <a:r>
              <a:rPr lang="zh-CN" altLang="en-US" sz="1400" dirty="0">
                <a:latin typeface="MiSans" panose="00000500000000000000" pitchFamily="34" charset="-122"/>
                <a:ea typeface="MiSans" panose="00000500000000000000" pitchFamily="34" charset="-122"/>
                <a:cs typeface="MiSans" panose="00000500000000000000" pitchFamily="34" charset="-122"/>
              </a:rPr>
              <a:t>传统工具如同一个只能批改文字作业的老师，它只能判断回答内容是否</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正确</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，却无法感知你的语气、表情和姿态。这种反馈是片面的、割裂的。</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p:txBody>
      </p:sp>
      <p:sp>
        <p:nvSpPr>
          <p:cNvPr id="8" name="Shape 5"/>
          <p:cNvSpPr/>
          <p:nvPr/>
        </p:nvSpPr>
        <p:spPr>
          <a:xfrm>
            <a:off x="6087428" y="3540443"/>
            <a:ext cx="0" cy="2532924"/>
          </a:xfrm>
          <a:prstGeom prst="line">
            <a:avLst/>
          </a:prstGeom>
          <a:noFill/>
          <a:ln w="19050">
            <a:gradFill flip="none" rotWithShape="1">
              <a:gsLst>
                <a:gs pos="10000">
                  <a:srgbClr val="4874CB">
                    <a:alpha val="0"/>
                  </a:srgbClr>
                </a:gs>
                <a:gs pos="50000">
                  <a:srgbClr val="4874CB">
                    <a:alpha val="50000"/>
                  </a:srgbClr>
                </a:gs>
                <a:gs pos="90000">
                  <a:srgbClr val="4874CB">
                    <a:alpha val="0"/>
                  </a:srgbClr>
                </a:gs>
              </a:gsLst>
              <a:lin ang="16200000" scaled="1"/>
            </a:gradFill>
            <a:prstDash val="solid"/>
            <a:headEnd type="none"/>
            <a:tailEnd type="none"/>
          </a:ln>
        </p:spPr>
      </p:sp>
      <p:pic>
        <p:nvPicPr>
          <p:cNvPr id="9" name="Image 1" descr="https://test-kimi-img.moonshot.cn/pub/slides/slides_tmpl/image/25-07-11-18:10:10-d1oe60lcmrb5eq9iqaj0.png"/>
          <p:cNvPicPr>
            <a:picLocks noChangeAspect="1"/>
          </p:cNvPicPr>
          <p:nvPr/>
        </p:nvPicPr>
        <p:blipFill>
          <a:blip r:embed="rId3"/>
          <a:stretch>
            <a:fillRect/>
          </a:stretch>
        </p:blipFill>
        <p:spPr>
          <a:xfrm>
            <a:off x="665480" y="390525"/>
            <a:ext cx="597535" cy="280670"/>
          </a:xfrm>
          <a:prstGeom prst="rect">
            <a:avLst/>
          </a:prstGeom>
        </p:spPr>
      </p:pic>
      <p:sp>
        <p:nvSpPr>
          <p:cNvPr id="10" name="Text 6"/>
          <p:cNvSpPr/>
          <p:nvPr/>
        </p:nvSpPr>
        <p:spPr>
          <a:xfrm>
            <a:off x="1014730" y="3540760"/>
            <a:ext cx="4458335" cy="669925"/>
          </a:xfrm>
          <a:prstGeom prst="rect">
            <a:avLst/>
          </a:prstGeom>
          <a:noFill/>
        </p:spPr>
        <p:txBody>
          <a:bodyPr wrap="square" lIns="0" tIns="0" rIns="0" bIns="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现状</a:t>
            </a:r>
            <a:endParaRPr lang="en-US" sz="1600" dirty="0"/>
          </a:p>
        </p:txBody>
      </p:sp>
      <p:sp>
        <p:nvSpPr>
          <p:cNvPr id="11" name="Text 7"/>
          <p:cNvSpPr/>
          <p:nvPr/>
        </p:nvSpPr>
        <p:spPr>
          <a:xfrm>
            <a:off x="6702425" y="3540760"/>
            <a:ext cx="4458335" cy="669925"/>
          </a:xfrm>
          <a:prstGeom prst="rect">
            <a:avLst/>
          </a:prstGeom>
          <a:noFill/>
        </p:spPr>
        <p:txBody>
          <a:bodyPr wrap="square" lIns="0" tIns="0" rIns="0" bIns="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我们的创新</a:t>
            </a:r>
            <a:endParaRPr lang="en-US" sz="1600" dirty="0"/>
          </a:p>
        </p:txBody>
      </p:sp>
      <p:pic>
        <p:nvPicPr>
          <p:cNvPr id="12" name="Image 2" descr="E:/Daily_File/RACE/第十四届中国软件杯/项目展示图/微表情识别.png微表情识别"/>
          <p:cNvPicPr>
            <a:picLocks noChangeAspect="1"/>
          </p:cNvPicPr>
          <p:nvPr/>
        </p:nvPicPr>
        <p:blipFill>
          <a:blip r:embed="rId4"/>
          <a:srcRect l="5335" r="5335"/>
          <a:stretch>
            <a:fillRect/>
          </a:stretch>
        </p:blipFill>
        <p:spPr>
          <a:xfrm>
            <a:off x="211455" y="1297305"/>
            <a:ext cx="3688080" cy="2243455"/>
          </a:xfrm>
          <a:prstGeom prst="rect">
            <a:avLst/>
          </a:prstGeom>
        </p:spPr>
      </p:pic>
      <p:pic>
        <p:nvPicPr>
          <p:cNvPr id="13" name="Image 3" descr="E:/Daily_File/RACE/第十四届中国软件杯/项目展示图/身体姿态分析.png身体姿态分析"/>
          <p:cNvPicPr>
            <a:picLocks noChangeAspect="1"/>
          </p:cNvPicPr>
          <p:nvPr/>
        </p:nvPicPr>
        <p:blipFill>
          <a:blip r:embed="rId5"/>
          <a:srcRect l="6057" r="6057"/>
          <a:stretch>
            <a:fillRect/>
          </a:stretch>
        </p:blipFill>
        <p:spPr>
          <a:xfrm>
            <a:off x="2850515" y="318770"/>
            <a:ext cx="3688080" cy="2243455"/>
          </a:xfrm>
          <a:prstGeom prst="rect">
            <a:avLst/>
          </a:prstGeom>
        </p:spPr>
      </p:pic>
      <p:pic>
        <p:nvPicPr>
          <p:cNvPr id="16" name="图片 15" descr="眼神接触"/>
          <p:cNvPicPr>
            <a:picLocks noChangeAspect="1"/>
          </p:cNvPicPr>
          <p:nvPr/>
        </p:nvPicPr>
        <p:blipFill>
          <a:blip r:embed="rId6"/>
          <a:stretch>
            <a:fillRect/>
          </a:stretch>
        </p:blipFill>
        <p:spPr>
          <a:xfrm>
            <a:off x="4119245" y="2329180"/>
            <a:ext cx="3578225" cy="20345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50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18-d1oe62lcmrb5eq9iqbgg.jpg"/>
          <p:cNvPicPr>
            <a:picLocks noChangeAspect="1"/>
          </p:cNvPicPr>
          <p:nvPr/>
        </p:nvPicPr>
        <p:blipFill>
          <a:blip r:embed="rId2"/>
          <a:stretch>
            <a:fillRect/>
          </a:stretch>
        </p:blipFill>
        <p:spPr>
          <a:xfrm>
            <a:off x="14605" y="0"/>
            <a:ext cx="12177395" cy="6858000"/>
          </a:xfrm>
          <a:prstGeom prst="rect">
            <a:avLst/>
          </a:prstGeom>
        </p:spPr>
      </p:pic>
      <p:pic>
        <p:nvPicPr>
          <p:cNvPr id="3" name="Image 1" descr="https://test-kimi-img.moonshot.cn/pub/slides/slides_tmpl/image/25-07-11-18:10:12-d1oe615cmrb5eq9iqarg.png"/>
          <p:cNvPicPr>
            <a:picLocks noChangeAspect="1"/>
          </p:cNvPicPr>
          <p:nvPr/>
        </p:nvPicPr>
        <p:blipFill>
          <a:blip r:embed="rId3"/>
          <a:stretch>
            <a:fillRect/>
          </a:stretch>
        </p:blipFill>
        <p:spPr>
          <a:xfrm>
            <a:off x="354965" y="208280"/>
            <a:ext cx="1073150" cy="554990"/>
          </a:xfrm>
          <a:prstGeom prst="rect">
            <a:avLst/>
          </a:prstGeom>
        </p:spPr>
      </p:pic>
      <p:pic>
        <p:nvPicPr>
          <p:cNvPr id="4" name="Image 2" descr="https://test-kimi-img.moonshot.cn/pub/slides/slides_tmpl/image/25-07-11-18:10:14-d1oe61lcmrb5eq9iqb2g.png"/>
          <p:cNvPicPr>
            <a:picLocks noChangeAspect="1"/>
          </p:cNvPicPr>
          <p:nvPr/>
        </p:nvPicPr>
        <p:blipFill>
          <a:blip r:embed="rId4">
            <a:alphaModFix amt="83000"/>
          </a:blip>
          <a:srcRect l="115" t="145" r="83" b="161"/>
          <a:stretch>
            <a:fillRect/>
          </a:stretch>
        </p:blipFill>
        <p:spPr>
          <a:xfrm>
            <a:off x="4166235" y="1635760"/>
            <a:ext cx="3859530" cy="3912235"/>
          </a:xfrm>
          <a:prstGeom prst="rect">
            <a:avLst/>
          </a:prstGeom>
        </p:spPr>
      </p:pic>
      <p:sp>
        <p:nvSpPr>
          <p:cNvPr id="5" name="Text 0"/>
          <p:cNvSpPr/>
          <p:nvPr/>
        </p:nvSpPr>
        <p:spPr>
          <a:xfrm>
            <a:off x="78994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从“一次性工具”到“持续性成长生态”</a:t>
            </a:r>
            <a:endPar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a:p>
            <a:pPr marL="0" indent="0" algn="l">
              <a:lnSpc>
                <a:spcPct val="100000"/>
              </a:lnSpc>
              <a:buNone/>
            </a:pPr>
            <a:r>
              <a:rPr lang="en-US" sz="2800" b="1" dirty="0">
                <a:solidFill>
                  <a:srgbClr val="000000"/>
                </a:solidFill>
                <a:latin typeface="MiSans" panose="00000500000000000000" pitchFamily="34" charset="-122"/>
                <a:ea typeface="MiSans" panose="00000500000000000000" pitchFamily="34" charset="-122"/>
                <a:cs typeface="MiSans" panose="00000500000000000000" pitchFamily="34" charset="-120"/>
              </a:rPr>
              <a:t>的价值重塑</a:t>
            </a:r>
            <a:endParaRPr lang="en-US" sz="1600" dirty="0"/>
          </a:p>
        </p:txBody>
      </p:sp>
      <p:sp>
        <p:nvSpPr>
          <p:cNvPr id="6" name="Text 1"/>
          <p:cNvSpPr/>
          <p:nvPr/>
        </p:nvSpPr>
        <p:spPr>
          <a:xfrm>
            <a:off x="685800" y="2000885"/>
            <a:ext cx="4740275" cy="1616075"/>
          </a:xfrm>
          <a:prstGeom prst="rect">
            <a:avLst/>
          </a:prstGeom>
          <a:noFill/>
        </p:spPr>
        <p:txBody>
          <a:bodyPr wrap="square" lIns="0" tIns="0" rIns="0" bIns="0" rtlCol="0" anchor="t"/>
          <a:lstStyle/>
          <a:p>
            <a:pPr marL="0" indent="45720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传统工具用完即走，用户的练习数据成了一次性的</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数据孤孤岛</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，无法为下一次的成长提供导航，造成巨大的价值浪费。</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p:txBody>
      </p:sp>
      <p:sp>
        <p:nvSpPr>
          <p:cNvPr id="7" name="Text 2"/>
          <p:cNvSpPr/>
          <p:nvPr/>
        </p:nvSpPr>
        <p:spPr>
          <a:xfrm>
            <a:off x="685800" y="1301433"/>
            <a:ext cx="5101590" cy="735330"/>
          </a:xfrm>
          <a:prstGeom prst="rect">
            <a:avLst/>
          </a:prstGeom>
          <a:noFill/>
        </p:spPr>
        <p:txBody>
          <a:bodyPr wrap="square" lIns="0" tIns="0" rIns="0" bIns="0" rtlCol="0" anchor="ctr"/>
          <a:lstStyle/>
          <a:p>
            <a:pPr marL="0" indent="0" algn="l">
              <a:lnSpc>
                <a:spcPct val="100000"/>
              </a:lnSpc>
              <a:buNone/>
            </a:pPr>
            <a:r>
              <a:rPr lang="en-US" sz="4000" b="1" dirty="0">
                <a:gradFill flip="none" rotWithShape="0">
                  <a:gsLst>
                    <a:gs pos="0">
                      <a:srgbClr val="ACC1E8"/>
                    </a:gs>
                    <a:gs pos="31000">
                      <a:srgbClr val="849FDE"/>
                    </a:gs>
                    <a:gs pos="68000">
                      <a:srgbClr val="5A7DD4"/>
                    </a:gs>
                  </a:gsLst>
                  <a:lin ang="10800000" scaled="1"/>
                </a:gra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
        <p:nvSpPr>
          <p:cNvPr id="8" name="Text 3"/>
          <p:cNvSpPr/>
          <p:nvPr/>
        </p:nvSpPr>
        <p:spPr>
          <a:xfrm>
            <a:off x="685800" y="3796665"/>
            <a:ext cx="5101590" cy="1720215"/>
          </a:xfrm>
          <a:prstGeom prst="rect">
            <a:avLst/>
          </a:prstGeom>
          <a:noFill/>
        </p:spPr>
        <p:txBody>
          <a:bodyPr wrap="square" lIns="0" tIns="0" rIns="0" bIns="0" rtlCol="0" anchor="t"/>
          <a:lstStyle/>
          <a:p>
            <a:pPr marL="0" indent="457200" algn="just">
              <a:lnSpc>
                <a:spcPct val="150000"/>
              </a:lnSpc>
              <a:buNone/>
            </a:pPr>
            <a:r>
              <a:rPr lang="en-US" sz="1400" b="1" dirty="0">
                <a:solidFill>
                  <a:srgbClr val="262626"/>
                </a:solidFill>
                <a:latin typeface="MiSans" panose="00000500000000000000" pitchFamily="34" charset="-122"/>
                <a:ea typeface="MiSans" panose="00000500000000000000" pitchFamily="34" charset="-122"/>
                <a:cs typeface="MiSans" panose="00000500000000000000" pitchFamily="34" charset="-122"/>
              </a:rPr>
              <a:t>设计“诊断-处方-训练”的自动化闭环生态，将测评模块的输出无缝连接到推荐引擎的输入，引导用户进行专项训练。</a:t>
            </a:r>
            <a:endParaRPr lang="en-US" sz="1400" b="1" dirty="0">
              <a:solidFill>
                <a:srgbClr val="262626"/>
              </a:solidFill>
              <a:latin typeface="MiSans" panose="00000500000000000000" pitchFamily="34" charset="-122"/>
              <a:ea typeface="MiSans" panose="00000500000000000000" pitchFamily="34" charset="-122"/>
              <a:cs typeface="MiSans" panose="00000500000000000000" pitchFamily="34" charset="-122"/>
            </a:endParaRPr>
          </a:p>
          <a:p>
            <a:pPr marL="0" indent="457200" algn="just">
              <a:lnSpc>
                <a:spcPct val="150000"/>
              </a:lnSpc>
              <a:buNone/>
            </a:pPr>
            <a:r>
              <a:rPr lang="zh-CN" altLang="en-US" sz="1400" dirty="0">
                <a:latin typeface="MiSans" panose="00000500000000000000" pitchFamily="34" charset="-122"/>
                <a:ea typeface="MiSans" panose="00000500000000000000" pitchFamily="34" charset="-122"/>
                <a:cs typeface="MiSans" panose="00000500000000000000" pitchFamily="34" charset="-122"/>
              </a:rPr>
              <a:t>我们构建了一个能自我驱动的成长生态。通过</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诊断</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en-US" altLang="en-US" sz="1400" dirty="0">
                <a:latin typeface="MiSans" panose="00000500000000000000" pitchFamily="34" charset="-122"/>
                <a:ea typeface="MiSans" panose="00000500000000000000" pitchFamily="34" charset="-122"/>
                <a:cs typeface="MiSans" panose="00000500000000000000" pitchFamily="34" charset="-122"/>
              </a:rPr>
              <a:t>→</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zh-CN" altLang="en-US" sz="1400" dirty="0">
                <a:latin typeface="MiSans" panose="00000500000000000000" pitchFamily="34" charset="-122"/>
                <a:ea typeface="MiSans" panose="00000500000000000000" pitchFamily="34" charset="-122"/>
                <a:cs typeface="MiSans" panose="00000500000000000000" pitchFamily="34" charset="-122"/>
              </a:rPr>
              <a:t>赋能</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en-US" altLang="en-US" sz="1400" dirty="0">
                <a:latin typeface="MiSans" panose="00000500000000000000" pitchFamily="34" charset="-122"/>
                <a:ea typeface="MiSans" panose="00000500000000000000" pitchFamily="34" charset="-122"/>
                <a:cs typeface="MiSans" panose="00000500000000000000" pitchFamily="34" charset="-122"/>
              </a:rPr>
              <a:t>→</a:t>
            </a:r>
            <a:r>
              <a:rPr lang="en-US" altLang="zh-CN" sz="1400" dirty="0">
                <a:latin typeface="MiSans" panose="00000500000000000000" pitchFamily="34" charset="-122"/>
                <a:ea typeface="MiSans" panose="00000500000000000000" pitchFamily="34" charset="-122"/>
                <a:cs typeface="MiSans" panose="00000500000000000000" pitchFamily="34" charset="-122"/>
              </a:rPr>
              <a:t> </a:t>
            </a:r>
            <a:r>
              <a:rPr lang="zh-CN" altLang="en-US" sz="1400" dirty="0">
                <a:latin typeface="MiSans" panose="00000500000000000000" pitchFamily="34" charset="-122"/>
                <a:ea typeface="MiSans" panose="00000500000000000000" pitchFamily="34" charset="-122"/>
                <a:cs typeface="MiSans" panose="00000500000000000000" pitchFamily="34" charset="-122"/>
              </a:rPr>
              <a:t>训练</a:t>
            </a:r>
            <a:r>
              <a:rPr lang="en-US" altLang="zh-CN" sz="1400" dirty="0">
                <a:latin typeface="MiSans" panose="00000500000000000000" pitchFamily="34" charset="-122"/>
                <a:ea typeface="MiSans" panose="00000500000000000000" pitchFamily="34" charset="-122"/>
                <a:cs typeface="MiSans" panose="00000500000000000000" pitchFamily="34" charset="-122"/>
              </a:rPr>
              <a:t>”</a:t>
            </a:r>
            <a:r>
              <a:rPr lang="zh-CN" altLang="en-US" sz="1400" dirty="0">
                <a:latin typeface="MiSans" panose="00000500000000000000" pitchFamily="34" charset="-122"/>
                <a:ea typeface="MiSans" panose="00000500000000000000" pitchFamily="34" charset="-122"/>
                <a:cs typeface="MiSans" panose="00000500000000000000" pitchFamily="34" charset="-122"/>
              </a:rPr>
              <a:t>的闭环，用户的每一次练习都会沉淀为数据资产，加速其个人成长飞轮的转动，实现持续性的价值提升。</a:t>
            </a:r>
            <a:endParaRPr lang="zh-CN" altLang="en-US" sz="1400" dirty="0">
              <a:latin typeface="MiSans" panose="00000500000000000000" pitchFamily="34" charset="-122"/>
              <a:ea typeface="MiSans" panose="00000500000000000000" pitchFamily="34" charset="-122"/>
              <a:cs typeface="MiSans" panose="00000500000000000000" pitchFamily="34" charset="-122"/>
            </a:endParaRPr>
          </a:p>
        </p:txBody>
      </p:sp>
      <p:sp>
        <p:nvSpPr>
          <p:cNvPr id="9" name="Text 4"/>
          <p:cNvSpPr/>
          <p:nvPr/>
        </p:nvSpPr>
        <p:spPr>
          <a:xfrm>
            <a:off x="685815" y="3061176"/>
            <a:ext cx="933445" cy="735330"/>
          </a:xfrm>
          <a:prstGeom prst="rect">
            <a:avLst/>
          </a:prstGeom>
          <a:noFill/>
        </p:spPr>
        <p:txBody>
          <a:bodyPr wrap="square" lIns="0" tIns="0" rIns="0" bIns="0" rtlCol="0" anchor="ctr"/>
          <a:lstStyle/>
          <a:p>
            <a:pPr marL="0" indent="0" algn="l">
              <a:lnSpc>
                <a:spcPct val="100000"/>
              </a:lnSpc>
              <a:buNone/>
            </a:pPr>
            <a:r>
              <a:rPr lang="en-US" sz="4000" b="1" dirty="0">
                <a:gradFill flip="none" rotWithShape="0">
                  <a:gsLst>
                    <a:gs pos="36000">
                      <a:srgbClr val="5A7DD4"/>
                    </a:gs>
                    <a:gs pos="99000">
                      <a:srgbClr val="ACC1E8"/>
                    </a:gs>
                  </a:gsLst>
                  <a:lin ang="10800000" scaled="1"/>
                </a:gradFill>
                <a:latin typeface="MiSans" panose="00000500000000000000" pitchFamily="34" charset="-122"/>
                <a:ea typeface="MiSans" panose="00000500000000000000" pitchFamily="34" charset="-122"/>
                <a:cs typeface="MiSans" panose="00000500000000000000" pitchFamily="34" charset="-120"/>
              </a:rPr>
              <a:t>02</a:t>
            </a:r>
            <a:endParaRPr lang="en-US" sz="1600" dirty="0"/>
          </a:p>
        </p:txBody>
      </p:sp>
      <p:sp>
        <p:nvSpPr>
          <p:cNvPr id="10" name="Text 5"/>
          <p:cNvSpPr/>
          <p:nvPr/>
        </p:nvSpPr>
        <p:spPr>
          <a:xfrm>
            <a:off x="-579755" y="3061335"/>
            <a:ext cx="5483225" cy="699135"/>
          </a:xfrm>
          <a:prstGeom prst="rect">
            <a:avLst/>
          </a:prstGeom>
          <a:noFill/>
        </p:spPr>
        <p:txBody>
          <a:bodyPr wrap="square" lIns="0" tIns="0" rIns="0" bIns="0" rtlCol="0" anchor="ctr"/>
          <a:lstStyle/>
          <a:p>
            <a:pPr marL="0" indent="0" algn="ctr">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我们的创新</a:t>
            </a:r>
            <a:r>
              <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a:t>
            </a:r>
            <a:endPar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endParaRPr>
          </a:p>
          <a:p>
            <a:pPr marL="0" indent="0" algn="r">
              <a:lnSpc>
                <a:spcPct val="100000"/>
              </a:lnSpc>
              <a:buNone/>
            </a:pPr>
            <a:r>
              <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构建</a:t>
            </a:r>
            <a:r>
              <a:rPr lang="en-US" altLang="zh-CN"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a:t>
            </a:r>
            <a:r>
              <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数据驱动</a:t>
            </a:r>
            <a:r>
              <a:rPr lang="en-US" altLang="zh-CN"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a:t>
            </a:r>
            <a:r>
              <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的个人成长飞轮</a:t>
            </a:r>
            <a:endPar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endParaRPr>
          </a:p>
        </p:txBody>
      </p:sp>
      <p:sp>
        <p:nvSpPr>
          <p:cNvPr id="11" name="Text 6"/>
          <p:cNvSpPr/>
          <p:nvPr/>
        </p:nvSpPr>
        <p:spPr>
          <a:xfrm>
            <a:off x="1231265" y="1301750"/>
            <a:ext cx="5483225" cy="699135"/>
          </a:xfrm>
          <a:prstGeom prst="rect">
            <a:avLst/>
          </a:prstGeom>
          <a:noFill/>
        </p:spPr>
        <p:txBody>
          <a:bodyPr wrap="square" lIns="0" tIns="0" rIns="0" bIns="0" rtlCol="0" anchor="ctr"/>
          <a:lstStyle/>
          <a:p>
            <a:pPr marL="0" indent="0" algn="l">
              <a:lnSpc>
                <a:spcPct val="100000"/>
              </a:lnSpc>
              <a:buNone/>
            </a:pPr>
            <a:r>
              <a:rPr 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现状:</a:t>
            </a:r>
            <a:r>
              <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断点地</a:t>
            </a:r>
            <a:r>
              <a:rPr lang="en-US" altLang="zh-CN"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a:t>
            </a:r>
            <a:r>
              <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一次性</a:t>
            </a:r>
            <a:r>
              <a:rPr lang="en-US" altLang="zh-CN"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a:t>
            </a:r>
            <a:r>
              <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rPr>
              <a:t>体验</a:t>
            </a:r>
            <a:endParaRPr lang="zh-CN" altLang="en-US" sz="2000" b="1" dirty="0">
              <a:solidFill>
                <a:srgbClr val="4874CB"/>
              </a:solidFill>
              <a:latin typeface="MiSans" panose="00000500000000000000" pitchFamily="34" charset="-122"/>
              <a:ea typeface="MiSans" panose="00000500000000000000" pitchFamily="34" charset="-122"/>
              <a:cs typeface="MiSans" panose="00000500000000000000" pitchFamily="34" charset="-120"/>
            </a:endParaRPr>
          </a:p>
        </p:txBody>
      </p:sp>
      <p:pic>
        <p:nvPicPr>
          <p:cNvPr id="12" name="Image 3" descr="https://test-kimi-img.moonshot.cn/pub/slides/slides_tmpl/image/25-07-11-18:10:11-d1oe60tcmrb5eq9iqapg.png"/>
          <p:cNvPicPr>
            <a:picLocks noChangeAspect="1"/>
          </p:cNvPicPr>
          <p:nvPr/>
        </p:nvPicPr>
        <p:blipFill>
          <a:blip r:embed="rId5"/>
          <a:stretch>
            <a:fillRect/>
          </a:stretch>
        </p:blipFill>
        <p:spPr>
          <a:xfrm rot="11520000">
            <a:off x="10706735" y="-624205"/>
            <a:ext cx="1950720" cy="1950720"/>
          </a:xfrm>
          <a:prstGeom prst="rect">
            <a:avLst/>
          </a:prstGeom>
        </p:spPr>
      </p:pic>
      <p:pic>
        <p:nvPicPr>
          <p:cNvPr id="13" name="Image 4" descr="https://test-kimi-img.moonshot.cn/pub/slides/slides_tmpl/image/25-07-11-18:10:08-d1oe605cmrb5eq9iqac0.png"/>
          <p:cNvPicPr>
            <a:picLocks noChangeAspect="1"/>
          </p:cNvPicPr>
          <p:nvPr/>
        </p:nvPicPr>
        <p:blipFill>
          <a:blip r:embed="rId6"/>
          <a:stretch>
            <a:fillRect/>
          </a:stretch>
        </p:blipFill>
        <p:spPr>
          <a:xfrm>
            <a:off x="11022965" y="394335"/>
            <a:ext cx="628015" cy="182880"/>
          </a:xfrm>
          <a:prstGeom prst="rect">
            <a:avLst/>
          </a:prstGeom>
        </p:spPr>
      </p:pic>
      <p:pic>
        <p:nvPicPr>
          <p:cNvPr id="19" name="图片 18" descr="成长飞轮图"/>
          <p:cNvPicPr>
            <a:picLocks noChangeAspect="1"/>
          </p:cNvPicPr>
          <p:nvPr/>
        </p:nvPicPr>
        <p:blipFill>
          <a:blip r:embed="rId7">
            <a:alphaModFix amt="80000"/>
          </a:blip>
          <a:stretch>
            <a:fillRect/>
          </a:stretch>
        </p:blipFill>
        <p:spPr>
          <a:xfrm>
            <a:off x="6144895" y="919480"/>
            <a:ext cx="5506085" cy="53441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90" y="-15875"/>
            <a:ext cx="10438130" cy="6880225"/>
          </a:xfrm>
          <a:prstGeom prst="rect">
            <a:avLst/>
          </a:prstGeom>
          <a:gradFill flip="none" rotWithShape="1">
            <a:gsLst>
              <a:gs pos="0">
                <a:srgbClr val="FFFFFF"/>
              </a:gs>
              <a:gs pos="100000">
                <a:srgbClr val="FFFFFF">
                  <a:alpha val="0"/>
                </a:srgbClr>
              </a:gs>
            </a:gsLst>
            <a:lin ang="0" scaled="1"/>
          </a:gradFill>
        </p:spPr>
      </p:sp>
      <p:sp>
        <p:nvSpPr>
          <p:cNvPr id="3" name="Text 1"/>
          <p:cNvSpPr/>
          <p:nvPr/>
        </p:nvSpPr>
        <p:spPr>
          <a:xfrm>
            <a:off x="8890" y="-15875"/>
            <a:ext cx="10438130" cy="688022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test-kimi-img.moonshot.cn/pub/slides/slides_tmpl/image/25-07-11-18:10:09-d1oe60dcmrb5eq9iqag0.png"/>
          <p:cNvPicPr>
            <a:picLocks noChangeAspect="1"/>
          </p:cNvPicPr>
          <p:nvPr/>
        </p:nvPicPr>
        <p:blipFill>
          <a:blip r:embed="rId2"/>
          <a:stretch>
            <a:fillRect/>
          </a:stretch>
        </p:blipFill>
        <p:spPr>
          <a:xfrm>
            <a:off x="612140" y="2388552"/>
            <a:ext cx="1600200" cy="1651000"/>
          </a:xfrm>
          <a:prstGeom prst="rect">
            <a:avLst/>
          </a:prstGeom>
        </p:spPr>
      </p:pic>
      <p:pic>
        <p:nvPicPr>
          <p:cNvPr id="5" name="Image 1" descr="https://test-kimi-img.moonshot.cn/pub/slides/slides_tmpl/image/25-07-11-18:10:09-d1oe60dcmrb5eq9iqagg.png"/>
          <p:cNvPicPr>
            <a:picLocks noChangeAspect="1"/>
          </p:cNvPicPr>
          <p:nvPr/>
        </p:nvPicPr>
        <p:blipFill>
          <a:blip r:embed="rId3"/>
          <a:srcRect l="56" t="92" b="92"/>
          <a:stretch>
            <a:fillRect/>
          </a:stretch>
        </p:blipFill>
        <p:spPr>
          <a:xfrm>
            <a:off x="8890" y="0"/>
            <a:ext cx="6771640" cy="6858000"/>
          </a:xfrm>
          <a:prstGeom prst="rect">
            <a:avLst/>
          </a:prstGeom>
        </p:spPr>
      </p:pic>
      <p:pic>
        <p:nvPicPr>
          <p:cNvPr id="6" name="Image 2" descr="https://test-kimi-img.moonshot.cn/pub/slides/slides_tmpl/image/25-07-11-18:10:09-d1oe60dcmrb5eq9iqah0.png"/>
          <p:cNvPicPr>
            <a:picLocks noChangeAspect="1"/>
          </p:cNvPicPr>
          <p:nvPr/>
        </p:nvPicPr>
        <p:blipFill>
          <a:blip r:embed="rId4"/>
          <a:stretch>
            <a:fillRect/>
          </a:stretch>
        </p:blipFill>
        <p:spPr>
          <a:xfrm>
            <a:off x="854710" y="2689860"/>
            <a:ext cx="1859280" cy="1871345"/>
          </a:xfrm>
          <a:prstGeom prst="rect">
            <a:avLst/>
          </a:prstGeom>
        </p:spPr>
      </p:pic>
      <p:sp>
        <p:nvSpPr>
          <p:cNvPr id="7" name="Text 2"/>
          <p:cNvSpPr/>
          <p:nvPr/>
        </p:nvSpPr>
        <p:spPr>
          <a:xfrm>
            <a:off x="2637790" y="2865755"/>
            <a:ext cx="8900160" cy="951865"/>
          </a:xfrm>
          <a:prstGeom prst="rect">
            <a:avLst/>
          </a:prstGeom>
          <a:noFill/>
        </p:spPr>
        <p:txBody>
          <a:bodyPr wrap="square" lIns="91440" tIns="45720" rIns="91440" bIns="45720" rtlCol="0" anchor="t"/>
          <a:lstStyle/>
          <a:p>
            <a:pPr marL="0" indent="0" algn="l">
              <a:lnSpc>
                <a:spcPct val="100000"/>
              </a:lnSpc>
              <a:buNone/>
            </a:pPr>
            <a:r>
              <a:rPr lang="en-US" sz="5000" b="1" dirty="0">
                <a:solidFill>
                  <a:srgbClr val="4874CB"/>
                </a:solidFill>
                <a:latin typeface="MiSans" panose="00000500000000000000" pitchFamily="34" charset="-122"/>
                <a:ea typeface="MiSans" panose="00000500000000000000" pitchFamily="34" charset="-122"/>
                <a:cs typeface="MiSans" panose="00000500000000000000" pitchFamily="34" charset="-120"/>
              </a:rPr>
              <a:t>总结与未来展望</a:t>
            </a:r>
            <a:endParaRPr lang="en-US" sz="1600" dirty="0"/>
          </a:p>
        </p:txBody>
      </p:sp>
      <p:sp>
        <p:nvSpPr>
          <p:cNvPr id="8" name="Text 3"/>
          <p:cNvSpPr/>
          <p:nvPr/>
        </p:nvSpPr>
        <p:spPr>
          <a:xfrm>
            <a:off x="2647950" y="3747135"/>
            <a:ext cx="8497570" cy="460375"/>
          </a:xfrm>
          <a:prstGeom prst="rect">
            <a:avLst/>
          </a:prstGeom>
          <a:noFill/>
        </p:spPr>
        <p:txBody>
          <a:bodyPr wrap="square" lIns="91440" tIns="45720" rIns="91440" bIns="45720" rtlCol="0" anchor="t">
            <a:spAutoFit/>
          </a:bodyPr>
          <a:lstStyle/>
          <a:p>
            <a:pPr marL="0" indent="0" algn="l">
              <a:lnSpc>
                <a:spcPct val="150000"/>
              </a:lnSpc>
              <a:buNone/>
            </a:pPr>
            <a:r>
              <a:rPr lang="en-US" sz="1600" b="1" dirty="0">
                <a:solidFill>
                  <a:srgbClr val="000000"/>
                </a:solidFill>
                <a:latin typeface="MiSans" panose="00000500000000000000" pitchFamily="34" charset="-122"/>
                <a:ea typeface="MiSans" panose="00000500000000000000" pitchFamily="34" charset="-122"/>
                <a:cs typeface="MiSans" panose="00000500000000000000" pitchFamily="34" charset="-120"/>
              </a:rPr>
              <a:t>Summary and Future Outlook</a:t>
            </a:r>
            <a:endParaRPr lang="en-US" sz="1600" dirty="0"/>
          </a:p>
        </p:txBody>
      </p:sp>
      <p:sp>
        <p:nvSpPr>
          <p:cNvPr id="9" name="Shape 4"/>
          <p:cNvSpPr/>
          <p:nvPr/>
        </p:nvSpPr>
        <p:spPr>
          <a:xfrm>
            <a:off x="1187450" y="2612390"/>
            <a:ext cx="1508125" cy="1494155"/>
          </a:xfrm>
          <a:prstGeom prst="rect">
            <a:avLst/>
          </a:prstGeom>
          <a:solidFill>
            <a:srgbClr val="000000">
              <a:alpha val="0"/>
            </a:srgbClr>
          </a:solidFill>
        </p:spPr>
      </p:sp>
      <p:sp>
        <p:nvSpPr>
          <p:cNvPr id="10" name="Text 5"/>
          <p:cNvSpPr/>
          <p:nvPr/>
        </p:nvSpPr>
        <p:spPr>
          <a:xfrm>
            <a:off x="1187450" y="2612390"/>
            <a:ext cx="1508125" cy="1494155"/>
          </a:xfrm>
          <a:prstGeom prst="rect">
            <a:avLst/>
          </a:prstGeom>
          <a:noFill/>
        </p:spPr>
        <p:txBody>
          <a:bodyPr wrap="square" lIns="46863" tIns="90043" rIns="90043" bIns="46863" rtlCol="0" anchor="ctr"/>
          <a:lstStyle/>
          <a:p>
            <a:pPr marL="0" indent="0" algn="l">
              <a:lnSpc>
                <a:spcPct val="130000"/>
              </a:lnSpc>
              <a:buNone/>
            </a:pPr>
            <a:r>
              <a:rPr lang="en-US" sz="4500" dirty="0">
                <a:solidFill>
                  <a:srgbClr val="FFFFFF"/>
                </a:solidFill>
                <a:latin typeface="MiSans" panose="00000500000000000000" pitchFamily="34" charset="-122"/>
                <a:ea typeface="MiSans" panose="00000500000000000000" pitchFamily="34" charset="-122"/>
                <a:cs typeface="MiSans" panose="00000500000000000000" pitchFamily="34" charset="-120"/>
              </a:rPr>
              <a:t>06</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6863"/>
          </a:srgbClr>
        </a:solidFill>
        <a:effectLst/>
      </p:bgPr>
    </p:bg>
    <p:spTree>
      <p:nvGrpSpPr>
        <p:cNvPr id="1" name=""/>
        <p:cNvGrpSpPr/>
        <p:nvPr/>
      </p:nvGrpSpPr>
      <p:grpSpPr>
        <a:xfrm>
          <a:off x="0" y="0"/>
          <a:ext cx="0" cy="0"/>
          <a:chOff x="0" y="0"/>
          <a:chExt cx="0" cy="0"/>
        </a:xfrm>
      </p:grpSpPr>
      <p:sp>
        <p:nvSpPr>
          <p:cNvPr id="2" name="Shape 0"/>
          <p:cNvSpPr/>
          <p:nvPr/>
        </p:nvSpPr>
        <p:spPr>
          <a:xfrm>
            <a:off x="10795" y="758825"/>
            <a:ext cx="6788785" cy="5175250"/>
          </a:xfrm>
          <a:prstGeom prst="rect">
            <a:avLst/>
          </a:prstGeom>
          <a:solidFill>
            <a:srgbClr val="DAE3F5"/>
          </a:solidFill>
        </p:spPr>
      </p:sp>
      <p:sp>
        <p:nvSpPr>
          <p:cNvPr id="3" name="Text 1"/>
          <p:cNvSpPr/>
          <p:nvPr/>
        </p:nvSpPr>
        <p:spPr>
          <a:xfrm>
            <a:off x="10795" y="758825"/>
            <a:ext cx="6788785" cy="517525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4" name="Image 0" descr="https://test-kimi-img.moonshot.cn/pub/slides/slides_tmpl/image/25-07-11-18:10:10-d1oe60lcmrb5eq9iqajg.png"/>
          <p:cNvPicPr>
            <a:picLocks noChangeAspect="1"/>
          </p:cNvPicPr>
          <p:nvPr/>
        </p:nvPicPr>
        <p:blipFill>
          <a:blip r:embed="rId1">
            <a:alphaModFix amt="69000"/>
          </a:blip>
          <a:stretch>
            <a:fillRect/>
          </a:stretch>
        </p:blipFill>
        <p:spPr>
          <a:xfrm rot="13440000">
            <a:off x="9883140" y="4038600"/>
            <a:ext cx="2084705" cy="2084705"/>
          </a:xfrm>
          <a:prstGeom prst="rect">
            <a:avLst/>
          </a:prstGeom>
        </p:spPr>
      </p:pic>
      <p:sp>
        <p:nvSpPr>
          <p:cNvPr id="5" name="Shape 2"/>
          <p:cNvSpPr/>
          <p:nvPr/>
        </p:nvSpPr>
        <p:spPr>
          <a:xfrm>
            <a:off x="0" y="6668135"/>
            <a:ext cx="10478770" cy="183515"/>
          </a:xfrm>
          <a:prstGeom prst="rect">
            <a:avLst/>
          </a:prstGeom>
          <a:gradFill flip="none" rotWithShape="1">
            <a:gsLst>
              <a:gs pos="0">
                <a:srgbClr val="D1DCF2"/>
              </a:gs>
              <a:gs pos="100000">
                <a:srgbClr val="345FB6"/>
              </a:gs>
            </a:gsLst>
            <a:lin ang="0" scaled="1"/>
          </a:gradFill>
        </p:spPr>
      </p:sp>
      <p:sp>
        <p:nvSpPr>
          <p:cNvPr id="6" name="Text 3"/>
          <p:cNvSpPr/>
          <p:nvPr/>
        </p:nvSpPr>
        <p:spPr>
          <a:xfrm>
            <a:off x="0" y="6668135"/>
            <a:ext cx="10478770" cy="1835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a:off x="10479405" y="6668135"/>
            <a:ext cx="1712595" cy="183515"/>
          </a:xfrm>
          <a:prstGeom prst="rect">
            <a:avLst/>
          </a:prstGeom>
          <a:solidFill>
            <a:srgbClr val="BFBFBF"/>
          </a:solidFill>
        </p:spPr>
      </p:sp>
      <p:sp>
        <p:nvSpPr>
          <p:cNvPr id="8" name="Text 5"/>
          <p:cNvSpPr/>
          <p:nvPr/>
        </p:nvSpPr>
        <p:spPr>
          <a:xfrm>
            <a:off x="10479405" y="6668135"/>
            <a:ext cx="1712595" cy="1835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Text 6"/>
          <p:cNvSpPr/>
          <p:nvPr/>
        </p:nvSpPr>
        <p:spPr>
          <a:xfrm>
            <a:off x="6873240" y="2948147"/>
            <a:ext cx="3894025" cy="307340"/>
          </a:xfrm>
          <a:prstGeom prst="rect">
            <a:avLst/>
          </a:prstGeom>
          <a:noFill/>
        </p:spPr>
        <p:txBody>
          <a:bodyPr wrap="square" lIns="0" tIns="0" rIns="0" bIns="0" rtlCol="0" anchor="ctr"/>
          <a:lstStyle/>
          <a:p>
            <a:pPr marL="0" indent="0" algn="l">
              <a:lnSpc>
                <a:spcPct val="100000"/>
              </a:lnSpc>
              <a:buNone/>
            </a:pPr>
            <a:r>
              <a:rPr lang="en-US" sz="2000" dirty="0">
                <a:solidFill>
                  <a:srgbClr val="4874CB"/>
                </a:solidFill>
                <a:latin typeface="MiSans" panose="00000500000000000000" pitchFamily="34" charset="-122"/>
                <a:ea typeface="MiSans" panose="00000500000000000000" pitchFamily="34" charset="-122"/>
                <a:cs typeface="MiSans" panose="00000500000000000000" pitchFamily="34" charset="-120"/>
              </a:rPr>
              <a:t>成功交付</a:t>
            </a:r>
            <a:endParaRPr lang="en-US" sz="1600" dirty="0"/>
          </a:p>
        </p:txBody>
      </p:sp>
      <p:sp>
        <p:nvSpPr>
          <p:cNvPr id="10" name="Text 7"/>
          <p:cNvSpPr/>
          <p:nvPr/>
        </p:nvSpPr>
        <p:spPr>
          <a:xfrm>
            <a:off x="6788150" y="3420745"/>
            <a:ext cx="4370070" cy="1706880"/>
          </a:xfrm>
          <a:prstGeom prst="rect">
            <a:avLst/>
          </a:prstGeom>
          <a:noFill/>
        </p:spPr>
        <p:txBody>
          <a:bodyPr wrap="square" lIns="91440" tIns="45720" rIns="91440" bIns="45720" rtlCol="0" anchor="t"/>
          <a:lstStyle/>
          <a:p>
            <a:pPr marL="0" indent="0" algn="just">
              <a:lnSpc>
                <a:spcPct val="150000"/>
              </a:lnSpc>
              <a:buNone/>
            </a:pPr>
            <a:r>
              <a:rPr lang="en-US" sz="1400" dirty="0">
                <a:solidFill>
                  <a:srgbClr val="4874CB"/>
                </a:solidFill>
                <a:latin typeface="MiSans" panose="00000500000000000000" pitchFamily="34" charset="-122"/>
                <a:ea typeface="MiSans" panose="00000500000000000000" pitchFamily="34" charset="-122"/>
                <a:cs typeface="MiSans" panose="00000500000000000000" pitchFamily="34" charset="-120"/>
              </a:rPr>
              <a:t>成功交付了一个功能完整、技术扎实的多模态智能面试系统，解决了求职者在面试准备中的核心难题。</a:t>
            </a:r>
            <a:endParaRPr lang="en-US" sz="1600" dirty="0"/>
          </a:p>
        </p:txBody>
      </p:sp>
      <p:sp>
        <p:nvSpPr>
          <p:cNvPr id="11" name="Shape 8"/>
          <p:cNvSpPr/>
          <p:nvPr/>
        </p:nvSpPr>
        <p:spPr>
          <a:xfrm>
            <a:off x="6872988" y="3379612"/>
            <a:ext cx="3374390" cy="0"/>
          </a:xfrm>
          <a:prstGeom prst="line">
            <a:avLst/>
          </a:prstGeom>
          <a:noFill/>
          <a:ln w="19050">
            <a:solidFill>
              <a:srgbClr val="4874CB"/>
            </a:solidFill>
            <a:prstDash val="solid"/>
            <a:headEnd type="none"/>
            <a:tailEnd type="none"/>
          </a:ln>
        </p:spPr>
      </p:sp>
      <p:pic>
        <p:nvPicPr>
          <p:cNvPr id="12" name="Image 1" descr="https://test-kimi-img.moonshot.cn/pub/slides/slides_tmpl/image/25-07-11-18:10:10-d1oe60lcmrb5eq9iqaj0.png"/>
          <p:cNvPicPr>
            <a:picLocks noChangeAspect="1"/>
          </p:cNvPicPr>
          <p:nvPr/>
        </p:nvPicPr>
        <p:blipFill>
          <a:blip r:embed="rId2"/>
          <a:stretch>
            <a:fillRect/>
          </a:stretch>
        </p:blipFill>
        <p:spPr>
          <a:xfrm>
            <a:off x="328295" y="295910"/>
            <a:ext cx="597535" cy="280670"/>
          </a:xfrm>
          <a:prstGeom prst="rect">
            <a:avLst/>
          </a:prstGeom>
        </p:spPr>
      </p:pic>
      <p:sp>
        <p:nvSpPr>
          <p:cNvPr id="13" name="Text 9"/>
          <p:cNvSpPr/>
          <p:nvPr/>
        </p:nvSpPr>
        <p:spPr>
          <a:xfrm>
            <a:off x="6873240" y="1476375"/>
            <a:ext cx="4224020" cy="1306830"/>
          </a:xfrm>
          <a:prstGeom prst="rect">
            <a:avLst/>
          </a:prstGeom>
          <a:noFill/>
        </p:spPr>
        <p:txBody>
          <a:bodyPr wrap="square" lIns="91440" tIns="45720" rIns="91440" bIns="45720" rtlCol="0" anchor="t"/>
          <a:lstStyle/>
          <a:p>
            <a:pPr marL="0" indent="0" algn="l">
              <a:lnSpc>
                <a:spcPct val="100000"/>
              </a:lnSpc>
              <a:buNone/>
            </a:pPr>
            <a:r>
              <a:rPr lang="en-US" sz="3600" b="1" dirty="0">
                <a:solidFill>
                  <a:srgbClr val="4874CB"/>
                </a:solidFill>
                <a:latin typeface="MiSans" panose="00000500000000000000" pitchFamily="34" charset="-122"/>
                <a:ea typeface="MiSans" panose="00000500000000000000" pitchFamily="34" charset="-122"/>
                <a:cs typeface="MiSans" panose="00000500000000000000" pitchFamily="34" charset="-120"/>
              </a:rPr>
              <a:t>项目总结</a:t>
            </a:r>
            <a:endParaRPr lang="en-US" sz="1600" dirty="0"/>
          </a:p>
        </p:txBody>
      </p:sp>
      <p:sp>
        <p:nvSpPr>
          <p:cNvPr id="14" name="Shape 10"/>
          <p:cNvSpPr/>
          <p:nvPr/>
        </p:nvSpPr>
        <p:spPr>
          <a:xfrm>
            <a:off x="10795" y="652780"/>
            <a:ext cx="12157075" cy="0"/>
          </a:xfrm>
          <a:prstGeom prst="line">
            <a:avLst/>
          </a:prstGeom>
          <a:noFill/>
          <a:ln w="28575">
            <a:gradFill flip="none" rotWithShape="1">
              <a:gsLst>
                <a:gs pos="0">
                  <a:srgbClr val="F6F8FD"/>
                </a:gs>
                <a:gs pos="80000">
                  <a:srgbClr val="ACC1E8"/>
                </a:gs>
                <a:gs pos="100000">
                  <a:srgbClr val="C8D5EF"/>
                </a:gs>
              </a:gsLst>
              <a:lin ang="0" scaled="1"/>
            </a:gradFill>
            <a:prstDash val="solid"/>
            <a:headEnd type="none"/>
            <a:tailEnd type="none"/>
          </a:ln>
        </p:spPr>
      </p:sp>
      <p:pic>
        <p:nvPicPr>
          <p:cNvPr id="15" name="Image 2" descr="https://test-kimi-img.moonshot.cn/pub/slides/slides_tmpl/image/25-07-11-18:10:10-d1oe60lcmrb5eq9iqajg.png"/>
          <p:cNvPicPr>
            <a:picLocks noChangeAspect="1"/>
          </p:cNvPicPr>
          <p:nvPr/>
        </p:nvPicPr>
        <p:blipFill>
          <a:blip r:embed="rId1">
            <a:alphaModFix amt="36000"/>
          </a:blip>
          <a:stretch>
            <a:fillRect/>
          </a:stretch>
        </p:blipFill>
        <p:spPr>
          <a:xfrm rot="10980000">
            <a:off x="10248900" y="730885"/>
            <a:ext cx="1354455" cy="1354455"/>
          </a:xfrm>
          <a:prstGeom prst="rect">
            <a:avLst/>
          </a:prstGeom>
        </p:spPr>
      </p:pic>
      <p:pic>
        <p:nvPicPr>
          <p:cNvPr id="17" name="图片 16"/>
          <p:cNvPicPr>
            <a:picLocks noChangeAspect="1"/>
          </p:cNvPicPr>
          <p:nvPr/>
        </p:nvPicPr>
        <p:blipFill>
          <a:blip r:embed="rId3"/>
          <a:stretch>
            <a:fillRect/>
          </a:stretch>
        </p:blipFill>
        <p:spPr>
          <a:xfrm>
            <a:off x="0" y="519430"/>
            <a:ext cx="3876675" cy="4789805"/>
          </a:xfrm>
          <a:prstGeom prst="rect">
            <a:avLst/>
          </a:prstGeom>
        </p:spPr>
      </p:pic>
      <p:pic>
        <p:nvPicPr>
          <p:cNvPr id="18" name="图片 17"/>
          <p:cNvPicPr>
            <a:picLocks noChangeAspect="1"/>
          </p:cNvPicPr>
          <p:nvPr/>
        </p:nvPicPr>
        <p:blipFill>
          <a:blip r:embed="rId4"/>
          <a:stretch>
            <a:fillRect/>
          </a:stretch>
        </p:blipFill>
        <p:spPr>
          <a:xfrm>
            <a:off x="1304925" y="2484120"/>
            <a:ext cx="3954145" cy="3731895"/>
          </a:xfrm>
          <a:prstGeom prst="rect">
            <a:avLst/>
          </a:prstGeom>
        </p:spPr>
      </p:pic>
      <p:pic>
        <p:nvPicPr>
          <p:cNvPr id="19" name="图片 18"/>
          <p:cNvPicPr>
            <a:picLocks noChangeAspect="1"/>
          </p:cNvPicPr>
          <p:nvPr/>
        </p:nvPicPr>
        <p:blipFill>
          <a:blip r:embed="rId5"/>
          <a:stretch>
            <a:fillRect/>
          </a:stretch>
        </p:blipFill>
        <p:spPr>
          <a:xfrm>
            <a:off x="3480435" y="1017905"/>
            <a:ext cx="3392805" cy="32956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F6F8FD"/>
            </a:gs>
            <a:gs pos="48000">
              <a:srgbClr val="ACC1E8">
                <a:alpha val="25000"/>
              </a:srgbClr>
            </a:gs>
            <a:gs pos="83000">
              <a:srgbClr val="ACC1E8"/>
            </a:gs>
            <a:gs pos="100000">
              <a:srgbClr val="C8D5EF"/>
            </a:gs>
          </a:gsLst>
          <a:lin ang="8100000" scaled="1"/>
        </a:gradFill>
        <a:effectLst/>
      </p:bgPr>
    </p:bg>
    <p:spTree>
      <p:nvGrpSpPr>
        <p:cNvPr id="1" name=""/>
        <p:cNvGrpSpPr/>
        <p:nvPr/>
      </p:nvGrpSpPr>
      <p:grpSpPr>
        <a:xfrm>
          <a:off x="0" y="0"/>
          <a:ext cx="0" cy="0"/>
          <a:chOff x="0" y="0"/>
          <a:chExt cx="0" cy="0"/>
        </a:xfrm>
      </p:grpSpPr>
      <p:pic>
        <p:nvPicPr>
          <p:cNvPr id="2" name="Image 0" descr="https://test-kimi-img.moonshot.cn/pub/slides/slides_tmpl/image/25-07-11-18:10:20-d1oe635cmrb5eq9iqbog.jpeg"/>
          <p:cNvPicPr>
            <a:picLocks noChangeAspect="1"/>
          </p:cNvPicPr>
          <p:nvPr/>
        </p:nvPicPr>
        <p:blipFill>
          <a:blip r:embed="rId1">
            <a:alphaModFix amt="9000"/>
          </a:blip>
          <a:stretch>
            <a:fillRect/>
          </a:stretch>
        </p:blipFill>
        <p:spPr>
          <a:xfrm>
            <a:off x="0" y="0"/>
            <a:ext cx="12192000" cy="6858000"/>
          </a:xfrm>
          <a:prstGeom prst="rect">
            <a:avLst/>
          </a:prstGeom>
        </p:spPr>
      </p:pic>
      <p:sp>
        <p:nvSpPr>
          <p:cNvPr id="3" name="Text 0"/>
          <p:cNvSpPr/>
          <p:nvPr/>
        </p:nvSpPr>
        <p:spPr>
          <a:xfrm>
            <a:off x="5103598" y="1884449"/>
            <a:ext cx="6412026" cy="984570"/>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探索模型蒸馏与量化，部署边缘计算节点，将报告生成时间压缩至秒级；引入环境音降噪算法提升ASR在复杂环境下的准确率。</a:t>
            </a:r>
            <a:endParaRPr lang="en-US" sz="1600" dirty="0"/>
          </a:p>
        </p:txBody>
      </p:sp>
      <p:sp>
        <p:nvSpPr>
          <p:cNvPr id="4" name="Text 1"/>
          <p:cNvSpPr/>
          <p:nvPr/>
        </p:nvSpPr>
        <p:spPr>
          <a:xfrm>
            <a:off x="5149296" y="1422100"/>
            <a:ext cx="5528761" cy="480976"/>
          </a:xfrm>
          <a:prstGeom prst="rect">
            <a:avLst/>
          </a:prstGeom>
          <a:noFill/>
        </p:spPr>
        <p:txBody>
          <a:bodyPr wrap="square" lIns="0" tIns="0" rIns="0" bIns="0" rtlCol="0" anchor="ctr"/>
          <a:lstStyle/>
          <a:p>
            <a:pPr marL="0" indent="0" algn="l">
              <a:lnSpc>
                <a:spcPct val="100000"/>
              </a:lnSpc>
              <a:buNone/>
            </a:pPr>
            <a:r>
              <a:rPr lang="en-US" sz="1800" b="1" dirty="0">
                <a:solidFill>
                  <a:srgbClr val="1E386B"/>
                </a:solidFill>
                <a:latin typeface="MiSans" panose="00000500000000000000" pitchFamily="34" charset="-122"/>
                <a:ea typeface="MiSans" panose="00000500000000000000" pitchFamily="34" charset="-122"/>
                <a:cs typeface="MiSans" panose="00000500000000000000" pitchFamily="34" charset="-120"/>
              </a:rPr>
              <a:t>性能与交互的极致追求</a:t>
            </a:r>
            <a:endParaRPr lang="en-US" sz="1600" dirty="0"/>
          </a:p>
        </p:txBody>
      </p:sp>
      <p:sp>
        <p:nvSpPr>
          <p:cNvPr id="5" name="Text 2"/>
          <p:cNvSpPr/>
          <p:nvPr/>
        </p:nvSpPr>
        <p:spPr>
          <a:xfrm>
            <a:off x="5160877" y="3635688"/>
            <a:ext cx="6427076" cy="1012510"/>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建立基于用户行为数据的动态内容更新与二次推荐机制；针对金融、医疗、法律等专业领域，打造行业专版。</a:t>
            </a:r>
            <a:endParaRPr lang="en-US" sz="1600" dirty="0"/>
          </a:p>
        </p:txBody>
      </p:sp>
      <p:sp>
        <p:nvSpPr>
          <p:cNvPr id="6" name="Text 3"/>
          <p:cNvSpPr/>
          <p:nvPr/>
        </p:nvSpPr>
        <p:spPr>
          <a:xfrm>
            <a:off x="5191167" y="3173339"/>
            <a:ext cx="5539704" cy="480976"/>
          </a:xfrm>
          <a:prstGeom prst="rect">
            <a:avLst/>
          </a:prstGeom>
          <a:noFill/>
        </p:spPr>
        <p:txBody>
          <a:bodyPr wrap="square" lIns="0" tIns="0" rIns="0" bIns="0" rtlCol="0" anchor="ctr"/>
          <a:lstStyle/>
          <a:p>
            <a:pPr marL="0" indent="0" algn="l">
              <a:lnSpc>
                <a:spcPct val="100000"/>
              </a:lnSpc>
              <a:buNone/>
            </a:pPr>
            <a:r>
              <a:rPr lang="en-US" sz="1800" b="1" dirty="0">
                <a:solidFill>
                  <a:srgbClr val="1E386B"/>
                </a:solidFill>
                <a:latin typeface="MiSans" panose="00000500000000000000" pitchFamily="34" charset="-122"/>
                <a:ea typeface="MiSans" panose="00000500000000000000" pitchFamily="34" charset="-122"/>
                <a:cs typeface="MiSans" panose="00000500000000000000" pitchFamily="34" charset="-120"/>
              </a:rPr>
              <a:t>内容与生态的深度拓展</a:t>
            </a:r>
            <a:endParaRPr lang="en-US" sz="1600" dirty="0"/>
          </a:p>
        </p:txBody>
      </p:sp>
      <p:sp>
        <p:nvSpPr>
          <p:cNvPr id="7" name="Text 4"/>
          <p:cNvSpPr/>
          <p:nvPr/>
        </p:nvSpPr>
        <p:spPr>
          <a:xfrm>
            <a:off x="5191856" y="5319436"/>
            <a:ext cx="6395409" cy="1010515"/>
          </a:xfrm>
          <a:prstGeom prst="rect">
            <a:avLst/>
          </a:prstGeom>
          <a:noFill/>
        </p:spPr>
        <p:txBody>
          <a:bodyPr wrap="square" lIns="0" tIns="0" rIns="0" bIns="0" rtlCol="0" anchor="t"/>
          <a:lstStyle/>
          <a:p>
            <a:pPr marL="0" indent="0" algn="just">
              <a:lnSpc>
                <a:spcPct val="150000"/>
              </a:lnSpc>
              <a:buNone/>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部署MFA多因素认证、异常登录检测、账户锁定等企业级安全策略；开发功能完善的内容管理与审核后台。</a:t>
            </a:r>
            <a:endParaRPr lang="en-US" sz="1600" dirty="0"/>
          </a:p>
        </p:txBody>
      </p:sp>
      <p:sp>
        <p:nvSpPr>
          <p:cNvPr id="8" name="Text 5"/>
          <p:cNvSpPr/>
          <p:nvPr/>
        </p:nvSpPr>
        <p:spPr>
          <a:xfrm>
            <a:off x="5217327" y="4857087"/>
            <a:ext cx="5512856" cy="480976"/>
          </a:xfrm>
          <a:prstGeom prst="rect">
            <a:avLst/>
          </a:prstGeom>
          <a:noFill/>
        </p:spPr>
        <p:txBody>
          <a:bodyPr wrap="square" lIns="0" tIns="0" rIns="0" bIns="0" rtlCol="0" anchor="ctr"/>
          <a:lstStyle/>
          <a:p>
            <a:pPr marL="0" indent="0" algn="l">
              <a:lnSpc>
                <a:spcPct val="100000"/>
              </a:lnSpc>
              <a:buNone/>
            </a:pPr>
            <a:r>
              <a:rPr lang="en-US" sz="1800" b="1" dirty="0">
                <a:solidFill>
                  <a:srgbClr val="1E386B"/>
                </a:solidFill>
                <a:latin typeface="MiSans" panose="00000500000000000000" pitchFamily="34" charset="-122"/>
                <a:ea typeface="MiSans" panose="00000500000000000000" pitchFamily="34" charset="-122"/>
                <a:cs typeface="MiSans" panose="00000500000000000000" pitchFamily="34" charset="-120"/>
              </a:rPr>
              <a:t>安全与管理的全面强化</a:t>
            </a:r>
            <a:endParaRPr lang="en-US" sz="1600" dirty="0"/>
          </a:p>
        </p:txBody>
      </p:sp>
      <p:pic>
        <p:nvPicPr>
          <p:cNvPr id="9" name="Image 1" descr="https://test-kimi-img.moonshot.cn/pub/slides/slides_tmpl/image/25-07-11-18:10:10-d1oe60lcmrb5eq9iqajg.png"/>
          <p:cNvPicPr>
            <a:picLocks noChangeAspect="1"/>
          </p:cNvPicPr>
          <p:nvPr/>
        </p:nvPicPr>
        <p:blipFill>
          <a:blip r:embed="rId2">
            <a:alphaModFix amt="36000"/>
          </a:blip>
          <a:stretch>
            <a:fillRect/>
          </a:stretch>
        </p:blipFill>
        <p:spPr>
          <a:xfrm rot="10980000">
            <a:off x="10433050" y="387985"/>
            <a:ext cx="1354455" cy="1354455"/>
          </a:xfrm>
          <a:prstGeom prst="rect">
            <a:avLst/>
          </a:prstGeom>
        </p:spPr>
      </p:pic>
      <p:pic>
        <p:nvPicPr>
          <p:cNvPr id="10" name="Image 2" descr="https://test-kimi-img.moonshot.cn/pub/slides/slides_tmpl/image/25-07-11-18:10:10-d1oe60lcmrb5eq9iqajg.png"/>
          <p:cNvPicPr>
            <a:picLocks noChangeAspect="1"/>
          </p:cNvPicPr>
          <p:nvPr/>
        </p:nvPicPr>
        <p:blipFill>
          <a:blip r:embed="rId2">
            <a:alphaModFix amt="36000"/>
          </a:blip>
          <a:stretch>
            <a:fillRect/>
          </a:stretch>
        </p:blipFill>
        <p:spPr>
          <a:xfrm rot="14580000">
            <a:off x="10433050" y="5316855"/>
            <a:ext cx="1354455" cy="1354455"/>
          </a:xfrm>
          <a:prstGeom prst="rect">
            <a:avLst/>
          </a:prstGeom>
        </p:spPr>
      </p:pic>
      <p:pic>
        <p:nvPicPr>
          <p:cNvPr id="11" name="Image 3" descr="https://test-kimi-img.moonshot.cn/pub/slides/slides_tmpl/image/25-07-11-18:10:20-d1oe635cmrb5eq9iqbng.png"/>
          <p:cNvPicPr>
            <a:picLocks noChangeAspect="1"/>
          </p:cNvPicPr>
          <p:nvPr/>
        </p:nvPicPr>
        <p:blipFill>
          <a:blip r:embed="rId3"/>
          <a:stretch>
            <a:fillRect/>
          </a:stretch>
        </p:blipFill>
        <p:spPr>
          <a:xfrm>
            <a:off x="4361180" y="1823085"/>
            <a:ext cx="640080" cy="628015"/>
          </a:xfrm>
          <a:prstGeom prst="rect">
            <a:avLst/>
          </a:prstGeom>
        </p:spPr>
      </p:pic>
      <p:pic>
        <p:nvPicPr>
          <p:cNvPr id="12" name="Image 4" descr="https://test-kimi-img.moonshot.cn/pub/slides/slides_tmpl/image/25-07-11-18:10:20-d1oe635cmrb5eq9iqbp0.png"/>
          <p:cNvPicPr>
            <a:picLocks noChangeAspect="1"/>
          </p:cNvPicPr>
          <p:nvPr/>
        </p:nvPicPr>
        <p:blipFill>
          <a:blip r:embed="rId4"/>
          <a:stretch>
            <a:fillRect/>
          </a:stretch>
        </p:blipFill>
        <p:spPr>
          <a:xfrm>
            <a:off x="4363720" y="3654425"/>
            <a:ext cx="646430" cy="628015"/>
          </a:xfrm>
          <a:prstGeom prst="rect">
            <a:avLst/>
          </a:prstGeom>
        </p:spPr>
      </p:pic>
      <p:pic>
        <p:nvPicPr>
          <p:cNvPr id="13" name="Image 5" descr="https://test-kimi-img.moonshot.cn/pub/slides/slides_tmpl/image/25-07-11-18:10:20-d1oe635cmrb5eq9iqbpg.png"/>
          <p:cNvPicPr>
            <a:picLocks noChangeAspect="1"/>
          </p:cNvPicPr>
          <p:nvPr/>
        </p:nvPicPr>
        <p:blipFill>
          <a:blip r:embed="rId5"/>
          <a:stretch>
            <a:fillRect/>
          </a:stretch>
        </p:blipFill>
        <p:spPr>
          <a:xfrm>
            <a:off x="4361180" y="5337810"/>
            <a:ext cx="640080" cy="628015"/>
          </a:xfrm>
          <a:prstGeom prst="rect">
            <a:avLst/>
          </a:prstGeom>
        </p:spPr>
      </p:pic>
      <p:pic>
        <p:nvPicPr>
          <p:cNvPr id="14" name="Image 6" descr="https://test-kimi-img.moonshot.cn/pub/slides/slides_tmpl/image/25-07-11-18:10:20-d1oe635cmrb5eq9iqbq0.jpeg"/>
          <p:cNvPicPr>
            <a:picLocks noChangeAspect="1"/>
          </p:cNvPicPr>
          <p:nvPr/>
        </p:nvPicPr>
        <p:blipFill>
          <a:blip r:embed="rId6"/>
          <a:stretch>
            <a:fillRect/>
          </a:stretch>
        </p:blipFill>
        <p:spPr>
          <a:xfrm>
            <a:off x="0" y="0"/>
            <a:ext cx="4213860" cy="6858000"/>
          </a:xfrm>
          <a:prstGeom prst="rect">
            <a:avLst/>
          </a:prstGeom>
        </p:spPr>
      </p:pic>
      <p:sp>
        <p:nvSpPr>
          <p:cNvPr id="15" name="Text 6"/>
          <p:cNvSpPr/>
          <p:nvPr/>
        </p:nvSpPr>
        <p:spPr>
          <a:xfrm>
            <a:off x="4583430" y="394335"/>
            <a:ext cx="6780530" cy="622935"/>
          </a:xfrm>
          <a:prstGeom prst="rect">
            <a:avLst/>
          </a:prstGeom>
          <a:noFill/>
        </p:spPr>
        <p:txBody>
          <a:bodyPr wrap="square" lIns="91440" tIns="45720" rIns="91440" bIns="45720" rtlCol="0" anchor="ctr"/>
          <a:lstStyle/>
          <a:p>
            <a:pPr marL="0" indent="0" algn="l">
              <a:lnSpc>
                <a:spcPct val="100000"/>
              </a:lnSpc>
              <a:buNone/>
            </a:pPr>
            <a:r>
              <a:rPr lang="en-US" sz="2800" b="1" dirty="0">
                <a:solidFill>
                  <a:srgbClr val="1E386B"/>
                </a:solidFill>
                <a:latin typeface="MiSans" panose="00000500000000000000" pitchFamily="34" charset="-122"/>
                <a:ea typeface="MiSans" panose="00000500000000000000" pitchFamily="34" charset="-122"/>
                <a:cs typeface="MiSans" panose="00000500000000000000" pitchFamily="34" charset="-120"/>
              </a:rPr>
              <a:t>未来展望</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lum/>
          </a:blip>
          <a:srcRect/>
          <a:stretch>
            <a:fillRect/>
          </a:stretch>
        </a:blipFill>
        <a:effectLst/>
      </p:bgPr>
    </p:bg>
    <p:spTree>
      <p:nvGrpSpPr>
        <p:cNvPr id="1" name=""/>
        <p:cNvGrpSpPr/>
        <p:nvPr/>
      </p:nvGrpSpPr>
      <p:grpSpPr>
        <a:xfrm>
          <a:off x="0" y="0"/>
          <a:ext cx="0" cy="0"/>
          <a:chOff x="0" y="0"/>
          <a:chExt cx="0" cy="0"/>
        </a:xfrm>
      </p:grpSpPr>
      <p:pic>
        <p:nvPicPr>
          <p:cNvPr id="2" name="Image 0" descr="https://test-kimi-img.moonshot.cn/pub/slides/slides_tmpl/image/25-07-11-18:10:11-d1oe60tcmrb5eq9iqapg.png"/>
          <p:cNvPicPr>
            <a:picLocks noChangeAspect="1"/>
          </p:cNvPicPr>
          <p:nvPr/>
        </p:nvPicPr>
        <p:blipFill>
          <a:blip r:embed="rId2"/>
          <a:stretch>
            <a:fillRect/>
          </a:stretch>
        </p:blipFill>
        <p:spPr>
          <a:xfrm rot="11520000">
            <a:off x="10471785" y="-925195"/>
            <a:ext cx="2444750" cy="2444750"/>
          </a:xfrm>
          <a:prstGeom prst="rect">
            <a:avLst/>
          </a:prstGeom>
        </p:spPr>
      </p:pic>
      <p:pic>
        <p:nvPicPr>
          <p:cNvPr id="3" name="Image 1" descr="https://test-kimi-img.moonshot.cn/pub/slides/slides_tmpl/image/25-07-11-18:10:24-d1oe645cmrb5eq9iqc90.png"/>
          <p:cNvPicPr>
            <a:picLocks noChangeAspect="1"/>
          </p:cNvPicPr>
          <p:nvPr/>
        </p:nvPicPr>
        <p:blipFill>
          <a:blip r:embed="rId3"/>
          <a:stretch>
            <a:fillRect/>
          </a:stretch>
        </p:blipFill>
        <p:spPr>
          <a:xfrm>
            <a:off x="9145270" y="4902835"/>
            <a:ext cx="2225040" cy="433070"/>
          </a:xfrm>
          <a:prstGeom prst="rect">
            <a:avLst/>
          </a:prstGeom>
        </p:spPr>
      </p:pic>
      <p:pic>
        <p:nvPicPr>
          <p:cNvPr id="4" name="Image 2" descr="https://test-kimi-img.moonshot.cn/pub/slides/slides_tmpl/image/25-07-11-18:10:24-d1oe645cmrb5eq9iqcag.png"/>
          <p:cNvPicPr>
            <a:picLocks noChangeAspect="1"/>
          </p:cNvPicPr>
          <p:nvPr/>
        </p:nvPicPr>
        <p:blipFill>
          <a:blip r:embed="rId4"/>
          <a:stretch>
            <a:fillRect/>
          </a:stretch>
        </p:blipFill>
        <p:spPr>
          <a:xfrm>
            <a:off x="7930515" y="2365375"/>
            <a:ext cx="4368800" cy="3149600"/>
          </a:xfrm>
          <a:prstGeom prst="rect">
            <a:avLst/>
          </a:prstGeom>
        </p:spPr>
      </p:pic>
      <p:sp>
        <p:nvSpPr>
          <p:cNvPr id="5" name="Text 0"/>
          <p:cNvSpPr/>
          <p:nvPr/>
        </p:nvSpPr>
        <p:spPr>
          <a:xfrm>
            <a:off x="878840" y="1196975"/>
            <a:ext cx="10705465" cy="659765"/>
          </a:xfrm>
          <a:prstGeom prst="rect">
            <a:avLst/>
          </a:prstGeom>
          <a:noFill/>
        </p:spPr>
        <p:txBody>
          <a:bodyPr wrap="square" lIns="91440" tIns="45720" rIns="91440" bIns="45720" rtlCol="0" anchor="t"/>
          <a:lstStyle/>
          <a:p>
            <a:pPr marL="0" indent="0" algn="r">
              <a:lnSpc>
                <a:spcPct val="100000"/>
              </a:lnSpc>
              <a:buNone/>
            </a:pPr>
            <a:r>
              <a:rPr lang="en-US" sz="3000" b="1" dirty="0">
                <a:solidFill>
                  <a:srgbClr val="000000"/>
                </a:solidFill>
                <a:latin typeface="MiSans" panose="00000500000000000000" pitchFamily="34" charset="-122"/>
                <a:ea typeface="MiSans" panose="00000500000000000000" pitchFamily="34" charset="-122"/>
                <a:cs typeface="MiSans" panose="00000500000000000000" pitchFamily="34" charset="-120"/>
              </a:rPr>
              <a:t>2025.07.20</a:t>
            </a:r>
            <a:endParaRPr lang="en-US" sz="1600" dirty="0"/>
          </a:p>
        </p:txBody>
      </p:sp>
      <p:sp>
        <p:nvSpPr>
          <p:cNvPr id="6" name="Shape 1"/>
          <p:cNvSpPr/>
          <p:nvPr/>
        </p:nvSpPr>
        <p:spPr>
          <a:xfrm flipH="1">
            <a:off x="4814570" y="3940175"/>
            <a:ext cx="6555740" cy="0"/>
          </a:xfrm>
          <a:prstGeom prst="line">
            <a:avLst/>
          </a:prstGeom>
          <a:noFill/>
          <a:ln w="38100">
            <a:solidFill>
              <a:srgbClr val="4874CB"/>
            </a:solidFill>
            <a:prstDash val="solid"/>
            <a:headEnd type="none"/>
            <a:tailEnd type="none"/>
          </a:ln>
        </p:spPr>
      </p:sp>
      <p:pic>
        <p:nvPicPr>
          <p:cNvPr id="7" name="Image 3" descr="https://test-kimi-img.moonshot.cn/pub/slides/slides_tmpl/image/25-07-11-18:10:07-d1oe5vtcmrb5eq9iqa50.png"/>
          <p:cNvPicPr>
            <a:picLocks noChangeAspect="1"/>
          </p:cNvPicPr>
          <p:nvPr/>
        </p:nvPicPr>
        <p:blipFill>
          <a:blip r:embed="rId5"/>
          <a:stretch>
            <a:fillRect/>
          </a:stretch>
        </p:blipFill>
        <p:spPr>
          <a:xfrm>
            <a:off x="4810760" y="4203065"/>
            <a:ext cx="303530" cy="142875"/>
          </a:xfrm>
          <a:prstGeom prst="rect">
            <a:avLst/>
          </a:prstGeom>
        </p:spPr>
      </p:pic>
      <p:sp>
        <p:nvSpPr>
          <p:cNvPr id="8" name="Text 2"/>
          <p:cNvSpPr/>
          <p:nvPr/>
        </p:nvSpPr>
        <p:spPr>
          <a:xfrm>
            <a:off x="9018270" y="4906010"/>
            <a:ext cx="2352040" cy="429895"/>
          </a:xfrm>
          <a:prstGeom prst="rect">
            <a:avLst/>
          </a:prstGeom>
          <a:noFill/>
        </p:spPr>
        <p:txBody>
          <a:bodyPr wrap="square" lIns="91440" tIns="45720" rIns="91440" bIns="45720" rtlCol="0" anchor="t"/>
          <a:lstStyle/>
          <a:p>
            <a:pPr marL="0" indent="0" algn="ctr">
              <a:lnSpc>
                <a:spcPct val="100000"/>
              </a:lnSpc>
              <a:buNone/>
            </a:pPr>
            <a:r>
              <a:rPr lang="en-US" sz="2200" b="1" dirty="0">
                <a:solidFill>
                  <a:srgbClr val="FFFFFF"/>
                </a:solidFill>
                <a:latin typeface="MiSans" panose="00000500000000000000" pitchFamily="34" charset="-122"/>
                <a:ea typeface="MiSans" panose="00000500000000000000" pitchFamily="34" charset="-122"/>
                <a:cs typeface="MiSans" panose="00000500000000000000" pitchFamily="34" charset="-120"/>
              </a:rPr>
              <a:t>汇报人：</a:t>
            </a:r>
            <a:r>
              <a:rPr lang="zh-CN" altLang="en-US" sz="2200" b="1" dirty="0">
                <a:solidFill>
                  <a:srgbClr val="FFFFFF"/>
                </a:solidFill>
                <a:latin typeface="MiSans" panose="00000500000000000000" pitchFamily="34" charset="-122"/>
                <a:ea typeface="MiSans" panose="00000500000000000000" pitchFamily="34" charset="-122"/>
                <a:cs typeface="MiSans" panose="00000500000000000000" pitchFamily="34" charset="-120"/>
              </a:rPr>
              <a:t>何郑雄</a:t>
            </a:r>
            <a:endParaRPr lang="zh-CN" altLang="en-US" sz="2200" b="1" dirty="0">
              <a:solidFill>
                <a:srgbClr val="FFFFFF"/>
              </a:solidFill>
              <a:latin typeface="MiSans" panose="00000500000000000000" pitchFamily="34" charset="-122"/>
              <a:ea typeface="MiSans" panose="00000500000000000000" pitchFamily="34" charset="-122"/>
              <a:cs typeface="MiSans" panose="00000500000000000000" pitchFamily="34" charset="-120"/>
            </a:endParaRPr>
          </a:p>
        </p:txBody>
      </p:sp>
      <p:sp>
        <p:nvSpPr>
          <p:cNvPr id="9" name="Text 3"/>
          <p:cNvSpPr/>
          <p:nvPr/>
        </p:nvSpPr>
        <p:spPr>
          <a:xfrm>
            <a:off x="4965065" y="1872615"/>
            <a:ext cx="6619240" cy="2326005"/>
          </a:xfrm>
          <a:prstGeom prst="rect">
            <a:avLst/>
          </a:prstGeom>
          <a:noFill/>
        </p:spPr>
        <p:txBody>
          <a:bodyPr wrap="square" lIns="91440" tIns="45720" rIns="91440" bIns="45720" rtlCol="0" anchor="t"/>
          <a:lstStyle/>
          <a:p>
            <a:pPr marL="0" indent="0" algn="r">
              <a:lnSpc>
                <a:spcPct val="100000"/>
              </a:lnSpc>
              <a:buNone/>
            </a:pPr>
            <a:r>
              <a:rPr lang="en-US" sz="6000" dirty="0">
                <a:solidFill>
                  <a:srgbClr val="4874CB"/>
                </a:solidFill>
                <a:latin typeface="MiSans" panose="00000500000000000000" pitchFamily="34" charset="-122"/>
                <a:ea typeface="MiSans" panose="00000500000000000000" pitchFamily="34" charset="-122"/>
                <a:cs typeface="MiSans" panose="00000500000000000000" pitchFamily="34" charset="-120"/>
              </a:rPr>
              <a:t>感谢您的观看</a:t>
            </a:r>
            <a:endParaRPr lang="en-US" sz="1600" dirty="0"/>
          </a:p>
          <a:p>
            <a:pPr marL="0" indent="0" algn="r">
              <a:lnSpc>
                <a:spcPct val="100000"/>
              </a:lnSpc>
              <a:buNone/>
            </a:pPr>
            <a:r>
              <a:rPr lang="en-US" sz="8000" dirty="0">
                <a:solidFill>
                  <a:srgbClr val="000000"/>
                </a:solidFill>
                <a:latin typeface="MiSans" panose="00000500000000000000" pitchFamily="34" charset="-122"/>
                <a:ea typeface="MiSans" panose="00000500000000000000" pitchFamily="34" charset="-122"/>
                <a:cs typeface="MiSans" panose="00000500000000000000" pitchFamily="34" charset="-120"/>
              </a:rPr>
              <a:t>THANKS</a:t>
            </a:r>
            <a:endParaRPr lang="en-US" sz="1600" dirty="0"/>
          </a:p>
        </p:txBody>
      </p:sp>
      <p:sp>
        <p:nvSpPr>
          <p:cNvPr id="10" name="Text 4"/>
          <p:cNvSpPr/>
          <p:nvPr/>
        </p:nvSpPr>
        <p:spPr>
          <a:xfrm>
            <a:off x="4791075" y="4115435"/>
            <a:ext cx="6607175" cy="276225"/>
          </a:xfrm>
          <a:prstGeom prst="rect">
            <a:avLst/>
          </a:prstGeom>
          <a:noFill/>
        </p:spPr>
        <p:txBody>
          <a:bodyPr wrap="square" lIns="91440" tIns="45720" rIns="91440" bIns="45720" rtlCol="0" anchor="t">
            <a:spAutoFit/>
          </a:bodyPr>
          <a:lstStyle/>
          <a:p>
            <a:pPr marL="0" indent="0" algn="r">
              <a:lnSpc>
                <a:spcPct val="100000"/>
              </a:lnSpc>
              <a:buNone/>
            </a:pPr>
            <a:r>
              <a:rPr lang="en-US" sz="1800" dirty="0">
                <a:solidFill>
                  <a:srgbClr val="000000"/>
                </a:solidFill>
                <a:latin typeface="MiSans" panose="00000500000000000000" pitchFamily="34" charset="-122"/>
                <a:ea typeface="MiSans" panose="00000500000000000000" pitchFamily="34" charset="-122"/>
                <a:cs typeface="MiSans" panose="00000500000000000000" pitchFamily="34" charset="-120"/>
              </a:rPr>
              <a:t>Thank you for watching!</a:t>
            </a: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246.65,&quot;left&quot;:28.2,&quot;top&quot;:274.35,&quot;width&quot;:901}"/>
</p:tagLst>
</file>

<file path=ppt/tags/tag2.xml><?xml version="1.0" encoding="utf-8"?>
<p:tagLst xmlns:p="http://schemas.openxmlformats.org/presentationml/2006/main">
  <p:tag name="KSO_WM_DIAGRAM_VIRTUALLY_FRAME" val="{&quot;height&quot;:246.65,&quot;left&quot;:28.2,&quot;top&quot;:274.35,&quot;width&quot;:901}"/>
</p:tagLst>
</file>

<file path=ppt/tags/tag3.xml><?xml version="1.0" encoding="utf-8"?>
<p:tagLst xmlns:p="http://schemas.openxmlformats.org/presentationml/2006/main">
  <p:tag name="KSO_WM_DIAGRAM_VIRTUALLY_FRAME" val="{&quot;height&quot;:246.65,&quot;left&quot;:28.2,&quot;top&quot;:274.35,&quot;width&quot;:901}"/>
</p:tagLst>
</file>

<file path=ppt/tags/tag4.xml><?xml version="1.0" encoding="utf-8"?>
<p:tagLst xmlns:p="http://schemas.openxmlformats.org/presentationml/2006/main">
  <p:tag name="KSO_WM_DIAGRAM_VIRTUALLY_FRAME" val="{&quot;height&quot;:246.65,&quot;left&quot;:28.2,&quot;top&quot;:274.35,&quot;width&quot;:901}"/>
</p:tagLst>
</file>

<file path=ppt/tags/tag5.xml><?xml version="1.0" encoding="utf-8"?>
<p:tagLst xmlns:p="http://schemas.openxmlformats.org/presentationml/2006/main">
  <p:tag name="KSO_WM_DIAGRAM_VIRTUALLY_FRAME" val="{&quot;height&quot;:246.65,&quot;left&quot;:28.2,&quot;top&quot;:274.35,&quot;width&quot;:901}"/>
</p:tagLst>
</file>

<file path=ppt/tags/tag6.xml><?xml version="1.0" encoding="utf-8"?>
<p:tagLst xmlns:p="http://schemas.openxmlformats.org/presentationml/2006/main">
  <p:tag name="KSO_WM_DIAGRAM_VIRTUALLY_FRAME" val="{&quot;height&quot;:246.65,&quot;left&quot;:28.2,&quot;top&quot;:274.35,&quot;width&quot;:901}"/>
</p:tagLst>
</file>

<file path=ppt/tags/tag7.xml><?xml version="1.0" encoding="utf-8"?>
<p:tagLst xmlns:p="http://schemas.openxmlformats.org/presentationml/2006/main">
  <p:tag name="KSO_WM_DIAGRAM_VIRTUALLY_FRAME" val="{&quot;height&quot;:246.65,&quot;left&quot;:28.2,&quot;top&quot;:274.35,&quot;width&quot;:901}"/>
</p:tagLst>
</file>

<file path=ppt/tags/tag8.xml><?xml version="1.0" encoding="utf-8"?>
<p:tagLst xmlns:p="http://schemas.openxmlformats.org/presentationml/2006/main">
  <p:tag name="KSO_WM_DIAGRAM_VIRTUALLY_FRAME" val="{&quot;height&quot;:246.65,&quot;left&quot;:28.2,&quot;top&quot;:274.35,&quot;width&quot;:901}"/>
</p:tagLst>
</file>

<file path=ppt/tags/tag9.xml><?xml version="1.0" encoding="utf-8"?>
<p:tagLst xmlns:p="http://schemas.openxmlformats.org/presentationml/2006/main">
  <p:tag name="KSO_WM_DIAGRAM_VIRTUALLY_FRAME" val="{&quot;height&quot;:246.65,&quot;left&quot;:28.2,&quot;top&quot;:274.35,&quot;width&quot;:901}"/>
</p:tagLst>
</file>

<file path=ppt/tags/tag10.xml><?xml version="1.0" encoding="utf-8"?>
<p:tagLst xmlns:p="http://schemas.openxmlformats.org/presentationml/2006/main">
  <p:tag name="KSO_WM_DIAGRAM_VIRTUALLY_FRAME" val="{&quot;height&quot;:246.65,&quot;left&quot;:28.2,&quot;top&quot;:274.35,&quot;width&quot;:901}"/>
</p:tagLst>
</file>

<file path=ppt/tags/tag11.xml><?xml version="1.0" encoding="utf-8"?>
<p:tagLst xmlns:p="http://schemas.openxmlformats.org/presentationml/2006/main">
  <p:tag name="KSO_WM_DIAGRAM_VIRTUALLY_FRAME" val="{&quot;height&quot;:246.65,&quot;left&quot;:28.2,&quot;top&quot;:274.35,&quot;width&quot;:901}"/>
</p:tagLst>
</file>

<file path=ppt/tags/tag12.xml><?xml version="1.0" encoding="utf-8"?>
<p:tagLst xmlns:p="http://schemas.openxmlformats.org/presentationml/2006/main">
  <p:tag name="KSO_WM_DIAGRAM_VIRTUALLY_FRAME" val="{&quot;height&quot;:246.65,&quot;left&quot;:28.2,&quot;top&quot;:274.35,&quot;width&quot;:901}"/>
</p:tagLst>
</file>

<file path=ppt/tags/tag13.xml><?xml version="1.0" encoding="utf-8"?>
<p:tagLst xmlns:p="http://schemas.openxmlformats.org/presentationml/2006/main">
  <p:tag name="KSO_WM_DIAGRAM_VIRTUALLY_FRAME" val="{&quot;height&quot;:246.65,&quot;left&quot;:28.2,&quot;top&quot;:274.35,&quot;width&quot;:901}"/>
</p:tagLst>
</file>

<file path=ppt/tags/tag14.xml><?xml version="1.0" encoding="utf-8"?>
<p:tagLst xmlns:p="http://schemas.openxmlformats.org/presentationml/2006/main">
  <p:tag name="KSO_WM_DIAGRAM_VIRTUALLY_FRAME" val="{&quot;height&quot;:246.65,&quot;left&quot;:28.2,&quot;top&quot;:274.35,&quot;width&quot;:901}"/>
</p:tagLst>
</file>

<file path=ppt/tags/tag15.xml><?xml version="1.0" encoding="utf-8"?>
<p:tagLst xmlns:p="http://schemas.openxmlformats.org/presentationml/2006/main">
  <p:tag name="KSO_WM_DIAGRAM_VIRTUALLY_FRAME" val="{&quot;height&quot;:246.65,&quot;left&quot;:28.2,&quot;top&quot;:274.35,&quot;width&quot;:901}"/>
</p:tagLst>
</file>

<file path=ppt/tags/tag16.xml><?xml version="1.0" encoding="utf-8"?>
<p:tagLst xmlns:p="http://schemas.openxmlformats.org/presentationml/2006/main">
  <p:tag name="KSO_WM_DIAGRAM_VIRTUALLY_FRAME" val="{&quot;height&quot;:246.65,&quot;left&quot;:28.2,&quot;top&quot;:274.35,&quot;width&quot;:901}"/>
</p:tagLst>
</file>

<file path=ppt/tags/tag17.xml><?xml version="1.0" encoding="utf-8"?>
<p:tagLst xmlns:p="http://schemas.openxmlformats.org/presentationml/2006/main">
  <p:tag name="KSO_WM_DIAGRAM_VIRTUALLY_FRAME" val="{&quot;height&quot;:246.65,&quot;left&quot;:28.2,&quot;top&quot;:274.35,&quot;width&quot;:901}"/>
</p:tagLst>
</file>

<file path=ppt/tags/tag18.xml><?xml version="1.0" encoding="utf-8"?>
<p:tagLst xmlns:p="http://schemas.openxmlformats.org/presentationml/2006/main">
  <p:tag name="KSO_WM_DIAGRAM_VIRTUALLY_FRAME" val="{&quot;height&quot;:246.65,&quot;left&quot;:28.2,&quot;top&quot;:274.35,&quot;width&quot;:901}"/>
</p:tagLst>
</file>

<file path=ppt/tags/tag19.xml><?xml version="1.0" encoding="utf-8"?>
<p:tagLst xmlns:p="http://schemas.openxmlformats.org/presentationml/2006/main">
  <p:tag name="KSO_WM_DIAGRAM_VIRTUALLY_FRAME" val="{&quot;height&quot;:246.65,&quot;left&quot;:28.2,&quot;top&quot;:274.35,&quot;width&quot;:901}"/>
</p:tagLst>
</file>

<file path=ppt/tags/tag20.xml><?xml version="1.0" encoding="utf-8"?>
<p:tagLst xmlns:p="http://schemas.openxmlformats.org/presentationml/2006/main">
  <p:tag name="KSO_WM_DIAGRAM_VIRTUALLY_FRAME" val="{&quot;height&quot;:246.65,&quot;left&quot;:28.2,&quot;top&quot;:274.35,&quot;width&quot;:901}"/>
</p:tagLst>
</file>

<file path=ppt/tags/tag21.xml><?xml version="1.0" encoding="utf-8"?>
<p:tagLst xmlns:p="http://schemas.openxmlformats.org/presentationml/2006/main">
  <p:tag name="KSO_WM_DIAGRAM_VIRTUALLY_FRAME" val="{&quot;height&quot;:246.65,&quot;left&quot;:28.2,&quot;top&quot;:274.35,&quot;width&quot;:901}"/>
</p:tagLst>
</file>

<file path=ppt/tags/tag22.xml><?xml version="1.0" encoding="utf-8"?>
<p:tagLst xmlns:p="http://schemas.openxmlformats.org/presentationml/2006/main">
  <p:tag name="KSO_WM_DIAGRAM_VIRTUALLY_FRAME" val="{&quot;height&quot;:246.65,&quot;left&quot;:28.2,&quot;top&quot;:274.35,&quot;width&quot;:901}"/>
</p:tagLst>
</file>

<file path=ppt/tags/tag23.xml><?xml version="1.0" encoding="utf-8"?>
<p:tagLst xmlns:p="http://schemas.openxmlformats.org/presentationml/2006/main">
  <p:tag name="KSO_WM_DIAGRAM_VIRTUALLY_FRAME" val="{&quot;height&quot;:246.65,&quot;left&quot;:28.2,&quot;top&quot;:274.35,&quot;width&quot;:901}"/>
</p:tagLst>
</file>

<file path=ppt/tags/tag24.xml><?xml version="1.0" encoding="utf-8"?>
<p:tagLst xmlns:p="http://schemas.openxmlformats.org/presentationml/2006/main">
  <p:tag name="KSO_WM_DIAGRAM_VIRTUALLY_FRAME" val="{&quot;height&quot;:246.65,&quot;left&quot;:28.2,&quot;top&quot;:274.35,&quot;width&quot;:901}"/>
</p:tagLst>
</file>

<file path=ppt/tags/tag25.xml><?xml version="1.0" encoding="utf-8"?>
<p:tagLst xmlns:p="http://schemas.openxmlformats.org/presentationml/2006/main">
  <p:tag name="KSO_WM_DIAGRAM_VIRTUALLY_FRAME" val="{&quot;height&quot;:371.4640157480315,&quot;left&quot;:384.85,&quot;top&quot;:123.13598425196851,&quot;width&quot;:543.1491338582676}"/>
</p:tagLst>
</file>

<file path=ppt/tags/tag26.xml><?xml version="1.0" encoding="utf-8"?>
<p:tagLst xmlns:p="http://schemas.openxmlformats.org/presentationml/2006/main">
  <p:tag name="KSO_WM_DIAGRAM_VIRTUALLY_FRAME" val="{&quot;height&quot;:371.4640157480315,&quot;left&quot;:384.85,&quot;top&quot;:123.13598425196851,&quot;width&quot;:543.1491338582676}"/>
</p:tagLst>
</file>

<file path=ppt/tags/tag27.xml><?xml version="1.0" encoding="utf-8"?>
<p:tagLst xmlns:p="http://schemas.openxmlformats.org/presentationml/2006/main">
  <p:tag name="KSO_WM_DIAGRAM_VIRTUALLY_FRAME" val="{&quot;height&quot;:371.4640157480315,&quot;left&quot;:384.85,&quot;top&quot;:123.13598425196851,&quot;width&quot;:543.1491338582676}"/>
</p:tagLst>
</file>

<file path=ppt/tags/tag28.xml><?xml version="1.0" encoding="utf-8"?>
<p:tagLst xmlns:p="http://schemas.openxmlformats.org/presentationml/2006/main">
  <p:tag name="KSO_WM_DIAGRAM_VIRTUALLY_FRAME" val="{&quot;height&quot;:371.4640157480315,&quot;left&quot;:384.85,&quot;top&quot;:123.13598425196851,&quot;width&quot;:543.1491338582676}"/>
</p:tagLst>
</file>

<file path=ppt/tags/tag29.xml><?xml version="1.0" encoding="utf-8"?>
<p:tagLst xmlns:p="http://schemas.openxmlformats.org/presentationml/2006/main">
  <p:tag name="KSO_WM_DIAGRAM_VIRTUALLY_FRAME" val="{&quot;height&quot;:371.4640157480315,&quot;left&quot;:384.85,&quot;top&quot;:123.13598425196851,&quot;width&quot;:543.1491338582676}"/>
</p:tagLst>
</file>

<file path=ppt/tags/tag30.xml><?xml version="1.0" encoding="utf-8"?>
<p:tagLst xmlns:p="http://schemas.openxmlformats.org/presentationml/2006/main">
  <p:tag name="KSO_WM_DIAGRAM_VIRTUALLY_FRAME" val="{&quot;height&quot;:371.4640157480315,&quot;left&quot;:384.85,&quot;top&quot;:123.13598425196851,&quot;width&quot;:543.1491338582676}"/>
</p:tagLst>
</file>

<file path=ppt/tags/tag31.xml><?xml version="1.0" encoding="utf-8"?>
<p:tagLst xmlns:p="http://schemas.openxmlformats.org/presentationml/2006/main">
  <p:tag name="KSO_WM_DIAGRAM_VIRTUALLY_FRAME" val="{&quot;height&quot;:371.4640157480315,&quot;left&quot;:384.85,&quot;top&quot;:123.13598425196851,&quot;width&quot;:543.1491338582676}"/>
</p:tagLst>
</file>

<file path=ppt/tags/tag32.xml><?xml version="1.0" encoding="utf-8"?>
<p:tagLst xmlns:p="http://schemas.openxmlformats.org/presentationml/2006/main">
  <p:tag name="KSO_WM_DIAGRAM_VIRTUALLY_FRAME" val="{&quot;height&quot;:371.4640157480315,&quot;left&quot;:384.85,&quot;top&quot;:123.13598425196851,&quot;width&quot;:543.1491338582676}"/>
</p:tagLst>
</file>

<file path=ppt/tags/tag33.xml><?xml version="1.0" encoding="utf-8"?>
<p:tagLst xmlns:p="http://schemas.openxmlformats.org/presentationml/2006/main">
  <p:tag name="KSO_WM_DIAGRAM_VIRTUALLY_FRAME" val="{&quot;height&quot;:371.4640157480315,&quot;left&quot;:384.85,&quot;top&quot;:123.13598425196851,&quot;width&quot;:543.1491338582676}"/>
</p:tagLst>
</file>

<file path=ppt/tags/tag34.xml><?xml version="1.0" encoding="utf-8"?>
<p:tagLst xmlns:p="http://schemas.openxmlformats.org/presentationml/2006/main">
  <p:tag name="KSO_WM_DIAGRAM_VIRTUALLY_FRAME" val="{&quot;height&quot;:371.4640157480315,&quot;left&quot;:384.85,&quot;top&quot;:123.13598425196851,&quot;width&quot;:543.1491338582676}"/>
</p:tagLst>
</file>

<file path=ppt/tags/tag35.xml><?xml version="1.0" encoding="utf-8"?>
<p:tagLst xmlns:p="http://schemas.openxmlformats.org/presentationml/2006/main">
  <p:tag name="KSO_WM_DIAGRAM_VIRTUALLY_FRAME" val="{&quot;height&quot;:412.85,&quot;left&quot;:44.6,&quot;top&quot;:103.5,&quot;width&quot;:873.7}"/>
</p:tagLst>
</file>

<file path=ppt/tags/tag36.xml><?xml version="1.0" encoding="utf-8"?>
<p:tagLst xmlns:p="http://schemas.openxmlformats.org/presentationml/2006/main">
  <p:tag name="KSO_WM_DIAGRAM_VIRTUALLY_FRAME" val="{&quot;height&quot;:412.85,&quot;left&quot;:44.6,&quot;top&quot;:103.5,&quot;width&quot;:873.7}"/>
</p:tagLst>
</file>

<file path=ppt/tags/tag37.xml><?xml version="1.0" encoding="utf-8"?>
<p:tagLst xmlns:p="http://schemas.openxmlformats.org/presentationml/2006/main">
  <p:tag name="KSO_WM_DIAGRAM_VIRTUALLY_FRAME" val="{&quot;height&quot;:412.85,&quot;left&quot;:44.6,&quot;top&quot;:103.5,&quot;width&quot;:873.7}"/>
</p:tagLst>
</file>

<file path=ppt/tags/tag38.xml><?xml version="1.0" encoding="utf-8"?>
<p:tagLst xmlns:p="http://schemas.openxmlformats.org/presentationml/2006/main">
  <p:tag name="KSO_WM_DIAGRAM_VIRTUALLY_FRAME" val="{&quot;height&quot;:412.85,&quot;left&quot;:44.6,&quot;top&quot;:103.5,&quot;width&quot;:873.7}"/>
</p:tagLst>
</file>

<file path=ppt/tags/tag39.xml><?xml version="1.0" encoding="utf-8"?>
<p:tagLst xmlns:p="http://schemas.openxmlformats.org/presentationml/2006/main">
  <p:tag name="KSO_WM_DIAGRAM_VIRTUALLY_FRAME" val="{&quot;height&quot;:412.85,&quot;left&quot;:44.6,&quot;top&quot;:103.5,&quot;width&quot;:873.7}"/>
</p:tagLst>
</file>

<file path=ppt/tags/tag40.xml><?xml version="1.0" encoding="utf-8"?>
<p:tagLst xmlns:p="http://schemas.openxmlformats.org/presentationml/2006/main">
  <p:tag name="KSO_WM_DIAGRAM_VIRTUALLY_FRAME" val="{&quot;height&quot;:412.85,&quot;left&quot;:44.6,&quot;top&quot;:103.5,&quot;width&quot;:873.7}"/>
</p:tagLst>
</file>

<file path=ppt/tags/tag41.xml><?xml version="1.0" encoding="utf-8"?>
<p:tagLst xmlns:p="http://schemas.openxmlformats.org/presentationml/2006/main">
  <p:tag name="KSO_WM_DIAGRAM_VIRTUALLY_FRAME" val="{&quot;height&quot;:412.85,&quot;left&quot;:44.6,&quot;top&quot;:103.5,&quot;width&quot;:873.7}"/>
</p:tagLst>
</file>

<file path=ppt/tags/tag42.xml><?xml version="1.0" encoding="utf-8"?>
<p:tagLst xmlns:p="http://schemas.openxmlformats.org/presentationml/2006/main">
  <p:tag name="KSO_WM_DIAGRAM_VIRTUALLY_FRAME" val="{&quot;height&quot;:412.85,&quot;left&quot;:44.6,&quot;top&quot;:103.5,&quot;width&quot;:873.7}"/>
</p:tagLst>
</file>

<file path=ppt/tags/tag43.xml><?xml version="1.0" encoding="utf-8"?>
<p:tagLst xmlns:p="http://schemas.openxmlformats.org/presentationml/2006/main">
  <p:tag name="KSO_WM_DIAGRAM_VIRTUALLY_FRAME" val="{&quot;height&quot;:412.85,&quot;left&quot;:44.6,&quot;top&quot;:103.5,&quot;width&quot;:873.7}"/>
</p:tagLst>
</file>

<file path=ppt/tags/tag44.xml><?xml version="1.0" encoding="utf-8"?>
<p:tagLst xmlns:p="http://schemas.openxmlformats.org/presentationml/2006/main">
  <p:tag name="KSO_WM_DIAGRAM_VIRTUALLY_FRAME" val="{&quot;height&quot;:412.85,&quot;left&quot;:44.6,&quot;top&quot;:103.5,&quot;width&quot;:873.7}"/>
</p:tagLst>
</file>

<file path=ppt/tags/tag45.xml><?xml version="1.0" encoding="utf-8"?>
<p:tagLst xmlns:p="http://schemas.openxmlformats.org/presentationml/2006/main">
  <p:tag name="KSO_WM_DIAGRAM_VIRTUALLY_FRAME" val="{&quot;height&quot;:412.85,&quot;left&quot;:44.6,&quot;top&quot;:103.5,&quot;width&quot;:873.7}"/>
</p:tagLst>
</file>

<file path=ppt/tags/tag46.xml><?xml version="1.0" encoding="utf-8"?>
<p:tagLst xmlns:p="http://schemas.openxmlformats.org/presentationml/2006/main">
  <p:tag name="KSO_WM_DIAGRAM_VIRTUALLY_FRAME" val="{&quot;height&quot;:412.85,&quot;left&quot;:44.6,&quot;top&quot;:103.5,&quot;width&quot;:873.7}"/>
</p:tagLst>
</file>

<file path=ppt/tags/tag47.xml><?xml version="1.0" encoding="utf-8"?>
<p:tagLst xmlns:p="http://schemas.openxmlformats.org/presentationml/2006/main">
  <p:tag name="KSO_WM_DIAGRAM_VIRTUALLY_FRAME" val="{&quot;height&quot;:412.85,&quot;left&quot;:44.6,&quot;top&quot;:103.5,&quot;width&quot;:873.7}"/>
</p:tagLst>
</file>

<file path=ppt/tags/tag48.xml><?xml version="1.0" encoding="utf-8"?>
<p:tagLst xmlns:p="http://schemas.openxmlformats.org/presentationml/2006/main">
  <p:tag name="KSO_WM_DIAGRAM_VIRTUALLY_FRAME" val="{&quot;height&quot;:412.85,&quot;left&quot;:44.6,&quot;top&quot;:103.5,&quot;width&quot;:873.7}"/>
</p:tagLst>
</file>

<file path=ppt/tags/tag49.xml><?xml version="1.0" encoding="utf-8"?>
<p:tagLst xmlns:p="http://schemas.openxmlformats.org/presentationml/2006/main">
  <p:tag name="KSO_WM_DIAGRAM_VIRTUALLY_FRAME" val="{&quot;height&quot;:412.85,&quot;left&quot;:44.6,&quot;top&quot;:103.5,&quot;width&quot;:873.7}"/>
</p:tagLst>
</file>

<file path=ppt/tags/tag50.xml><?xml version="1.0" encoding="utf-8"?>
<p:tagLst xmlns:p="http://schemas.openxmlformats.org/presentationml/2006/main">
  <p:tag name="KSO_WM_DIAGRAM_VIRTUALLY_FRAME" val="{&quot;height&quot;:412.85,&quot;left&quot;:44.6,&quot;top&quot;:103.5,&quot;width&quot;:873.7}"/>
</p:tagLst>
</file>

<file path=ppt/tags/tag51.xml><?xml version="1.0" encoding="utf-8"?>
<p:tagLst xmlns:p="http://schemas.openxmlformats.org/presentationml/2006/main">
  <p:tag name="KSO_WM_DIAGRAM_VIRTUALLY_FRAME" val="{&quot;height&quot;:412.85,&quot;left&quot;:44.6,&quot;top&quot;:103.5,&quot;width&quot;:873.7}"/>
</p:tagLst>
</file>

<file path=ppt/tags/tag52.xml><?xml version="1.0" encoding="utf-8"?>
<p:tagLst xmlns:p="http://schemas.openxmlformats.org/presentationml/2006/main">
  <p:tag name="KSO_WM_DIAGRAM_VIRTUALLY_FRAME" val="{&quot;height&quot;:412.85,&quot;left&quot;:44.6,&quot;top&quot;:103.5,&quot;width&quot;:873.7}"/>
</p:tagLst>
</file>

<file path=ppt/tags/tag53.xml><?xml version="1.0" encoding="utf-8"?>
<p:tagLst xmlns:p="http://schemas.openxmlformats.org/presentationml/2006/main">
  <p:tag name="KSO_WM_DIAGRAM_VIRTUALLY_FRAME" val="{&quot;height&quot;:371.4640157480315,&quot;left&quot;:384.85,&quot;top&quot;:123.13598425196851,&quot;width&quot;:543.1491338582676}"/>
</p:tagLst>
</file>

<file path=ppt/tags/tag54.xml><?xml version="1.0" encoding="utf-8"?>
<p:tagLst xmlns:p="http://schemas.openxmlformats.org/presentationml/2006/main">
  <p:tag name="KSO_WM_DIAGRAM_VIRTUALLY_FRAME" val="{&quot;height&quot;:371.4640157480315,&quot;left&quot;:384.85,&quot;top&quot;:123.13598425196851,&quot;width&quot;:543.1491338582676}"/>
</p:tagLst>
</file>

<file path=ppt/tags/tag55.xml><?xml version="1.0" encoding="utf-8"?>
<p:tagLst xmlns:p="http://schemas.openxmlformats.org/presentationml/2006/main">
  <p:tag name="KSO_WM_DIAGRAM_VIRTUALLY_FRAME" val="{&quot;height&quot;:371.4640157480315,&quot;left&quot;:384.85,&quot;top&quot;:123.13598425196851,&quot;width&quot;:543.1491338582676}"/>
</p:tagLst>
</file>

<file path=ppt/tags/tag56.xml><?xml version="1.0" encoding="utf-8"?>
<p:tagLst xmlns:p="http://schemas.openxmlformats.org/presentationml/2006/main">
  <p:tag name="KSO_WM_DIAGRAM_VIRTUALLY_FRAME" val="{&quot;height&quot;:371.4640157480315,&quot;left&quot;:384.85,&quot;top&quot;:123.13598425196851,&quot;width&quot;:543.1491338582676}"/>
</p:tagLst>
</file>

<file path=ppt/tags/tag57.xml><?xml version="1.0" encoding="utf-8"?>
<p:tagLst xmlns:p="http://schemas.openxmlformats.org/presentationml/2006/main">
  <p:tag name="KSO_WM_DIAGRAM_VIRTUALLY_FRAME" val="{&quot;height&quot;:371.4640157480315,&quot;left&quot;:384.85,&quot;top&quot;:123.13598425196851,&quot;width&quot;:543.1491338582676}"/>
</p:tagLst>
</file>

<file path=ppt/tags/tag58.xml><?xml version="1.0" encoding="utf-8"?>
<p:tagLst xmlns:p="http://schemas.openxmlformats.org/presentationml/2006/main">
  <p:tag name="KSO_WM_DIAGRAM_VIRTUALLY_FRAME" val="{&quot;height&quot;:371.4640157480315,&quot;left&quot;:384.85,&quot;top&quot;:123.13598425196851,&quot;width&quot;:543.1491338582676}"/>
</p:tagLst>
</file>

<file path=ppt/tags/tag59.xml><?xml version="1.0" encoding="utf-8"?>
<p:tagLst xmlns:p="http://schemas.openxmlformats.org/presentationml/2006/main">
  <p:tag name="KSO_WM_DIAGRAM_VIRTUALLY_FRAME" val="{&quot;height&quot;:371.4640157480315,&quot;left&quot;:384.85,&quot;top&quot;:123.13598425196851,&quot;width&quot;:543.1491338582676}"/>
</p:tagLst>
</file>

<file path=ppt/tags/tag60.xml><?xml version="1.0" encoding="utf-8"?>
<p:tagLst xmlns:p="http://schemas.openxmlformats.org/presentationml/2006/main">
  <p:tag name="KSO_WM_DIAGRAM_VIRTUALLY_FRAME" val="{&quot;height&quot;:371.4640157480315,&quot;left&quot;:384.85,&quot;top&quot;:123.13598425196851,&quot;width&quot;:543.1491338582676}"/>
</p:tagLst>
</file>

<file path=ppt/tags/tag61.xml><?xml version="1.0" encoding="utf-8"?>
<p:tagLst xmlns:p="http://schemas.openxmlformats.org/presentationml/2006/main">
  <p:tag name="KSO_WM_DIAGRAM_VIRTUALLY_FRAME" val="{&quot;height&quot;:371.4640157480315,&quot;left&quot;:384.85,&quot;top&quot;:123.13598425196851,&quot;width&quot;:543.1491338582676}"/>
</p:tagLst>
</file>

<file path=ppt/tags/tag62.xml><?xml version="1.0" encoding="utf-8"?>
<p:tagLst xmlns:p="http://schemas.openxmlformats.org/presentationml/2006/main">
  <p:tag name="KSO_WM_DIAGRAM_VIRTUALLY_FRAME" val="{&quot;height&quot;:371.4640157480315,&quot;left&quot;:384.85,&quot;top&quot;:123.13598425196851,&quot;width&quot;:543.1491338582676}"/>
</p:tagLst>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2869</Words>
  <Application>WPS 演示</Application>
  <PresentationFormat>On-screen Show (16:9)</PresentationFormat>
  <Paragraphs>267</Paragraphs>
  <Slides>23</Slides>
  <Notes>22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Arial</vt:lpstr>
      <vt:lpstr>宋体</vt:lpstr>
      <vt:lpstr>Wingdings</vt:lpstr>
      <vt:lpstr>MiSans</vt:lpstr>
      <vt:lpstr>MiSans</vt:lpstr>
      <vt:lpstr>Calibri</vt:lpstr>
      <vt:lpstr>微软雅黑</vt:lpstr>
      <vt:lpstr>Arial Unicode MS</vt:lpstr>
      <vt:lpstr>等线</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何郑雄</cp:lastModifiedBy>
  <cp:revision>3</cp:revision>
  <dcterms:created xsi:type="dcterms:W3CDTF">2025-07-22T08:06:00Z</dcterms:created>
  <dcterms:modified xsi:type="dcterms:W3CDTF">2026-05-31T12:21:33Z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7EE26C3E8C1746A7878422D175BEA6FD_13</vt:lpwstr>
  </property>
  <property fmtid="{D5CDD505-2E9C-101B-9397-08002B2CF9AE}" pid="3" name="KSOProductBuildVer">
    <vt:lpwstr>2052-12.1.0.25225</vt:lpwstr>
  </property>
</Properties>
</file>